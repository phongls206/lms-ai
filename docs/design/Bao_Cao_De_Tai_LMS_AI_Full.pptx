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80" r:id="rId22"/>
    <p:sldId id="281" r:id="rId23"/>
    <p:sldId id="276" r:id="rId24"/>
    <p:sldId id="277" r:id="rId25"/>
    <p:sldId id="278" r:id="rId26"/>
    <p:sldId id="279"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D4FF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6" d="100"/>
          <a:sy n="76" d="100"/>
        </p:scale>
        <p:origin x="283"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hỗ dành sẵn cho Đầu trang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Chỗ dành sẵn cho Ngày tháng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5CB9D3-3FC9-48EE-A97C-E819C8CC9EF4}" type="datetimeFigureOut">
              <a:rPr lang="en-US" smtClean="0"/>
              <a:t>10/29/2026</a:t>
            </a:fld>
            <a:endParaRPr lang="en-US"/>
          </a:p>
        </p:txBody>
      </p:sp>
      <p:sp>
        <p:nvSpPr>
          <p:cNvPr id="4" name="Chỗ dành sẵn cho Hình ảnh của Bản chiế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Chỗ dành sẵn cho Ghi ch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6" name="Chỗ dành sẵn cho Chân trang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Chỗ dành sẵn cho Số hiệu Bản chiế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9F0AAE-FB77-4117-97A3-3908EBEF1076}" type="slidenum">
              <a:rPr lang="en-US" smtClean="0"/>
              <a:t>‹#›</a:t>
            </a:fld>
            <a:endParaRPr lang="en-US"/>
          </a:p>
        </p:txBody>
      </p:sp>
    </p:spTree>
    <p:extLst>
      <p:ext uri="{BB962C8B-B14F-4D97-AF65-F5344CB8AC3E}">
        <p14:creationId xmlns:p14="http://schemas.microsoft.com/office/powerpoint/2010/main" val="17782991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endParaRPr lang="en-US"/>
          </a:p>
        </p:txBody>
      </p:sp>
      <p:sp>
        <p:nvSpPr>
          <p:cNvPr id="4" name="Chỗ dành sẵn cho Số hiệu Bản chiếu 3"/>
          <p:cNvSpPr>
            <a:spLocks noGrp="1"/>
          </p:cNvSpPr>
          <p:nvPr>
            <p:ph type="sldNum" sz="quarter" idx="5"/>
          </p:nvPr>
        </p:nvSpPr>
        <p:spPr/>
        <p:txBody>
          <a:bodyPr/>
          <a:lstStyle/>
          <a:p>
            <a:fld id="{569F0AAE-FB77-4117-97A3-3908EBEF1076}" type="slidenum">
              <a:rPr lang="en-US" smtClean="0"/>
              <a:t>10</a:t>
            </a:fld>
            <a:endParaRPr lang="en-US"/>
          </a:p>
        </p:txBody>
      </p:sp>
    </p:spTree>
    <p:extLst>
      <p:ext uri="{BB962C8B-B14F-4D97-AF65-F5344CB8AC3E}">
        <p14:creationId xmlns:p14="http://schemas.microsoft.com/office/powerpoint/2010/main" val="36032205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transition spd="med">
    <p:blinds dir="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transition spd="med">
    <p:blinds dir="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transition spd="med">
    <p:blinds dir="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transition spd="med">
    <p:blinds dir="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transition spd="med">
    <p:blinds dir="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transition spd="med">
    <p:blinds dir="ver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transition spd="med">
    <p:blinds dir="ver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transition spd="med">
    <p:blinds dir="ver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transition spd="med">
    <p:blinds dir="ver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transition spd="med">
    <p:blinds dir="ver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transition spd="med">
    <p:blinds dir="vert"/>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med">
    <p:blinds dir="vert"/>
  </p:transition>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0"/>
            <a:ext cx="12191695" cy="6858000"/>
          </a:xfrm>
          <a:prstGeom prst="rect">
            <a:avLst/>
          </a:prstGeom>
          <a:solidFill>
            <a:srgbClr val="09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138517" y="640080"/>
            <a:ext cx="8240683" cy="746358"/>
          </a:xfrm>
          <a:prstGeom prst="rect">
            <a:avLst/>
          </a:prstGeom>
          <a:noFill/>
        </p:spPr>
        <p:txBody>
          <a:bodyPr wrap="square">
            <a:spAutoFit/>
          </a:bodyPr>
          <a:lstStyle/>
          <a:p>
            <a:pPr>
              <a:defRPr sz="1400" b="1">
                <a:solidFill>
                  <a:srgbClr val="38BDF8"/>
                </a:solidFill>
              </a:defRPr>
            </a:pPr>
            <a:r>
              <a:rPr sz="2000"/>
              <a:t>TRƯỜNG ĐẠI HỌC CÔNG NGHỆ THÔNG TIN &amp; TRUYỀN THÔNG</a:t>
            </a:r>
          </a:p>
          <a:p>
            <a:pPr>
              <a:spcBef>
                <a:spcPts val="300"/>
              </a:spcBef>
              <a:defRPr sz="1200">
                <a:solidFill>
                  <a:srgbClr val="E2E8F0"/>
                </a:solidFill>
              </a:defRPr>
            </a:pPr>
            <a:r>
              <a:rPr sz="2000"/>
              <a:t>Khoa Công Nghệ Thông Tin  •  Bộ Môn Ứng Dụng Trí Tuệ Nhân Tạo</a:t>
            </a:r>
          </a:p>
        </p:txBody>
      </p:sp>
      <p:sp>
        <p:nvSpPr>
          <p:cNvPr id="6" name="TextBox 5"/>
          <p:cNvSpPr txBox="1"/>
          <p:nvPr/>
        </p:nvSpPr>
        <p:spPr>
          <a:xfrm>
            <a:off x="731520" y="2240280"/>
            <a:ext cx="10728655" cy="1107996"/>
          </a:xfrm>
          <a:prstGeom prst="rect">
            <a:avLst/>
          </a:prstGeom>
          <a:noFill/>
        </p:spPr>
        <p:txBody>
          <a:bodyPr wrap="square">
            <a:spAutoFit/>
          </a:bodyPr>
          <a:lstStyle/>
          <a:p>
            <a:pPr algn="ctr">
              <a:defRPr sz="3400" b="1">
                <a:solidFill>
                  <a:srgbClr val="FFFFFF"/>
                </a:solidFill>
              </a:defRPr>
            </a:pPr>
            <a:r>
              <a:t>HỆ THỐNG QUẢN LÝ TRUNG TÂM NGOẠI NGỮ</a:t>
            </a:r>
          </a:p>
          <a:p>
            <a:pPr algn="ctr">
              <a:defRPr sz="3200" b="1">
                <a:solidFill>
                  <a:srgbClr val="38BDF8"/>
                </a:solidFill>
              </a:defRPr>
            </a:pPr>
            <a:r>
              <a:t>CÓ TÍCH HỢP TRÍ TUỆ NHÂN TẠO (GENAI)</a:t>
            </a:r>
          </a:p>
        </p:txBody>
      </p:sp>
      <p:sp>
        <p:nvSpPr>
          <p:cNvPr id="7" name="Rounded Rectangle 6"/>
          <p:cNvSpPr/>
          <p:nvPr/>
        </p:nvSpPr>
        <p:spPr>
          <a:xfrm>
            <a:off x="731520" y="4297680"/>
            <a:ext cx="5212080" cy="1737360"/>
          </a:xfrm>
          <a:prstGeom prst="roundRect">
            <a:avLst/>
          </a:prstGeom>
          <a:solidFill>
            <a:srgbClr val="1A2639"/>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wrap="square" lIns="228600" tIns="182880" rIns="228600" rtlCol="0" anchor="t"/>
          <a:lstStyle/>
          <a:p>
            <a:pPr algn="ctr">
              <a:defRPr sz="1100" b="1">
                <a:solidFill>
                  <a:srgbClr val="38BDF8"/>
                </a:solidFill>
              </a:defRPr>
            </a:pPr>
            <a:r>
              <a:rPr sz="1600"/>
              <a:t>SINH VIÊN THỰC HIỆN (NHÓM 42 - KTPM K23C)</a:t>
            </a:r>
          </a:p>
          <a:p>
            <a:pPr>
              <a:spcBef>
                <a:spcPts val="600"/>
              </a:spcBef>
              <a:defRPr sz="1500" b="1">
                <a:solidFill>
                  <a:srgbClr val="FFFFFF"/>
                </a:solidFill>
              </a:defRPr>
            </a:pPr>
            <a:r>
              <a:rPr sz="1600"/>
              <a:t>• Lê Hồng Phong (Trưởng nhóm)</a:t>
            </a:r>
          </a:p>
          <a:p>
            <a:pPr>
              <a:spcBef>
                <a:spcPts val="400"/>
              </a:spcBef>
              <a:defRPr sz="1500" b="1">
                <a:solidFill>
                  <a:srgbClr val="FFFFFF"/>
                </a:solidFill>
              </a:defRPr>
            </a:pPr>
            <a:r>
              <a:rPr sz="1600"/>
              <a:t>• Lưu Thanh Nguyên (Thành viên)</a:t>
            </a:r>
          </a:p>
        </p:txBody>
      </p:sp>
      <p:sp>
        <p:nvSpPr>
          <p:cNvPr id="8" name="Rounded Rectangle 7"/>
          <p:cNvSpPr/>
          <p:nvPr/>
        </p:nvSpPr>
        <p:spPr>
          <a:xfrm>
            <a:off x="6248095" y="4297680"/>
            <a:ext cx="5212080" cy="1737360"/>
          </a:xfrm>
          <a:prstGeom prst="roundRect">
            <a:avLst/>
          </a:prstGeom>
          <a:solidFill>
            <a:srgbClr val="1A2639"/>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wrap="square" lIns="228600" tIns="182880" rIns="228600" rtlCol="0" anchor="t"/>
          <a:lstStyle/>
          <a:p>
            <a:pPr algn="ctr">
              <a:defRPr sz="1100" b="1">
                <a:solidFill>
                  <a:srgbClr val="38BDF8"/>
                </a:solidFill>
              </a:defRPr>
            </a:pPr>
            <a:r>
              <a:rPr sz="1600"/>
              <a:t>GIẢNG VIÊN HƯỚNG DẪN</a:t>
            </a:r>
          </a:p>
          <a:p>
            <a:pPr>
              <a:spcBef>
                <a:spcPts val="600"/>
              </a:spcBef>
              <a:defRPr sz="1800" b="1">
                <a:solidFill>
                  <a:srgbClr val="FFFFFF"/>
                </a:solidFill>
              </a:defRPr>
            </a:pPr>
            <a:r>
              <a:rPr sz="1600"/>
              <a:t>ThS. Nguyễn Đình Dũng</a:t>
            </a:r>
          </a:p>
          <a:p>
            <a:pPr>
              <a:spcBef>
                <a:spcPts val="400"/>
              </a:spcBef>
              <a:defRPr sz="1300">
                <a:solidFill>
                  <a:srgbClr val="CBD5E1"/>
                </a:solidFill>
              </a:defRPr>
            </a:pPr>
            <a:r>
              <a:rPr sz="1600"/>
              <a:t>Bộ môn Ứng dụng Trí tuệ Nhân tạo - Khoa CNTT</a:t>
            </a:r>
          </a:p>
        </p:txBody>
      </p:sp>
      <p:pic>
        <p:nvPicPr>
          <p:cNvPr id="13" name="Ảnh 11">
            <a:extLst>
              <a:ext uri="{FF2B5EF4-FFF2-40B4-BE49-F238E27FC236}">
                <a16:creationId xmlns:a16="http://schemas.microsoft.com/office/drawing/2014/main" id="{79D82E04-E08D-892E-55F5-A5662F0EEE4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024893" y="539414"/>
            <a:ext cx="951064" cy="877906"/>
          </a:xfrm>
          <a:prstGeom prst="ellipse">
            <a:avLst/>
          </a:prstGeom>
          <a:noFill/>
          <a:ln>
            <a:noFill/>
          </a:ln>
        </p:spPr>
      </p:pic>
    </p:spTree>
  </p:cSld>
  <p:clrMapOvr>
    <a:masterClrMapping/>
  </p:clrMapOvr>
  <p:transition spd="med">
    <p:blinds dir="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43713" y="502920"/>
            <a:ext cx="10728655" cy="564257"/>
          </a:xfrm>
          <a:prstGeom prst="rect">
            <a:avLst/>
          </a:prstGeom>
          <a:noFill/>
        </p:spPr>
        <p:txBody>
          <a:bodyPr wrap="square" lIns="0" tIns="0" rIns="0" bIns="0" anchor="t">
            <a:spAutoFit/>
          </a:bodyPr>
          <a:lstStyle/>
          <a:p>
            <a:pPr>
              <a:defRPr sz="2400" b="1">
                <a:solidFill>
                  <a:srgbClr val="0F172A"/>
                </a:solidFill>
                <a:latin typeface="Segoe UI"/>
              </a:defRPr>
            </a:pPr>
            <a:r>
              <a:t>Tổng Quan Báo Cáo Đề Tài</a:t>
            </a:r>
          </a:p>
          <a:p>
            <a:pPr>
              <a:spcBef>
                <a:spcPts val="200"/>
              </a:spcBef>
              <a:defRPr sz="1100">
                <a:solidFill>
                  <a:srgbClr val="64748B"/>
                </a:solidFill>
                <a:latin typeface="Segoe UI"/>
              </a:defRPr>
            </a:pPr>
            <a:r>
              <a:t>Hệ thống Quản lý Trung tâm Ngoại ngữ ETC Native tích hợp Trí tuệ Nhân tạo</a:t>
            </a:r>
          </a:p>
        </p:txBody>
      </p:sp>
      <p:sp>
        <p:nvSpPr>
          <p:cNvPr id="7" name="Rectangle 6"/>
          <p:cNvSpPr/>
          <p:nvPr/>
        </p:nvSpPr>
        <p:spPr>
          <a:xfrm>
            <a:off x="731520" y="6327648"/>
            <a:ext cx="10728655" cy="1524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31520" y="1508760"/>
            <a:ext cx="3364992" cy="2194560"/>
          </a:xfrm>
          <a:prstGeom prst="roundRect">
            <a:avLst/>
          </a:prstGeom>
          <a:solidFill>
            <a:srgbClr val="FFFFFF"/>
          </a:solidFill>
          <a:ln w="15875">
            <a:solidFill>
              <a:srgbClr val="BFDBFE"/>
            </a:solidFill>
          </a:ln>
        </p:spPr>
        <p:style>
          <a:lnRef idx="1">
            <a:schemeClr val="accent1"/>
          </a:lnRef>
          <a:fillRef idx="3">
            <a:schemeClr val="accent1"/>
          </a:fillRef>
          <a:effectRef idx="2">
            <a:schemeClr val="accent1"/>
          </a:effectRef>
          <a:fontRef idx="minor">
            <a:schemeClr val="lt1"/>
          </a:fontRef>
        </p:style>
        <p:txBody>
          <a:bodyPr wrap="square" lIns="182880" tIns="146304" rIns="182880" bIns="109728" rtlCol="0" anchor="t"/>
          <a:lstStyle/>
          <a:p>
            <a:pPr algn="ctr">
              <a:spcAft>
                <a:spcPts val="200"/>
              </a:spcAft>
              <a:defRPr sz="950" b="1">
                <a:solidFill>
                  <a:srgbClr val="2563EB"/>
                </a:solidFill>
                <a:latin typeface="Segoe UI"/>
              </a:defRPr>
            </a:pPr>
            <a:r>
              <a:t>PHẦN 1: KHẢO SÁT &amp; YÊU CẦU</a:t>
            </a:r>
          </a:p>
          <a:p>
            <a:pPr>
              <a:spcAft>
                <a:spcPts val="400"/>
              </a:spcAft>
              <a:defRPr sz="1300" b="1">
                <a:solidFill>
                  <a:srgbClr val="002060"/>
                </a:solidFill>
                <a:latin typeface="Segoe UI"/>
              </a:defRPr>
            </a:pPr>
            <a:r>
              <a:t>Nghiệp Vụ &amp; Ma Trận SRS</a:t>
            </a:r>
          </a:p>
          <a:p>
            <a:pPr>
              <a:lnSpc>
                <a:spcPct val="115000"/>
              </a:lnSpc>
              <a:spcAft>
                <a:spcPts val="250"/>
              </a:spcAft>
            </a:pPr>
            <a:r>
              <a:rPr sz="950" b="1">
                <a:solidFill>
                  <a:srgbClr val="3B82F6"/>
                </a:solidFill>
                <a:latin typeface="Segoe UI"/>
              </a:rPr>
              <a:t>• </a:t>
            </a:r>
            <a:r>
              <a:rPr sz="950" b="1">
                <a:solidFill>
                  <a:srgbClr val="0F172A"/>
                </a:solidFill>
                <a:latin typeface="Segoe UI"/>
              </a:rPr>
              <a:t>Khảo sát thực tế</a:t>
            </a:r>
            <a:r>
              <a:rPr sz="950" b="0">
                <a:solidFill>
                  <a:srgbClr val="334155"/>
                </a:solidFill>
                <a:latin typeface="Segoe UI"/>
              </a:rPr>
              <a:t> tại TT Ngoại ngữ ETC Native, bảng hỏi 20 câu.</a:t>
            </a:r>
          </a:p>
          <a:p>
            <a:pPr>
              <a:lnSpc>
                <a:spcPct val="115000"/>
              </a:lnSpc>
              <a:spcAft>
                <a:spcPts val="250"/>
              </a:spcAft>
            </a:pPr>
            <a:r>
              <a:rPr sz="950" b="1">
                <a:solidFill>
                  <a:srgbClr val="3B82F6"/>
                </a:solidFill>
                <a:latin typeface="Segoe UI"/>
              </a:rPr>
              <a:t>• </a:t>
            </a:r>
            <a:r>
              <a:rPr sz="950" b="0">
                <a:solidFill>
                  <a:srgbClr val="334155"/>
                </a:solidFill>
                <a:latin typeface="Segoe UI"/>
              </a:rPr>
              <a:t>Chỉ rõ </a:t>
            </a:r>
            <a:r>
              <a:rPr sz="950" b="1">
                <a:solidFill>
                  <a:srgbClr val="0F172A"/>
                </a:solidFill>
                <a:latin typeface="Segoe UI"/>
              </a:rPr>
              <a:t>4 điểm nghẽn nghiệp vụ</a:t>
            </a:r>
            <a:r>
              <a:rPr sz="950" b="0">
                <a:solidFill>
                  <a:srgbClr val="334155"/>
                </a:solidFill>
                <a:latin typeface="Segoe UI"/>
              </a:rPr>
              <a:t> &amp; lập Ma trận SRS chuẩn hóa.</a:t>
            </a:r>
          </a:p>
          <a:p>
            <a:pPr>
              <a:lnSpc>
                <a:spcPct val="115000"/>
              </a:lnSpc>
              <a:spcAft>
                <a:spcPts val="250"/>
              </a:spcAft>
            </a:pPr>
            <a:r>
              <a:rPr sz="950" b="1">
                <a:solidFill>
                  <a:srgbClr val="3B82F6"/>
                </a:solidFill>
                <a:latin typeface="Segoe UI"/>
              </a:rPr>
              <a:t>• </a:t>
            </a:r>
            <a:r>
              <a:rPr sz="950" b="0">
                <a:solidFill>
                  <a:srgbClr val="334155"/>
                </a:solidFill>
                <a:latin typeface="Segoe UI"/>
              </a:rPr>
              <a:t>Sơ đồ phân cấp chức năng </a:t>
            </a:r>
            <a:r>
              <a:rPr sz="950" b="1">
                <a:solidFill>
                  <a:srgbClr val="0F172A"/>
                </a:solidFill>
                <a:latin typeface="Segoe UI"/>
              </a:rPr>
              <a:t>FDD 14 nhóm</a:t>
            </a:r>
            <a:r>
              <a:rPr sz="950" b="0">
                <a:solidFill>
                  <a:srgbClr val="334155"/>
                </a:solidFill>
                <a:latin typeface="Segoe UI"/>
              </a:rPr>
              <a:t> thuộc 5 phân hệ.</a:t>
            </a:r>
          </a:p>
        </p:txBody>
      </p:sp>
      <p:sp>
        <p:nvSpPr>
          <p:cNvPr id="11" name="Rounded Rectangle 10"/>
          <p:cNvSpPr/>
          <p:nvPr/>
        </p:nvSpPr>
        <p:spPr>
          <a:xfrm>
            <a:off x="4407408" y="1508760"/>
            <a:ext cx="3364992" cy="2194560"/>
          </a:xfrm>
          <a:prstGeom prst="roundRect">
            <a:avLst/>
          </a:prstGeom>
          <a:solidFill>
            <a:srgbClr val="FFFFFF"/>
          </a:solidFill>
          <a:ln w="15875">
            <a:solidFill>
              <a:srgbClr val="BFDBFE"/>
            </a:solidFill>
          </a:ln>
        </p:spPr>
        <p:style>
          <a:lnRef idx="1">
            <a:schemeClr val="accent1"/>
          </a:lnRef>
          <a:fillRef idx="3">
            <a:schemeClr val="accent1"/>
          </a:fillRef>
          <a:effectRef idx="2">
            <a:schemeClr val="accent1"/>
          </a:effectRef>
          <a:fontRef idx="minor">
            <a:schemeClr val="lt1"/>
          </a:fontRef>
        </p:style>
        <p:txBody>
          <a:bodyPr wrap="square" lIns="182880" tIns="146304" rIns="182880" bIns="109728" rtlCol="0" anchor="t"/>
          <a:lstStyle/>
          <a:p>
            <a:pPr algn="ctr">
              <a:spcAft>
                <a:spcPts val="200"/>
              </a:spcAft>
              <a:defRPr sz="950" b="1">
                <a:solidFill>
                  <a:srgbClr val="2563EB"/>
                </a:solidFill>
                <a:latin typeface="Segoe UI"/>
              </a:defRPr>
            </a:pPr>
            <a:r>
              <a:t>PHẦN 2: THIẾT KẾ HỆ THỐNG</a:t>
            </a:r>
          </a:p>
          <a:p>
            <a:pPr>
              <a:spcAft>
                <a:spcPts val="400"/>
              </a:spcAft>
              <a:defRPr sz="1300" b="1">
                <a:solidFill>
                  <a:srgbClr val="002060"/>
                </a:solidFill>
                <a:latin typeface="Segoe UI"/>
              </a:defRPr>
            </a:pPr>
            <a:r>
              <a:t>Mô Hình OOP &amp; CSDL 3NF</a:t>
            </a:r>
          </a:p>
          <a:p>
            <a:pPr>
              <a:lnSpc>
                <a:spcPct val="115000"/>
              </a:lnSpc>
              <a:spcAft>
                <a:spcPts val="250"/>
              </a:spcAft>
            </a:pPr>
            <a:r>
              <a:rPr sz="950" b="1">
                <a:solidFill>
                  <a:srgbClr val="3B82F6"/>
                </a:solidFill>
                <a:latin typeface="Segoe UI"/>
              </a:rPr>
              <a:t>• </a:t>
            </a:r>
            <a:r>
              <a:rPr sz="950" b="0">
                <a:solidFill>
                  <a:srgbClr val="334155"/>
                </a:solidFill>
                <a:latin typeface="Segoe UI"/>
              </a:rPr>
              <a:t>Thiết kế </a:t>
            </a:r>
            <a:r>
              <a:rPr sz="950" b="1">
                <a:solidFill>
                  <a:srgbClr val="0F172A"/>
                </a:solidFill>
                <a:latin typeface="Segoe UI"/>
              </a:rPr>
              <a:t>4 tác nhân RBAC</a:t>
            </a:r>
            <a:r>
              <a:rPr sz="950" b="0">
                <a:solidFill>
                  <a:srgbClr val="334155"/>
                </a:solidFill>
                <a:latin typeface="Segoe UI"/>
              </a:rPr>
              <a:t> (Admin, Staff, Teacher, Student).</a:t>
            </a:r>
          </a:p>
          <a:p>
            <a:pPr>
              <a:lnSpc>
                <a:spcPct val="115000"/>
              </a:lnSpc>
              <a:spcAft>
                <a:spcPts val="250"/>
              </a:spcAft>
            </a:pPr>
            <a:r>
              <a:rPr sz="950" b="1">
                <a:solidFill>
                  <a:srgbClr val="3B82F6"/>
                </a:solidFill>
                <a:latin typeface="Segoe UI"/>
              </a:rPr>
              <a:t>• </a:t>
            </a:r>
            <a:r>
              <a:rPr sz="950" b="1">
                <a:solidFill>
                  <a:srgbClr val="0F172A"/>
                </a:solidFill>
                <a:latin typeface="Segoe UI"/>
              </a:rPr>
              <a:t>14 Use Cases</a:t>
            </a:r>
            <a:r>
              <a:rPr sz="950" b="0">
                <a:solidFill>
                  <a:srgbClr val="334155"/>
                </a:solidFill>
                <a:latin typeface="Segoe UI"/>
              </a:rPr>
              <a:t>, biểu đồ phân tích BCE &amp; Sequence Diagram.</a:t>
            </a:r>
          </a:p>
          <a:p>
            <a:pPr>
              <a:lnSpc>
                <a:spcPct val="115000"/>
              </a:lnSpc>
              <a:spcAft>
                <a:spcPts val="250"/>
              </a:spcAft>
            </a:pPr>
            <a:r>
              <a:rPr sz="950" b="1">
                <a:solidFill>
                  <a:srgbClr val="3B82F6"/>
                </a:solidFill>
                <a:latin typeface="Segoe UI"/>
              </a:rPr>
              <a:t>• </a:t>
            </a:r>
            <a:r>
              <a:rPr sz="950" b="0">
                <a:solidFill>
                  <a:srgbClr val="334155"/>
                </a:solidFill>
                <a:latin typeface="Segoe UI"/>
              </a:rPr>
              <a:t>ERD &amp; Cơ sở dữ liệu </a:t>
            </a:r>
            <a:r>
              <a:rPr sz="950" b="1">
                <a:solidFill>
                  <a:srgbClr val="0F172A"/>
                </a:solidFill>
                <a:latin typeface="Segoe UI"/>
              </a:rPr>
              <a:t>14 bảng quan hệ đạt chuẩn 3NF</a:t>
            </a:r>
            <a:r>
              <a:rPr sz="950" b="0">
                <a:solidFill>
                  <a:srgbClr val="334155"/>
                </a:solidFill>
                <a:latin typeface="Segoe UI"/>
              </a:rPr>
              <a:t> toàn vẹn.</a:t>
            </a:r>
          </a:p>
        </p:txBody>
      </p:sp>
      <p:sp>
        <p:nvSpPr>
          <p:cNvPr id="12" name="Rounded Rectangle 11"/>
          <p:cNvSpPr/>
          <p:nvPr/>
        </p:nvSpPr>
        <p:spPr>
          <a:xfrm>
            <a:off x="8083296" y="1508760"/>
            <a:ext cx="3364992" cy="2194560"/>
          </a:xfrm>
          <a:prstGeom prst="roundRect">
            <a:avLst/>
          </a:prstGeom>
          <a:solidFill>
            <a:srgbClr val="FFFFFF"/>
          </a:solidFill>
          <a:ln w="15875">
            <a:solidFill>
              <a:srgbClr val="BFDBFE"/>
            </a:solidFill>
          </a:ln>
        </p:spPr>
        <p:style>
          <a:lnRef idx="1">
            <a:schemeClr val="accent1"/>
          </a:lnRef>
          <a:fillRef idx="3">
            <a:schemeClr val="accent1"/>
          </a:fillRef>
          <a:effectRef idx="2">
            <a:schemeClr val="accent1"/>
          </a:effectRef>
          <a:fontRef idx="minor">
            <a:schemeClr val="lt1"/>
          </a:fontRef>
        </p:style>
        <p:txBody>
          <a:bodyPr wrap="square" lIns="182880" tIns="146304" rIns="182880" bIns="109728" rtlCol="0" anchor="t"/>
          <a:lstStyle/>
          <a:p>
            <a:pPr algn="ctr">
              <a:spcAft>
                <a:spcPts val="200"/>
              </a:spcAft>
              <a:defRPr sz="950" b="1">
                <a:solidFill>
                  <a:srgbClr val="2563EB"/>
                </a:solidFill>
                <a:latin typeface="Segoe UI"/>
              </a:defRPr>
            </a:pPr>
            <a:r>
              <a:t>PHẦN 3: KIẾN TRÚC KỸ THUẬT</a:t>
            </a:r>
          </a:p>
          <a:p>
            <a:pPr>
              <a:spcAft>
                <a:spcPts val="400"/>
              </a:spcAft>
              <a:defRPr sz="1300" b="1">
                <a:solidFill>
                  <a:srgbClr val="002060"/>
                </a:solidFill>
                <a:latin typeface="Segoe UI"/>
              </a:defRPr>
            </a:pPr>
            <a:r>
              <a:t>Kiến Trúc 4 Tầng &amp; REST APIs</a:t>
            </a:r>
          </a:p>
          <a:p>
            <a:pPr>
              <a:lnSpc>
                <a:spcPct val="115000"/>
              </a:lnSpc>
              <a:spcAft>
                <a:spcPts val="250"/>
              </a:spcAft>
            </a:pPr>
            <a:r>
              <a:rPr sz="950" b="1">
                <a:solidFill>
                  <a:srgbClr val="3B82F6"/>
                </a:solidFill>
                <a:latin typeface="Segoe UI"/>
              </a:rPr>
              <a:t>• </a:t>
            </a:r>
            <a:r>
              <a:rPr sz="950" b="1">
                <a:solidFill>
                  <a:srgbClr val="0F172A"/>
                </a:solidFill>
                <a:latin typeface="Segoe UI"/>
              </a:rPr>
              <a:t>Kiến trúc 4 tầng</a:t>
            </a:r>
            <a:r>
              <a:rPr sz="950" b="0">
                <a:solidFill>
                  <a:srgbClr val="334155"/>
                </a:solidFill>
                <a:latin typeface="Segoe UI"/>
              </a:rPr>
              <a:t> chuẩn mực: Presentation, App, Domain, Infra.</a:t>
            </a:r>
          </a:p>
          <a:p>
            <a:pPr>
              <a:lnSpc>
                <a:spcPct val="115000"/>
              </a:lnSpc>
              <a:spcAft>
                <a:spcPts val="250"/>
              </a:spcAft>
            </a:pPr>
            <a:r>
              <a:rPr sz="950" b="1">
                <a:solidFill>
                  <a:srgbClr val="3B82F6"/>
                </a:solidFill>
                <a:latin typeface="Segoe UI"/>
              </a:rPr>
              <a:t>• </a:t>
            </a:r>
            <a:r>
              <a:rPr sz="950" b="0">
                <a:solidFill>
                  <a:srgbClr val="334155"/>
                </a:solidFill>
                <a:latin typeface="Segoe UI"/>
              </a:rPr>
              <a:t>Tech stack: </a:t>
            </a:r>
            <a:r>
              <a:rPr sz="950" b="1">
                <a:solidFill>
                  <a:srgbClr val="0F172A"/>
                </a:solidFill>
                <a:latin typeface="Segoe UI"/>
              </a:rPr>
              <a:t>Next.js 14, NestJS, PostgreSQL</a:t>
            </a:r>
            <a:r>
              <a:rPr sz="950" b="0">
                <a:solidFill>
                  <a:srgbClr val="334155"/>
                </a:solidFill>
                <a:latin typeface="Segoe UI"/>
              </a:rPr>
              <a:t> &amp; an ninh JWT.</a:t>
            </a:r>
          </a:p>
          <a:p>
            <a:pPr>
              <a:lnSpc>
                <a:spcPct val="115000"/>
              </a:lnSpc>
              <a:spcAft>
                <a:spcPts val="250"/>
              </a:spcAft>
            </a:pPr>
            <a:r>
              <a:rPr sz="950" b="1">
                <a:solidFill>
                  <a:srgbClr val="3B82F6"/>
                </a:solidFill>
                <a:latin typeface="Segoe UI"/>
              </a:rPr>
              <a:t>• </a:t>
            </a:r>
            <a:r>
              <a:rPr sz="950" b="0">
                <a:solidFill>
                  <a:srgbClr val="334155"/>
                </a:solidFill>
                <a:latin typeface="Segoe UI"/>
              </a:rPr>
              <a:t>Danh mục </a:t>
            </a:r>
            <a:r>
              <a:rPr sz="950" b="1">
                <a:solidFill>
                  <a:srgbClr val="0F172A"/>
                </a:solidFill>
                <a:latin typeface="Segoe UI"/>
              </a:rPr>
              <a:t>32 RESTful APIs</a:t>
            </a:r>
            <a:r>
              <a:rPr sz="950" b="0">
                <a:solidFill>
                  <a:srgbClr val="334155"/>
                </a:solidFill>
                <a:latin typeface="Segoe UI"/>
              </a:rPr>
              <a:t> giao tiếp thông suốt, tài liệu Swagger.</a:t>
            </a:r>
          </a:p>
        </p:txBody>
      </p:sp>
      <p:sp>
        <p:nvSpPr>
          <p:cNvPr id="21" name="Rounded Rectangle 20"/>
          <p:cNvSpPr/>
          <p:nvPr/>
        </p:nvSpPr>
        <p:spPr>
          <a:xfrm>
            <a:off x="4407408" y="3922776"/>
            <a:ext cx="3364992" cy="2194560"/>
          </a:xfrm>
          <a:prstGeom prst="roundRect">
            <a:avLst/>
          </a:prstGeom>
          <a:solidFill>
            <a:srgbClr val="FFFFFF"/>
          </a:solidFill>
          <a:ln w="15875">
            <a:solidFill>
              <a:srgbClr val="BFDBFE"/>
            </a:solidFill>
          </a:ln>
        </p:spPr>
        <p:style>
          <a:lnRef idx="1">
            <a:schemeClr val="accent1"/>
          </a:lnRef>
          <a:fillRef idx="3">
            <a:schemeClr val="accent1"/>
          </a:fillRef>
          <a:effectRef idx="2">
            <a:schemeClr val="accent1"/>
          </a:effectRef>
          <a:fontRef idx="minor">
            <a:schemeClr val="lt1"/>
          </a:fontRef>
        </p:style>
        <p:txBody>
          <a:bodyPr wrap="square" lIns="182880" tIns="146304" rIns="182880" bIns="109728" rtlCol="0" anchor="t"/>
          <a:lstStyle/>
          <a:p>
            <a:pPr algn="ctr">
              <a:spcAft>
                <a:spcPts val="200"/>
              </a:spcAft>
              <a:defRPr sz="950" b="1">
                <a:solidFill>
                  <a:srgbClr val="2563EB"/>
                </a:solidFill>
                <a:latin typeface="Segoe UI"/>
              </a:defRPr>
            </a:pPr>
            <a:r>
              <a:t>PHẦN 5: KIỂM THỬ CHẤT LƯỢNG</a:t>
            </a:r>
          </a:p>
          <a:p>
            <a:pPr>
              <a:spcAft>
                <a:spcPts val="400"/>
              </a:spcAft>
              <a:defRPr sz="1300" b="1">
                <a:solidFill>
                  <a:srgbClr val="002060"/>
                </a:solidFill>
                <a:latin typeface="Segoe UI"/>
              </a:defRPr>
            </a:pPr>
            <a:r>
              <a:t>Nghiệm Thu 145 Test Cases</a:t>
            </a:r>
          </a:p>
          <a:p>
            <a:pPr>
              <a:lnSpc>
                <a:spcPct val="115000"/>
              </a:lnSpc>
              <a:spcAft>
                <a:spcPts val="250"/>
              </a:spcAft>
            </a:pPr>
            <a:r>
              <a:rPr sz="950" b="1">
                <a:solidFill>
                  <a:srgbClr val="3B82F6"/>
                </a:solidFill>
                <a:latin typeface="Segoe UI"/>
              </a:rPr>
              <a:t>• </a:t>
            </a:r>
            <a:r>
              <a:rPr sz="950" b="0">
                <a:solidFill>
                  <a:srgbClr val="334155"/>
                </a:solidFill>
                <a:latin typeface="Segoe UI"/>
              </a:rPr>
              <a:t>Kiểm thử chuyên sâu </a:t>
            </a:r>
            <a:r>
              <a:rPr sz="950" b="1">
                <a:solidFill>
                  <a:srgbClr val="0F172A"/>
                </a:solidFill>
                <a:latin typeface="Segoe UI"/>
              </a:rPr>
              <a:t>145 TCs</a:t>
            </a:r>
            <a:r>
              <a:rPr sz="950" b="0">
                <a:solidFill>
                  <a:srgbClr val="334155"/>
                </a:solidFill>
                <a:latin typeface="Segoe UI"/>
              </a:rPr>
              <a:t> (45 cơ sở + 50 đen + 50 trắng).</a:t>
            </a:r>
          </a:p>
          <a:p>
            <a:pPr>
              <a:lnSpc>
                <a:spcPct val="115000"/>
              </a:lnSpc>
              <a:spcAft>
                <a:spcPts val="250"/>
              </a:spcAft>
            </a:pPr>
            <a:r>
              <a:rPr sz="950" b="1">
                <a:solidFill>
                  <a:srgbClr val="3B82F6"/>
                </a:solidFill>
                <a:latin typeface="Segoe UI"/>
              </a:rPr>
              <a:t>• </a:t>
            </a:r>
            <a:r>
              <a:rPr sz="950" b="0">
                <a:solidFill>
                  <a:srgbClr val="334155"/>
                </a:solidFill>
                <a:latin typeface="Segoe UI"/>
              </a:rPr>
              <a:t>Tỉ lệ thực thi </a:t>
            </a:r>
            <a:r>
              <a:rPr sz="950" b="1">
                <a:solidFill>
                  <a:srgbClr val="0F172A"/>
                </a:solidFill>
                <a:latin typeface="Segoe UI"/>
              </a:rPr>
              <a:t>100% PASS</a:t>
            </a:r>
            <a:r>
              <a:rPr sz="950" b="0">
                <a:solidFill>
                  <a:srgbClr val="334155"/>
                </a:solidFill>
                <a:latin typeface="Segoe UI"/>
              </a:rPr>
              <a:t>, độ bao phủ (Coverage) </a:t>
            </a:r>
            <a:r>
              <a:rPr sz="950" b="1">
                <a:solidFill>
                  <a:srgbClr val="0F172A"/>
                </a:solidFill>
                <a:latin typeface="Segoe UI"/>
              </a:rPr>
              <a:t>94.6%</a:t>
            </a:r>
            <a:r>
              <a:rPr sz="950" b="0">
                <a:solidFill>
                  <a:srgbClr val="334155"/>
                </a:solidFill>
                <a:latin typeface="Segoe UI"/>
              </a:rPr>
              <a:t>.</a:t>
            </a:r>
          </a:p>
          <a:p>
            <a:pPr>
              <a:lnSpc>
                <a:spcPct val="115000"/>
              </a:lnSpc>
              <a:spcAft>
                <a:spcPts val="250"/>
              </a:spcAft>
            </a:pPr>
            <a:r>
              <a:rPr sz="950" b="1">
                <a:solidFill>
                  <a:srgbClr val="3B82F6"/>
                </a:solidFill>
                <a:latin typeface="Segoe UI"/>
              </a:rPr>
              <a:t>• </a:t>
            </a:r>
            <a:r>
              <a:rPr sz="950" b="0">
                <a:solidFill>
                  <a:srgbClr val="334155"/>
                </a:solidFill>
                <a:latin typeface="Segoe UI"/>
              </a:rPr>
              <a:t>Kiểm định </a:t>
            </a:r>
            <a:r>
              <a:rPr sz="950" b="1">
                <a:solidFill>
                  <a:srgbClr val="0F172A"/>
                </a:solidFill>
                <a:latin typeface="Segoe UI"/>
              </a:rPr>
              <a:t>toàn vẹn dữ liệu, an ninh RBAC</a:t>
            </a:r>
            <a:r>
              <a:rPr sz="950" b="0">
                <a:solidFill>
                  <a:srgbClr val="334155"/>
                </a:solidFill>
                <a:latin typeface="Segoe UI"/>
              </a:rPr>
              <a:t> &amp; hiệu năng API.</a:t>
            </a:r>
          </a:p>
        </p:txBody>
      </p:sp>
      <p:sp>
        <p:nvSpPr>
          <p:cNvPr id="22" name="Rounded Rectangle 21"/>
          <p:cNvSpPr/>
          <p:nvPr/>
        </p:nvSpPr>
        <p:spPr>
          <a:xfrm>
            <a:off x="8083296" y="3922776"/>
            <a:ext cx="3364992" cy="2194560"/>
          </a:xfrm>
          <a:prstGeom prst="roundRect">
            <a:avLst/>
          </a:prstGeom>
          <a:solidFill>
            <a:srgbClr val="FFFFFF"/>
          </a:solidFill>
          <a:ln w="15875">
            <a:solidFill>
              <a:srgbClr val="BFDBFE"/>
            </a:solidFill>
          </a:ln>
        </p:spPr>
        <p:style>
          <a:lnRef idx="1">
            <a:schemeClr val="accent1"/>
          </a:lnRef>
          <a:fillRef idx="3">
            <a:schemeClr val="accent1"/>
          </a:fillRef>
          <a:effectRef idx="2">
            <a:schemeClr val="accent1"/>
          </a:effectRef>
          <a:fontRef idx="minor">
            <a:schemeClr val="lt1"/>
          </a:fontRef>
        </p:style>
        <p:txBody>
          <a:bodyPr wrap="square" lIns="182880" tIns="146304" rIns="182880" bIns="109728" rtlCol="0" anchor="t"/>
          <a:lstStyle/>
          <a:p>
            <a:pPr algn="ctr">
              <a:spcAft>
                <a:spcPts val="200"/>
              </a:spcAft>
              <a:defRPr sz="950" b="1">
                <a:solidFill>
                  <a:srgbClr val="2563EB"/>
                </a:solidFill>
                <a:latin typeface="Segoe UI"/>
              </a:defRPr>
            </a:pPr>
            <a:r>
              <a:t>PHẦN 6: ĐÓNG GÓI &amp; VẬN HÀNH</a:t>
            </a:r>
          </a:p>
          <a:p>
            <a:pPr>
              <a:spcAft>
                <a:spcPts val="400"/>
              </a:spcAft>
              <a:defRPr sz="1300" b="1">
                <a:solidFill>
                  <a:srgbClr val="002060"/>
                </a:solidFill>
                <a:latin typeface="Segoe UI"/>
              </a:defRPr>
            </a:pPr>
            <a:r>
              <a:t>Docker 3 Container &amp; Vận Hành</a:t>
            </a:r>
          </a:p>
          <a:p>
            <a:pPr>
              <a:lnSpc>
                <a:spcPct val="115000"/>
              </a:lnSpc>
              <a:spcAft>
                <a:spcPts val="250"/>
              </a:spcAft>
            </a:pPr>
            <a:r>
              <a:rPr sz="950" b="1">
                <a:solidFill>
                  <a:srgbClr val="3B82F6"/>
                </a:solidFill>
                <a:latin typeface="Segoe UI"/>
              </a:rPr>
              <a:t>• </a:t>
            </a:r>
            <a:r>
              <a:rPr sz="950" b="0">
                <a:solidFill>
                  <a:srgbClr val="334155"/>
                </a:solidFill>
                <a:latin typeface="Segoe UI"/>
              </a:rPr>
              <a:t>Đóng gói chuẩn hóa </a:t>
            </a:r>
            <a:r>
              <a:rPr sz="950" b="1">
                <a:solidFill>
                  <a:srgbClr val="0F172A"/>
                </a:solidFill>
                <a:latin typeface="Segoe UI"/>
              </a:rPr>
              <a:t>3 Container Docker</a:t>
            </a:r>
            <a:r>
              <a:rPr sz="950" b="0">
                <a:solidFill>
                  <a:srgbClr val="334155"/>
                </a:solidFill>
                <a:latin typeface="Segoe UI"/>
              </a:rPr>
              <a:t> (DB, Backend, Frontend).</a:t>
            </a:r>
          </a:p>
          <a:p>
            <a:pPr>
              <a:lnSpc>
                <a:spcPct val="115000"/>
              </a:lnSpc>
              <a:spcAft>
                <a:spcPts val="250"/>
              </a:spcAft>
            </a:pPr>
            <a:r>
              <a:rPr sz="950" b="1">
                <a:solidFill>
                  <a:srgbClr val="3B82F6"/>
                </a:solidFill>
                <a:latin typeface="Segoe UI"/>
              </a:rPr>
              <a:t>• </a:t>
            </a:r>
            <a:r>
              <a:rPr sz="950" b="0">
                <a:solidFill>
                  <a:srgbClr val="334155"/>
                </a:solidFill>
                <a:latin typeface="Segoe UI"/>
              </a:rPr>
              <a:t>Triển khai 1 chạm với </a:t>
            </a:r>
            <a:r>
              <a:rPr sz="950" b="1">
                <a:solidFill>
                  <a:srgbClr val="0F172A"/>
                </a:solidFill>
                <a:latin typeface="Segoe UI"/>
              </a:rPr>
              <a:t>Docker Compose</a:t>
            </a:r>
            <a:r>
              <a:rPr sz="950" b="0">
                <a:solidFill>
                  <a:srgbClr val="334155"/>
                </a:solidFill>
                <a:latin typeface="Segoe UI"/>
              </a:rPr>
              <a:t> siêu tốc trong 3–5 phút.</a:t>
            </a:r>
          </a:p>
          <a:p>
            <a:pPr>
              <a:lnSpc>
                <a:spcPct val="115000"/>
              </a:lnSpc>
              <a:spcAft>
                <a:spcPts val="250"/>
              </a:spcAft>
            </a:pPr>
            <a:r>
              <a:rPr sz="950" b="1">
                <a:solidFill>
                  <a:srgbClr val="3B82F6"/>
                </a:solidFill>
                <a:latin typeface="Segoe UI"/>
              </a:rPr>
              <a:t>• </a:t>
            </a:r>
            <a:r>
              <a:rPr sz="950" b="0">
                <a:solidFill>
                  <a:srgbClr val="334155"/>
                </a:solidFill>
                <a:latin typeface="Segoe UI"/>
              </a:rPr>
              <a:t>Hướng dẫn </a:t>
            </a:r>
            <a:r>
              <a:rPr sz="950" b="1">
                <a:solidFill>
                  <a:srgbClr val="0F172A"/>
                </a:solidFill>
                <a:latin typeface="Segoe UI"/>
              </a:rPr>
              <a:t>vận hành 4 vai trò</a:t>
            </a:r>
            <a:r>
              <a:rPr sz="950" b="0">
                <a:solidFill>
                  <a:srgbClr val="334155"/>
                </a:solidFill>
                <a:latin typeface="Segoe UI"/>
              </a:rPr>
              <a:t> &amp; tổng kết giá trị thực tiễn.</a:t>
            </a:r>
          </a:p>
        </p:txBody>
      </p:sp>
      <p:sp>
        <p:nvSpPr>
          <p:cNvPr id="4" name="Rounded Rectangle 10">
            <a:extLst>
              <a:ext uri="{FF2B5EF4-FFF2-40B4-BE49-F238E27FC236}">
                <a16:creationId xmlns:a16="http://schemas.microsoft.com/office/drawing/2014/main" id="{AAB535BA-38E9-1374-E49C-C06A28AE3A97}"/>
              </a:ext>
            </a:extLst>
          </p:cNvPr>
          <p:cNvSpPr/>
          <p:nvPr/>
        </p:nvSpPr>
        <p:spPr>
          <a:xfrm>
            <a:off x="743713" y="3922776"/>
            <a:ext cx="3364992" cy="2194560"/>
          </a:xfrm>
          <a:prstGeom prst="roundRect">
            <a:avLst/>
          </a:prstGeom>
          <a:solidFill>
            <a:srgbClr val="FFFFFF"/>
          </a:solidFill>
          <a:ln w="15875">
            <a:solidFill>
              <a:srgbClr val="BFDBFE"/>
            </a:solidFill>
          </a:ln>
        </p:spPr>
        <p:style>
          <a:lnRef idx="1">
            <a:schemeClr val="accent1"/>
          </a:lnRef>
          <a:fillRef idx="3">
            <a:schemeClr val="accent1"/>
          </a:fillRef>
          <a:effectRef idx="2">
            <a:schemeClr val="accent1"/>
          </a:effectRef>
          <a:fontRef idx="minor">
            <a:schemeClr val="lt1"/>
          </a:fontRef>
        </p:style>
        <p:txBody>
          <a:bodyPr wrap="square" lIns="182880" tIns="146304" rIns="182880" bIns="109728" rtlCol="0" anchor="t"/>
          <a:lstStyle/>
          <a:p>
            <a:pPr>
              <a:spcAft>
                <a:spcPts val="200"/>
              </a:spcAft>
              <a:defRPr sz="950" b="1">
                <a:solidFill>
                  <a:srgbClr val="4F46E5"/>
                </a:solidFill>
                <a:latin typeface="Segoe UI"/>
              </a:defRPr>
            </a:pPr>
            <a:r>
              <a:rPr lang="vi-VN">
                <a:solidFill>
                  <a:srgbClr val="3D4FF9"/>
                </a:solidFill>
              </a:rPr>
              <a:t>PHẦN 4: TRÍ TUỆ NHÂN TẠO </a:t>
            </a:r>
          </a:p>
          <a:p>
            <a:pPr>
              <a:spcAft>
                <a:spcPts val="400"/>
              </a:spcAft>
              <a:defRPr sz="1300" b="1">
                <a:solidFill>
                  <a:srgbClr val="312E81"/>
                </a:solidFill>
                <a:latin typeface="Segoe UI"/>
              </a:defRPr>
            </a:pPr>
            <a:r>
              <a:rPr lang="vi-VN"/>
              <a:t>3 Tính Năng GenAI &amp; An Toàn</a:t>
            </a:r>
          </a:p>
          <a:p>
            <a:pPr>
              <a:lnSpc>
                <a:spcPct val="115000"/>
              </a:lnSpc>
              <a:spcAft>
                <a:spcPts val="250"/>
              </a:spcAft>
            </a:pPr>
            <a:r>
              <a:rPr lang="vi-VN" sz="950" b="1">
                <a:solidFill>
                  <a:srgbClr val="4F46E5"/>
                </a:solidFill>
                <a:latin typeface="Segoe UI"/>
              </a:rPr>
              <a:t>✦ </a:t>
            </a:r>
            <a:r>
              <a:rPr lang="vi-VN" sz="950">
                <a:solidFill>
                  <a:srgbClr val="334155"/>
                </a:solidFill>
                <a:latin typeface="Segoe UI"/>
              </a:rPr>
              <a:t>Tích hợp </a:t>
            </a:r>
            <a:r>
              <a:rPr lang="vi-VN" sz="950" b="1">
                <a:solidFill>
                  <a:srgbClr val="0F172A"/>
                </a:solidFill>
                <a:latin typeface="Segoe UI"/>
              </a:rPr>
              <a:t>Google Gemini Pro/Flash</a:t>
            </a:r>
            <a:r>
              <a:rPr lang="vi-VN" sz="950">
                <a:solidFill>
                  <a:srgbClr val="334155"/>
                </a:solidFill>
                <a:latin typeface="Segoe UI"/>
              </a:rPr>
              <a:t> xử lý ngôn ngữ tự nhiên.</a:t>
            </a:r>
          </a:p>
          <a:p>
            <a:pPr>
              <a:lnSpc>
                <a:spcPct val="115000"/>
              </a:lnSpc>
              <a:spcAft>
                <a:spcPts val="250"/>
              </a:spcAft>
            </a:pPr>
            <a:r>
              <a:rPr lang="vi-VN" sz="950" b="1">
                <a:solidFill>
                  <a:srgbClr val="4F46E5"/>
                </a:solidFill>
                <a:latin typeface="Segoe UI"/>
              </a:rPr>
              <a:t>✦ </a:t>
            </a:r>
            <a:r>
              <a:rPr lang="vi-VN" sz="950" b="1">
                <a:solidFill>
                  <a:srgbClr val="0F172A"/>
                </a:solidFill>
                <a:latin typeface="Segoe UI"/>
              </a:rPr>
              <a:t>3 Tính năng lõi: </a:t>
            </a:r>
            <a:r>
              <a:rPr lang="vi-VN" sz="950">
                <a:solidFill>
                  <a:srgbClr val="334155"/>
                </a:solidFill>
                <a:latin typeface="Segoe UI"/>
              </a:rPr>
              <a:t>Tư vấn lớp, Sinh bài tập CEFR, Tóm tắt.</a:t>
            </a:r>
          </a:p>
          <a:p>
            <a:pPr>
              <a:lnSpc>
                <a:spcPct val="115000"/>
              </a:lnSpc>
              <a:spcAft>
                <a:spcPts val="250"/>
              </a:spcAft>
            </a:pPr>
            <a:r>
              <a:rPr lang="vi-VN" sz="950" b="1">
                <a:solidFill>
                  <a:srgbClr val="4F46E5"/>
                </a:solidFill>
                <a:latin typeface="Segoe UI"/>
              </a:rPr>
              <a:t>✦ </a:t>
            </a:r>
            <a:r>
              <a:rPr lang="vi-VN" sz="950">
                <a:solidFill>
                  <a:srgbClr val="334155"/>
                </a:solidFill>
                <a:latin typeface="Segoe UI"/>
              </a:rPr>
              <a:t>Cơ chế </a:t>
            </a:r>
            <a:r>
              <a:rPr lang="vi-VN" sz="950" b="1">
                <a:solidFill>
                  <a:srgbClr val="0F172A"/>
                </a:solidFill>
                <a:latin typeface="Segoe UI"/>
              </a:rPr>
              <a:t>Circuit Breaker Fallback</a:t>
            </a:r>
            <a:r>
              <a:rPr lang="vi-VN" sz="950">
                <a:solidFill>
                  <a:srgbClr val="334155"/>
                </a:solidFill>
                <a:latin typeface="Segoe UI"/>
              </a:rPr>
              <a:t> &amp; bộ lọc Zero-Trust chống ảo giác.</a:t>
            </a:r>
          </a:p>
          <a:p>
            <a:pPr algn="ctr">
              <a:spcAft>
                <a:spcPts val="200"/>
              </a:spcAft>
              <a:defRPr sz="950" b="1">
                <a:solidFill>
                  <a:srgbClr val="2563EB"/>
                </a:solidFill>
                <a:latin typeface="Segoe UI"/>
              </a:defRPr>
            </a:pPr>
            <a:endParaRPr sz="950" b="0">
              <a:solidFill>
                <a:srgbClr val="334155"/>
              </a:solidFill>
              <a:latin typeface="Segoe UI"/>
            </a:endParaRPr>
          </a:p>
        </p:txBody>
      </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1000"/>
                                        <p:tgtEl>
                                          <p:spTgt spid="12"/>
                                        </p:tgtEl>
                                      </p:cBhvr>
                                    </p:animEffect>
                                    <p:anim calcmode="lin" valueType="num">
                                      <p:cBhvr>
                                        <p:cTn id="13" dur="1000" fill="hold"/>
                                        <p:tgtEl>
                                          <p:spTgt spid="12"/>
                                        </p:tgtEl>
                                        <p:attrNameLst>
                                          <p:attrName>ppt_x</p:attrName>
                                        </p:attrNameLst>
                                      </p:cBhvr>
                                      <p:tavLst>
                                        <p:tav tm="0">
                                          <p:val>
                                            <p:strVal val="#ppt_x"/>
                                          </p:val>
                                        </p:tav>
                                        <p:tav tm="100000">
                                          <p:val>
                                            <p:strVal val="#ppt_x"/>
                                          </p:val>
                                        </p:tav>
                                      </p:tavLst>
                                    </p:anim>
                                    <p:anim calcmode="lin" valueType="num">
                                      <p:cBhvr>
                                        <p:cTn id="14" dur="1000" fill="hold"/>
                                        <p:tgtEl>
                                          <p:spTgt spid="12"/>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1000"/>
                                        <p:tgtEl>
                                          <p:spTgt spid="11"/>
                                        </p:tgtEl>
                                      </p:cBhvr>
                                    </p:animEffect>
                                    <p:anim calcmode="lin" valueType="num">
                                      <p:cBhvr>
                                        <p:cTn id="18" dur="1000" fill="hold"/>
                                        <p:tgtEl>
                                          <p:spTgt spid="11"/>
                                        </p:tgtEl>
                                        <p:attrNameLst>
                                          <p:attrName>ppt_x</p:attrName>
                                        </p:attrNameLst>
                                      </p:cBhvr>
                                      <p:tavLst>
                                        <p:tav tm="0">
                                          <p:val>
                                            <p:strVal val="#ppt_x"/>
                                          </p:val>
                                        </p:tav>
                                        <p:tav tm="100000">
                                          <p:val>
                                            <p:strVal val="#ppt_x"/>
                                          </p:val>
                                        </p:tav>
                                      </p:tavLst>
                                    </p:anim>
                                    <p:anim calcmode="lin" valueType="num">
                                      <p:cBhvr>
                                        <p:cTn id="19" dur="1000" fill="hold"/>
                                        <p:tgtEl>
                                          <p:spTgt spid="11"/>
                                        </p:tgtEl>
                                        <p:attrNameLst>
                                          <p:attrName>ppt_y</p:attrName>
                                        </p:attrNameLst>
                                      </p:cBhvr>
                                      <p:tavLst>
                                        <p:tav tm="0">
                                          <p:val>
                                            <p:strVal val="#ppt_y+.1"/>
                                          </p:val>
                                        </p:tav>
                                        <p:tav tm="100000">
                                          <p:val>
                                            <p:strVal val="#ppt_y"/>
                                          </p:val>
                                        </p:tav>
                                      </p:tavLst>
                                    </p:anim>
                                  </p:childTnLst>
                                </p:cTn>
                              </p:par>
                              <p:par>
                                <p:cTn id="20" presetID="47" presetClass="entr" presetSubtype="0" fill="hold" grpId="0" nodeType="with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1000"/>
                                        <p:tgtEl>
                                          <p:spTgt spid="4"/>
                                        </p:tgtEl>
                                      </p:cBhvr>
                                    </p:animEffect>
                                    <p:anim calcmode="lin" valueType="num">
                                      <p:cBhvr>
                                        <p:cTn id="23" dur="1000" fill="hold"/>
                                        <p:tgtEl>
                                          <p:spTgt spid="4"/>
                                        </p:tgtEl>
                                        <p:attrNameLst>
                                          <p:attrName>ppt_x</p:attrName>
                                        </p:attrNameLst>
                                      </p:cBhvr>
                                      <p:tavLst>
                                        <p:tav tm="0">
                                          <p:val>
                                            <p:strVal val="#ppt_x"/>
                                          </p:val>
                                        </p:tav>
                                        <p:tav tm="100000">
                                          <p:val>
                                            <p:strVal val="#ppt_x"/>
                                          </p:val>
                                        </p:tav>
                                      </p:tavLst>
                                    </p:anim>
                                    <p:anim calcmode="lin" valueType="num">
                                      <p:cBhvr>
                                        <p:cTn id="24" dur="1000" fill="hold"/>
                                        <p:tgtEl>
                                          <p:spTgt spid="4"/>
                                        </p:tgtEl>
                                        <p:attrNameLst>
                                          <p:attrName>ppt_y</p:attrName>
                                        </p:attrNameLst>
                                      </p:cBhvr>
                                      <p:tavLst>
                                        <p:tav tm="0">
                                          <p:val>
                                            <p:strVal val="#ppt_y-.1"/>
                                          </p:val>
                                        </p:tav>
                                        <p:tav tm="100000">
                                          <p:val>
                                            <p:strVal val="#ppt_y"/>
                                          </p:val>
                                        </p:tav>
                                      </p:tavLst>
                                    </p:anim>
                                  </p:childTnLst>
                                </p:cTn>
                              </p:par>
                              <p:par>
                                <p:cTn id="25" presetID="47"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fade">
                                      <p:cBhvr>
                                        <p:cTn id="27" dur="1000"/>
                                        <p:tgtEl>
                                          <p:spTgt spid="21"/>
                                        </p:tgtEl>
                                      </p:cBhvr>
                                    </p:animEffect>
                                    <p:anim calcmode="lin" valueType="num">
                                      <p:cBhvr>
                                        <p:cTn id="28" dur="1000" fill="hold"/>
                                        <p:tgtEl>
                                          <p:spTgt spid="21"/>
                                        </p:tgtEl>
                                        <p:attrNameLst>
                                          <p:attrName>ppt_x</p:attrName>
                                        </p:attrNameLst>
                                      </p:cBhvr>
                                      <p:tavLst>
                                        <p:tav tm="0">
                                          <p:val>
                                            <p:strVal val="#ppt_x"/>
                                          </p:val>
                                        </p:tav>
                                        <p:tav tm="100000">
                                          <p:val>
                                            <p:strVal val="#ppt_x"/>
                                          </p:val>
                                        </p:tav>
                                      </p:tavLst>
                                    </p:anim>
                                    <p:anim calcmode="lin" valueType="num">
                                      <p:cBhvr>
                                        <p:cTn id="29" dur="1000" fill="hold"/>
                                        <p:tgtEl>
                                          <p:spTgt spid="21"/>
                                        </p:tgtEl>
                                        <p:attrNameLst>
                                          <p:attrName>ppt_y</p:attrName>
                                        </p:attrNameLst>
                                      </p:cBhvr>
                                      <p:tavLst>
                                        <p:tav tm="0">
                                          <p:val>
                                            <p:strVal val="#ppt_y-.1"/>
                                          </p:val>
                                        </p:tav>
                                        <p:tav tm="100000">
                                          <p:val>
                                            <p:strVal val="#ppt_y"/>
                                          </p:val>
                                        </p:tav>
                                      </p:tavLst>
                                    </p:anim>
                                  </p:childTnLst>
                                </p:cTn>
                              </p:par>
                              <p:par>
                                <p:cTn id="30" presetID="47" presetClass="entr" presetSubtype="0" fill="hold" grpId="0" nodeType="with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fade">
                                      <p:cBhvr>
                                        <p:cTn id="32" dur="1000"/>
                                        <p:tgtEl>
                                          <p:spTgt spid="22"/>
                                        </p:tgtEl>
                                      </p:cBhvr>
                                    </p:animEffect>
                                    <p:anim calcmode="lin" valueType="num">
                                      <p:cBhvr>
                                        <p:cTn id="33" dur="1000" fill="hold"/>
                                        <p:tgtEl>
                                          <p:spTgt spid="22"/>
                                        </p:tgtEl>
                                        <p:attrNameLst>
                                          <p:attrName>ppt_x</p:attrName>
                                        </p:attrNameLst>
                                      </p:cBhvr>
                                      <p:tavLst>
                                        <p:tav tm="0">
                                          <p:val>
                                            <p:strVal val="#ppt_x"/>
                                          </p:val>
                                        </p:tav>
                                        <p:tav tm="100000">
                                          <p:val>
                                            <p:strVal val="#ppt_x"/>
                                          </p:val>
                                        </p:tav>
                                      </p:tavLst>
                                    </p:anim>
                                    <p:anim calcmode="lin" valueType="num">
                                      <p:cBhvr>
                                        <p:cTn id="34"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21" grpId="0" animBg="1"/>
      <p:bldP spid="22" grpId="0" animBg="1"/>
      <p:bldP spid="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713232"/>
            <a:ext cx="10728655" cy="548640"/>
          </a:xfrm>
          <a:prstGeom prst="rect">
            <a:avLst/>
          </a:prstGeom>
          <a:noFill/>
        </p:spPr>
        <p:txBody>
          <a:bodyPr wrap="square" lIns="0" tIns="0" rIns="0" bIns="0" anchor="t">
            <a:spAutoFit/>
          </a:bodyPr>
          <a:lstStyle/>
          <a:p>
            <a:pPr>
              <a:defRPr sz="2500" b="1">
                <a:solidFill>
                  <a:srgbClr val="0F172A"/>
                </a:solidFill>
                <a:latin typeface="Segoe UI"/>
              </a:defRPr>
            </a:pPr>
            <a:r>
              <a:t>Khảo Sát Thực Tế Tại Trung Tâm Ngoại Ngữ ETC Native</a:t>
            </a:r>
          </a:p>
        </p:txBody>
      </p:sp>
      <p:sp>
        <p:nvSpPr>
          <p:cNvPr id="6" name="TextBox 5"/>
          <p:cNvSpPr txBox="1"/>
          <p:nvPr/>
        </p:nvSpPr>
        <p:spPr>
          <a:xfrm>
            <a:off x="731520" y="1261872"/>
            <a:ext cx="10728655" cy="365760"/>
          </a:xfrm>
          <a:prstGeom prst="rect">
            <a:avLst/>
          </a:prstGeom>
          <a:noFill/>
        </p:spPr>
        <p:txBody>
          <a:bodyPr wrap="square" lIns="0" tIns="0" rIns="0" bIns="0" anchor="t">
            <a:spAutoFit/>
          </a:bodyPr>
          <a:lstStyle/>
          <a:p>
            <a:pPr>
              <a:defRPr sz="1300">
                <a:solidFill>
                  <a:srgbClr val="475569"/>
                </a:solidFill>
                <a:latin typeface="Segoe UI"/>
              </a:defRPr>
            </a:pPr>
            <a:r>
              <a:t>Tìm hiểu môi trường vận hành thực tế tại 308B Bắc Sơn, TP. Thái Nguyên</a:t>
            </a:r>
          </a:p>
        </p:txBody>
      </p:sp>
      <p:sp>
        <p:nvSpPr>
          <p:cNvPr id="7" name="Rectangle 6"/>
          <p:cNvSpPr/>
          <p:nvPr/>
        </p:nvSpPr>
        <p:spPr>
          <a:xfrm>
            <a:off x="731520" y="6327648"/>
            <a:ext cx="10728655" cy="1524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31520" y="1691640"/>
            <a:ext cx="5212080" cy="4526280"/>
          </a:xfrm>
          <a:prstGeom prst="roundRect">
            <a:avLst/>
          </a:prstGeom>
          <a:solidFill>
            <a:srgbClr val="FFFF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wrap="square" lIns="219456" tIns="219456" rIns="219456" rtlCol="0" anchor="t"/>
          <a:lstStyle/>
          <a:p>
            <a:pPr algn="ctr">
              <a:spcBef>
                <a:spcPts val="300"/>
              </a:spcBef>
              <a:defRPr sz="1650" b="1">
                <a:solidFill>
                  <a:srgbClr val="1E40AF"/>
                </a:solidFill>
                <a:latin typeface="Segoe UI"/>
              </a:defRPr>
            </a:pPr>
            <a:r>
              <a:t>Cơ Cấu Vận Hành Tại Đơn Vị Khảo Sát</a:t>
            </a:r>
          </a:p>
          <a:p>
            <a:pPr>
              <a:spcBef>
                <a:spcPts val="700"/>
              </a:spcBef>
              <a:defRPr sz="1200">
                <a:solidFill>
                  <a:srgbClr val="1E293B"/>
                </a:solidFill>
              </a:defRPr>
            </a:pPr>
            <a:r>
              <a:rPr sz="1400"/>
              <a:t>Trung tâm ETC Native đào tạo các chứng chỉ IELTS, TOEIC và giao tiếp chuẩn CEFR (A1-C2). Quá trình vận hành phân chia cho 3 nhóm nhân sự nội bộ:</a:t>
            </a:r>
          </a:p>
          <a:p>
            <a:pPr>
              <a:spcBef>
                <a:spcPts val="500"/>
              </a:spcBef>
              <a:defRPr sz="1150">
                <a:solidFill>
                  <a:srgbClr val="1E293B"/>
                </a:solidFill>
              </a:defRPr>
            </a:pPr>
            <a:r>
              <a:rPr sz="1400"/>
              <a:t>• Ban Quản lý (Admin):Ban hành khung khóa học, phê duyệt mở lớp, xếp thời khóa biểu và theo dõi báo cáo doanh thu, sĩ số.</a:t>
            </a:r>
          </a:p>
          <a:p>
            <a:pPr>
              <a:spcBef>
                <a:spcPts val="500"/>
              </a:spcBef>
              <a:defRPr sz="1150">
                <a:solidFill>
                  <a:srgbClr val="1E293B"/>
                </a:solidFill>
              </a:defRPr>
            </a:pPr>
            <a:r>
              <a:rPr sz="1400"/>
              <a:t>• Bộ phận Tư vấn &amp; Tuyển sinh (Staff):Tiếp đón học viên, kiểm tra năng lực đầu vào, xếp lớp, thu học phí và theo dõi công nợ.</a:t>
            </a:r>
          </a:p>
          <a:p>
            <a:pPr>
              <a:spcBef>
                <a:spcPts val="500"/>
              </a:spcBef>
              <a:defRPr sz="1150">
                <a:solidFill>
                  <a:srgbClr val="1E293B"/>
                </a:solidFill>
              </a:defRPr>
            </a:pPr>
            <a:r>
              <a:rPr sz="1400"/>
              <a:t>• Đội ngũ Giáo viên (Teacher):Giảng dạy theo đề cương, điểm danh từng buổi, nhập điểm đánh giá (20% CC, 30% GK, 50% CK) và soạn bài bổ trợ.</a:t>
            </a:r>
          </a:p>
          <a:p>
            <a:pPr>
              <a:spcBef>
                <a:spcPts val="700"/>
              </a:spcBef>
              <a:defRPr sz="1100">
                <a:solidFill>
                  <a:srgbClr val="1E40AF"/>
                </a:solidFill>
              </a:defRPr>
            </a:pPr>
            <a:r>
              <a:rPr sz="1400"/>
              <a:t>► Phương pháp khảo sát:Phỏng vấn trực tiếp kết hợp Google Forms gồm 20 câu hỏi nghiệp vụ chi tiết.</a:t>
            </a:r>
          </a:p>
        </p:txBody>
      </p:sp>
      <p:sp>
        <p:nvSpPr>
          <p:cNvPr id="11" name="Rounded Rectangle 10"/>
          <p:cNvSpPr/>
          <p:nvPr/>
        </p:nvSpPr>
        <p:spPr>
          <a:xfrm>
            <a:off x="6248095" y="1691640"/>
            <a:ext cx="5212080" cy="4526280"/>
          </a:xfrm>
          <a:prstGeom prst="roundRect">
            <a:avLst/>
          </a:prstGeom>
          <a:solidFill>
            <a:srgbClr val="FFFF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wrap="square" lIns="219456" tIns="219456" rIns="219456" rtlCol="0" anchor="t"/>
          <a:lstStyle/>
          <a:p>
            <a:pPr algn="ctr">
              <a:spcBef>
                <a:spcPts val="300"/>
              </a:spcBef>
              <a:defRPr sz="1650" b="1">
                <a:solidFill>
                  <a:srgbClr val="1E40AF"/>
                </a:solidFill>
                <a:latin typeface="Segoe UI"/>
              </a:defRPr>
            </a:pPr>
            <a:r>
              <a:t>4 Điểm Nghẽn Trong Vận Hành Bán Thủ Công</a:t>
            </a:r>
          </a:p>
          <a:p>
            <a:pPr>
              <a:spcBef>
                <a:spcPts val="700"/>
              </a:spcBef>
              <a:defRPr sz="1100">
                <a:solidFill>
                  <a:srgbClr val="1E40AF"/>
                </a:solidFill>
              </a:defRPr>
            </a:pPr>
            <a:r>
              <a:rPr sz="1400"/>
              <a:t>1. Dữ liệu phân tán &amp; Khó tra cứuDữ liệu lưu rải rác trên file Excel cá nhân và sổ sách giấy, gây thiếu đồng bộ, tốn thời gian đối soát.2. Xung đột lịch học &amp; Trùng phòng họcXếp lịch thủ công bằng mắt thường trên Excel thường xuyên xảy ra tình trạng trùng phòng hoặc trùng giờ dạy của giáo viên.3. Thất thoát &amp; Khó kiểm soát công nợHọc viên đóng học phí nhiều đợt ghi vào sổ tay dễ bị bỏ sót hạn chót, không có báo cáo tài chính thời gian thực.4. Thiếu công cụ thông minh trợ lựcTư vấn xếp lớp thủ công mất nhiều thời gian; giáo viên tốn hàng giờ biên soạn bài tập ôn luyện bổ trợ sau giờ học.</a:t>
            </a:r>
          </a:p>
        </p:txBody>
      </p:sp>
      <p:sp>
        <p:nvSpPr>
          <p:cNvPr id="12" name="Rounded Rectangle 3">
            <a:extLst>
              <a:ext uri="{FF2B5EF4-FFF2-40B4-BE49-F238E27FC236}">
                <a16:creationId xmlns:a16="http://schemas.microsoft.com/office/drawing/2014/main" id="{F6E62FF8-087B-99D2-F47D-5AD87294DA52}"/>
              </a:ext>
            </a:extLst>
          </p:cNvPr>
          <p:cNvSpPr/>
          <p:nvPr/>
        </p:nvSpPr>
        <p:spPr>
          <a:xfrm>
            <a:off x="0" y="73152"/>
            <a:ext cx="3634740" cy="310896"/>
          </a:xfrm>
          <a:prstGeom prst="roundRect">
            <a:avLst/>
          </a:prstGeom>
          <a:solidFill>
            <a:srgbClr val="EFF6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1000" b="1">
                <a:solidFill>
                  <a:srgbClr val="1E40AF"/>
                </a:solidFill>
              </a:defRPr>
            </a:pPr>
            <a:r>
              <a:t>CHƯƠNG </a:t>
            </a:r>
            <a:r>
              <a:rPr lang="en-US"/>
              <a:t>1</a:t>
            </a:r>
            <a:r>
              <a:t>: </a:t>
            </a:r>
            <a:r>
              <a:rPr lang="en-US"/>
              <a:t>Khảo sát &amp; Yêu cầu</a:t>
            </a:r>
            <a:endParaRPr/>
          </a:p>
        </p:txBody>
      </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1000"/>
                                        <p:tgtEl>
                                          <p:spTgt spid="11"/>
                                        </p:tgtEl>
                                      </p:cBhvr>
                                    </p:animEffect>
                                    <p:anim calcmode="lin" valueType="num">
                                      <p:cBhvr>
                                        <p:cTn id="13" dur="1000" fill="hold"/>
                                        <p:tgtEl>
                                          <p:spTgt spid="11"/>
                                        </p:tgtEl>
                                        <p:attrNameLst>
                                          <p:attrName>ppt_x</p:attrName>
                                        </p:attrNameLst>
                                      </p:cBhvr>
                                      <p:tavLst>
                                        <p:tav tm="0">
                                          <p:val>
                                            <p:strVal val="#ppt_x"/>
                                          </p:val>
                                        </p:tav>
                                        <p:tav tm="100000">
                                          <p:val>
                                            <p:strVal val="#ppt_x"/>
                                          </p:val>
                                        </p:tav>
                                      </p:tavLst>
                                    </p:anim>
                                    <p:anim calcmode="lin" valueType="num">
                                      <p:cBhvr>
                                        <p:cTn id="1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713232"/>
            <a:ext cx="10728655" cy="548640"/>
          </a:xfrm>
          <a:prstGeom prst="rect">
            <a:avLst/>
          </a:prstGeom>
          <a:noFill/>
        </p:spPr>
        <p:txBody>
          <a:bodyPr wrap="square" lIns="0" tIns="0" rIns="0" bIns="0" anchor="t">
            <a:spAutoFit/>
          </a:bodyPr>
          <a:lstStyle/>
          <a:p>
            <a:pPr>
              <a:defRPr sz="2500" b="1">
                <a:solidFill>
                  <a:srgbClr val="0F172A"/>
                </a:solidFill>
                <a:latin typeface="Segoe UI"/>
              </a:defRPr>
            </a:pPr>
            <a:r>
              <a:t>Mục Tiêu &amp; Phạm Vi Xây Dựng Hệ Thống</a:t>
            </a:r>
          </a:p>
        </p:txBody>
      </p:sp>
      <p:sp>
        <p:nvSpPr>
          <p:cNvPr id="6" name="TextBox 5"/>
          <p:cNvSpPr txBox="1"/>
          <p:nvPr/>
        </p:nvSpPr>
        <p:spPr>
          <a:xfrm>
            <a:off x="731520" y="1261872"/>
            <a:ext cx="10728655" cy="365760"/>
          </a:xfrm>
          <a:prstGeom prst="rect">
            <a:avLst/>
          </a:prstGeom>
          <a:noFill/>
        </p:spPr>
        <p:txBody>
          <a:bodyPr wrap="square" lIns="0" tIns="0" rIns="0" bIns="0" anchor="t">
            <a:spAutoFit/>
          </a:bodyPr>
          <a:lstStyle/>
          <a:p>
            <a:pPr>
              <a:defRPr sz="1300">
                <a:solidFill>
                  <a:srgbClr val="475569"/>
                </a:solidFill>
                <a:latin typeface="Segoe UI"/>
              </a:defRPr>
            </a:pPr>
            <a:r>
              <a:t>Giải pháp số hóa toàn diện nghiệp vụ trung tâm ngoại ngữ và ứng dụng AI thông minh</a:t>
            </a:r>
          </a:p>
        </p:txBody>
      </p:sp>
      <p:sp>
        <p:nvSpPr>
          <p:cNvPr id="7" name="Rectangle 6"/>
          <p:cNvSpPr/>
          <p:nvPr/>
        </p:nvSpPr>
        <p:spPr>
          <a:xfrm>
            <a:off x="731520" y="6327648"/>
            <a:ext cx="10728655" cy="1524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31520" y="1691640"/>
            <a:ext cx="3401568" cy="4526280"/>
          </a:xfrm>
          <a:prstGeom prst="roundRect">
            <a:avLst/>
          </a:prstGeom>
          <a:solidFill>
            <a:srgbClr val="FFFF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wrap="square" lIns="219456" tIns="219456" rIns="219456" rtlCol="0" anchor="t"/>
          <a:lstStyle/>
          <a:p>
            <a:pPr algn="ctr">
              <a:spcBef>
                <a:spcPts val="300"/>
              </a:spcBef>
              <a:defRPr sz="1650" b="1">
                <a:solidFill>
                  <a:srgbClr val="1E40AF"/>
                </a:solidFill>
                <a:latin typeface="Segoe UI"/>
              </a:defRPr>
            </a:pPr>
            <a:r>
              <a:t>Quản Trị Tập Trung</a:t>
            </a:r>
          </a:p>
          <a:p>
            <a:pPr>
              <a:spcBef>
                <a:spcPts val="700"/>
              </a:spcBef>
              <a:defRPr sz="1200">
                <a:solidFill>
                  <a:srgbClr val="1E293B"/>
                </a:solidFill>
              </a:defRPr>
            </a:pPr>
            <a:r>
              <a:rPr sz="1400"/>
              <a:t>Hợp nhất toàn bộ dữ liệu học viên, giáo viên, khóa học, lớp học và tài chính vào cơ sở dữ liệu quan hệ đồng nhất.</a:t>
            </a:r>
          </a:p>
          <a:p>
            <a:pPr>
              <a:spcBef>
                <a:spcPts val="500"/>
              </a:spcBef>
              <a:defRPr sz="1150">
                <a:solidFill>
                  <a:srgbClr val="1E293B"/>
                </a:solidFill>
              </a:defRPr>
            </a:pPr>
            <a:r>
              <a:rPr sz="1400"/>
              <a:t>• Phân quyền truy cập nghiêm ngặt theo 4 vai trò.</a:t>
            </a:r>
          </a:p>
          <a:p>
            <a:pPr>
              <a:spcBef>
                <a:spcPts val="500"/>
              </a:spcBef>
              <a:defRPr sz="1150">
                <a:solidFill>
                  <a:srgbClr val="1E293B"/>
                </a:solidFill>
              </a:defRPr>
            </a:pPr>
            <a:r>
              <a:rPr sz="1400"/>
              <a:t>• Kiểm soát sĩ số tối đa cố định 25 học viên/lớp.</a:t>
            </a:r>
          </a:p>
          <a:p>
            <a:pPr>
              <a:spcBef>
                <a:spcPts val="500"/>
              </a:spcBef>
              <a:defRPr sz="1150">
                <a:solidFill>
                  <a:srgbClr val="1E293B"/>
                </a:solidFill>
              </a:defRPr>
            </a:pPr>
            <a:r>
              <a:rPr sz="1400"/>
              <a:t>• Ngăn chặn 100% xung đột phòng học và lịch dạy.</a:t>
            </a:r>
          </a:p>
        </p:txBody>
      </p:sp>
      <p:sp>
        <p:nvSpPr>
          <p:cNvPr id="11" name="Rounded Rectangle 10"/>
          <p:cNvSpPr/>
          <p:nvPr/>
        </p:nvSpPr>
        <p:spPr>
          <a:xfrm>
            <a:off x="4389120" y="1691640"/>
            <a:ext cx="3401568" cy="4526280"/>
          </a:xfrm>
          <a:prstGeom prst="roundRect">
            <a:avLst/>
          </a:prstGeom>
          <a:solidFill>
            <a:srgbClr val="FFFF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wrap="square" lIns="219456" tIns="219456" rIns="219456" rtlCol="0" anchor="t"/>
          <a:lstStyle/>
          <a:p>
            <a:pPr algn="ctr">
              <a:spcBef>
                <a:spcPts val="300"/>
              </a:spcBef>
              <a:defRPr sz="1650" b="1">
                <a:solidFill>
                  <a:srgbClr val="1E40AF"/>
                </a:solidFill>
                <a:latin typeface="Segoe UI"/>
              </a:defRPr>
            </a:pPr>
            <a:r>
              <a:t>Tự Động Hóa Nghiệp Vụ</a:t>
            </a:r>
          </a:p>
          <a:p>
            <a:pPr>
              <a:spcBef>
                <a:spcPts val="700"/>
              </a:spcBef>
              <a:defRPr sz="1200">
                <a:solidFill>
                  <a:srgbClr val="1E293B"/>
                </a:solidFill>
              </a:defRPr>
            </a:pPr>
            <a:r>
              <a:rPr sz="1400"/>
              <a:t>Tối ưu hóa các thao tác hành chính mất thời gian, đảm bảo tính minh bạch và chính xác của số liệu.</a:t>
            </a:r>
          </a:p>
          <a:p>
            <a:pPr>
              <a:spcBef>
                <a:spcPts val="500"/>
              </a:spcBef>
              <a:defRPr sz="1150">
                <a:solidFill>
                  <a:srgbClr val="1E293B"/>
                </a:solidFill>
              </a:defRPr>
            </a:pPr>
            <a:r>
              <a:rPr sz="1400"/>
              <a:t>• Tự động sinh hóa đơn công nợ ngay khi đăng ký lớp.</a:t>
            </a:r>
          </a:p>
          <a:p>
            <a:pPr>
              <a:spcBef>
                <a:spcPts val="500"/>
              </a:spcBef>
              <a:defRPr sz="1150">
                <a:solidFill>
                  <a:srgbClr val="1E293B"/>
                </a:solidFill>
              </a:defRPr>
            </a:pPr>
            <a:r>
              <a:rPr sz="1400"/>
              <a:t>• Theo dõi thu học phí nhiều đợt (tiền mặt / chuyển khoản).</a:t>
            </a:r>
          </a:p>
          <a:p>
            <a:pPr>
              <a:spcBef>
                <a:spcPts val="500"/>
              </a:spcBef>
              <a:defRPr sz="1150">
                <a:solidFill>
                  <a:srgbClr val="1E293B"/>
                </a:solidFill>
              </a:defRPr>
            </a:pPr>
            <a:r>
              <a:rPr sz="1400"/>
              <a:t>• Tự động tính điểm tổng kết: 20% CC + 30% GK + 50% CK.</a:t>
            </a:r>
          </a:p>
        </p:txBody>
      </p:sp>
      <p:sp>
        <p:nvSpPr>
          <p:cNvPr id="12" name="Rounded Rectangle 11"/>
          <p:cNvSpPr/>
          <p:nvPr/>
        </p:nvSpPr>
        <p:spPr>
          <a:xfrm>
            <a:off x="8046720" y="1691640"/>
            <a:ext cx="3401568" cy="4526280"/>
          </a:xfrm>
          <a:prstGeom prst="roundRect">
            <a:avLst/>
          </a:prstGeom>
          <a:solidFill>
            <a:srgbClr val="FFFF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wrap="square" lIns="219456" tIns="219456" rIns="219456" rtlCol="0" anchor="t"/>
          <a:lstStyle/>
          <a:p>
            <a:pPr algn="ctr">
              <a:spcBef>
                <a:spcPts val="300"/>
              </a:spcBef>
              <a:defRPr sz="1650" b="1">
                <a:solidFill>
                  <a:srgbClr val="1E40AF"/>
                </a:solidFill>
                <a:latin typeface="Segoe UI"/>
              </a:defRPr>
            </a:pPr>
            <a:r>
              <a:t>Tích Hợp Trí Tuệ Nhân Tạo</a:t>
            </a:r>
          </a:p>
          <a:p>
            <a:pPr>
              <a:spcBef>
                <a:spcPts val="700"/>
              </a:spcBef>
              <a:defRPr sz="1200">
                <a:solidFill>
                  <a:srgbClr val="1E293B"/>
                </a:solidFill>
              </a:defRPr>
            </a:pPr>
            <a:r>
              <a:rPr sz="1400"/>
              <a:t>Ứng dụng công nghệ Generative AI (Google Gemini) để giải phóng sức lao động và nâng cao trải nghiệm người học.</a:t>
            </a:r>
          </a:p>
          <a:p>
            <a:pPr>
              <a:spcBef>
                <a:spcPts val="500"/>
              </a:spcBef>
              <a:defRPr sz="1150">
                <a:solidFill>
                  <a:srgbClr val="1E293B"/>
                </a:solidFill>
              </a:defRPr>
            </a:pPr>
            <a:r>
              <a:rPr sz="1400"/>
              <a:t>• AI gợi ý tối đa 3 lớp học theo CEFR và lịch rảnh.</a:t>
            </a:r>
          </a:p>
          <a:p>
            <a:pPr>
              <a:spcBef>
                <a:spcPts val="500"/>
              </a:spcBef>
              <a:defRPr sz="1150">
                <a:solidFill>
                  <a:srgbClr val="1E293B"/>
                </a:solidFill>
              </a:defRPr>
            </a:pPr>
            <a:r>
              <a:rPr sz="1400"/>
              <a:t>• AI sinh bộ câu hỏi trắc nghiệm CEFR kèm giải thích.</a:t>
            </a:r>
          </a:p>
          <a:p>
            <a:pPr>
              <a:spcBef>
                <a:spcPts val="500"/>
              </a:spcBef>
              <a:defRPr sz="1150">
                <a:solidFill>
                  <a:srgbClr val="1E293B"/>
                </a:solidFill>
              </a:defRPr>
            </a:pPr>
            <a:r>
              <a:rPr sz="1400"/>
              <a:t>• AI phân tích tiến độ, điểm mạnh và lộ trình ôn tập.</a:t>
            </a:r>
          </a:p>
        </p:txBody>
      </p:sp>
      <p:sp>
        <p:nvSpPr>
          <p:cNvPr id="13" name="Rounded Rectangle 3">
            <a:extLst>
              <a:ext uri="{FF2B5EF4-FFF2-40B4-BE49-F238E27FC236}">
                <a16:creationId xmlns:a16="http://schemas.microsoft.com/office/drawing/2014/main" id="{07E64AC5-0589-941C-B7D4-30F52D7D9C15}"/>
              </a:ext>
            </a:extLst>
          </p:cNvPr>
          <p:cNvSpPr/>
          <p:nvPr/>
        </p:nvSpPr>
        <p:spPr>
          <a:xfrm>
            <a:off x="0" y="73152"/>
            <a:ext cx="3634740" cy="310896"/>
          </a:xfrm>
          <a:prstGeom prst="roundRect">
            <a:avLst/>
          </a:prstGeom>
          <a:solidFill>
            <a:srgbClr val="EFF6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1000" b="1">
                <a:solidFill>
                  <a:srgbClr val="1E40AF"/>
                </a:solidFill>
              </a:defRPr>
            </a:pPr>
            <a:r>
              <a:t>CHƯƠNG </a:t>
            </a:r>
            <a:r>
              <a:rPr lang="en-US"/>
              <a:t>1</a:t>
            </a:r>
            <a:r>
              <a:t>: </a:t>
            </a:r>
            <a:r>
              <a:rPr lang="en-US"/>
              <a:t>Khảo sát &amp; Yêu cầu</a:t>
            </a:r>
            <a:endParaRPr/>
          </a:p>
        </p:txBody>
      </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cBhvr>
                                        <p:cTn id="12" dur="500" fill="hold"/>
                                        <p:tgtEl>
                                          <p:spTgt spid="12"/>
                                        </p:tgtEl>
                                        <p:attrNameLst>
                                          <p:attrName>ppt_w</p:attrName>
                                        </p:attrNameLst>
                                      </p:cBhvr>
                                      <p:tavLst>
                                        <p:tav tm="0">
                                          <p:val>
                                            <p:fltVal val="0"/>
                                          </p:val>
                                        </p:tav>
                                        <p:tav tm="100000">
                                          <p:val>
                                            <p:strVal val="#ppt_w"/>
                                          </p:val>
                                        </p:tav>
                                      </p:tavLst>
                                    </p:anim>
                                    <p:anim calcmode="lin" valueType="num">
                                      <p:cBhvr>
                                        <p:cTn id="13" dur="500" fill="hold"/>
                                        <p:tgtEl>
                                          <p:spTgt spid="12"/>
                                        </p:tgtEl>
                                        <p:attrNameLst>
                                          <p:attrName>ppt_h</p:attrName>
                                        </p:attrNameLst>
                                      </p:cBhvr>
                                      <p:tavLst>
                                        <p:tav tm="0">
                                          <p:val>
                                            <p:fltVal val="0"/>
                                          </p:val>
                                        </p:tav>
                                        <p:tav tm="100000">
                                          <p:val>
                                            <p:strVal val="#ppt_h"/>
                                          </p:val>
                                        </p:tav>
                                      </p:tavLst>
                                    </p:anim>
                                    <p:animEffect transition="in" filter="fade">
                                      <p:cBhvr>
                                        <p:cTn id="14" dur="500"/>
                                        <p:tgtEl>
                                          <p:spTgt spid="12"/>
                                        </p:tgtEl>
                                      </p:cBhvr>
                                    </p:animEffect>
                                  </p:childTnLst>
                                </p:cTn>
                              </p:par>
                              <p:par>
                                <p:cTn id="15" presetID="45"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anim calcmode="lin" valueType="num">
                                      <p:cBhvr>
                                        <p:cTn id="18" dur="500" fill="hold"/>
                                        <p:tgtEl>
                                          <p:spTgt spid="11"/>
                                        </p:tgtEl>
                                        <p:attrNameLst>
                                          <p:attrName>ppt_w</p:attrName>
                                        </p:attrNameLst>
                                      </p:cBhvr>
                                      <p:tavLst>
                                        <p:tav tm="0" fmla="#ppt_w*sin(2.5*pi*$)">
                                          <p:val>
                                            <p:fltVal val="0"/>
                                          </p:val>
                                        </p:tav>
                                        <p:tav tm="100000">
                                          <p:val>
                                            <p:fltVal val="1"/>
                                          </p:val>
                                        </p:tav>
                                      </p:tavLst>
                                    </p:anim>
                                    <p:anim calcmode="lin" valueType="num">
                                      <p:cBhvr>
                                        <p:cTn id="19" dur="500" fill="hold"/>
                                        <p:tgtEl>
                                          <p:spTgt spid="11"/>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713232"/>
            <a:ext cx="10728655" cy="548640"/>
          </a:xfrm>
          <a:prstGeom prst="rect">
            <a:avLst/>
          </a:prstGeom>
          <a:noFill/>
        </p:spPr>
        <p:txBody>
          <a:bodyPr wrap="square" lIns="0" tIns="0" rIns="0" bIns="0" anchor="t">
            <a:spAutoFit/>
          </a:bodyPr>
          <a:lstStyle/>
          <a:p>
            <a:pPr>
              <a:defRPr sz="2500" b="1">
                <a:solidFill>
                  <a:srgbClr val="0F172A"/>
                </a:solidFill>
                <a:latin typeface="Segoe UI"/>
              </a:defRPr>
            </a:pPr>
            <a:r>
              <a:t>Ma Trận Yêu Cầu Hệ Thống (SRS Matrix)</a:t>
            </a:r>
          </a:p>
        </p:txBody>
      </p:sp>
      <p:sp>
        <p:nvSpPr>
          <p:cNvPr id="7" name="Rectangle 6"/>
          <p:cNvSpPr/>
          <p:nvPr/>
        </p:nvSpPr>
        <p:spPr>
          <a:xfrm>
            <a:off x="731520" y="6327648"/>
            <a:ext cx="10728655" cy="1524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1293187"/>
            <a:ext cx="3349635" cy="300082"/>
          </a:xfrm>
          <a:prstGeom prst="rect">
            <a:avLst/>
          </a:prstGeom>
          <a:noFill/>
        </p:spPr>
        <p:txBody>
          <a:bodyPr wrap="none">
            <a:spAutoFit/>
          </a:bodyPr>
          <a:lstStyle/>
          <a:p>
            <a:pPr>
              <a:defRPr sz="1350" b="1">
                <a:solidFill>
                  <a:srgbClr val="1E40AF"/>
                </a:solidFill>
              </a:defRPr>
            </a:pPr>
            <a:r>
              <a:t>11 CHỨC NĂNG QUẢN LÝ + 3 CHỨC NĂNG AI</a:t>
            </a:r>
          </a:p>
        </p:txBody>
      </p:sp>
      <p:graphicFrame>
        <p:nvGraphicFramePr>
          <p:cNvPr id="11" name="Table 10"/>
          <p:cNvGraphicFramePr>
            <a:graphicFrameLocks noGrp="1"/>
          </p:cNvGraphicFramePr>
          <p:nvPr>
            <p:extLst>
              <p:ext uri="{D42A27DB-BD31-4B8C-83A1-F6EECF244321}">
                <p14:modId xmlns:p14="http://schemas.microsoft.com/office/powerpoint/2010/main" val="842097978"/>
              </p:ext>
            </p:extLst>
          </p:nvPr>
        </p:nvGraphicFramePr>
        <p:xfrm>
          <a:off x="606829" y="1795272"/>
          <a:ext cx="6982691" cy="4422645"/>
        </p:xfrm>
        <a:graphic>
          <a:graphicData uri="http://schemas.openxmlformats.org/drawingml/2006/table">
            <a:tbl>
              <a:tblPr firstRow="1" bandRow="1">
                <a:tableStyleId>{5C22544A-7EE6-4342-B048-85BDC9FD1C3A}</a:tableStyleId>
              </a:tblPr>
              <a:tblGrid>
                <a:gridCol w="1210333">
                  <a:extLst>
                    <a:ext uri="{9D8B030D-6E8A-4147-A177-3AD203B41FA5}">
                      <a16:colId xmlns:a16="http://schemas.microsoft.com/office/drawing/2014/main" val="20000"/>
                    </a:ext>
                  </a:extLst>
                </a:gridCol>
                <a:gridCol w="3165487">
                  <a:extLst>
                    <a:ext uri="{9D8B030D-6E8A-4147-A177-3AD203B41FA5}">
                      <a16:colId xmlns:a16="http://schemas.microsoft.com/office/drawing/2014/main" val="20001"/>
                    </a:ext>
                  </a:extLst>
                </a:gridCol>
                <a:gridCol w="2606871">
                  <a:extLst>
                    <a:ext uri="{9D8B030D-6E8A-4147-A177-3AD203B41FA5}">
                      <a16:colId xmlns:a16="http://schemas.microsoft.com/office/drawing/2014/main" val="20002"/>
                    </a:ext>
                  </a:extLst>
                </a:gridCol>
              </a:tblGrid>
              <a:tr h="294843">
                <a:tc>
                  <a:txBody>
                    <a:bodyPr/>
                    <a:lstStyle/>
                    <a:p>
                      <a:pPr>
                        <a:defRPr sz="1050" b="1">
                          <a:solidFill>
                            <a:srgbClr val="FFFFFF"/>
                          </a:solidFill>
                          <a:latin typeface="Segoe UI"/>
                        </a:defRPr>
                      </a:pPr>
                      <a:r>
                        <a:rPr sz="1200"/>
                        <a:t>Mã FR</a:t>
                      </a:r>
                    </a:p>
                  </a:txBody>
                  <a:tcPr marT="36576" marB="36576">
                    <a:solidFill>
                      <a:srgbClr val="1E40AF"/>
                    </a:solidFill>
                  </a:tcPr>
                </a:tc>
                <a:tc>
                  <a:txBody>
                    <a:bodyPr/>
                    <a:lstStyle/>
                    <a:p>
                      <a:pPr>
                        <a:defRPr sz="1050" b="1">
                          <a:solidFill>
                            <a:srgbClr val="FFFFFF"/>
                          </a:solidFill>
                          <a:latin typeface="Segoe UI"/>
                        </a:defRPr>
                      </a:pPr>
                      <a:r>
                        <a:rPr sz="1200"/>
                        <a:t>Tên Chức Năng Cốt Lõi</a:t>
                      </a:r>
                    </a:p>
                  </a:txBody>
                  <a:tcPr marT="36576" marB="36576">
                    <a:solidFill>
                      <a:srgbClr val="1E40AF"/>
                    </a:solidFill>
                  </a:tcPr>
                </a:tc>
                <a:tc>
                  <a:txBody>
                    <a:bodyPr/>
                    <a:lstStyle/>
                    <a:p>
                      <a:pPr>
                        <a:defRPr sz="1050" b="1">
                          <a:solidFill>
                            <a:srgbClr val="FFFFFF"/>
                          </a:solidFill>
                          <a:latin typeface="Segoe UI"/>
                        </a:defRPr>
                      </a:pPr>
                      <a:r>
                        <a:rPr sz="1200"/>
                        <a:t>Phạm Vi / Vai Trò Sử Dụng</a:t>
                      </a:r>
                    </a:p>
                  </a:txBody>
                  <a:tcPr marT="36576" marB="36576">
                    <a:solidFill>
                      <a:srgbClr val="1E40AF"/>
                    </a:solidFill>
                  </a:tcPr>
                </a:tc>
                <a:extLst>
                  <a:ext uri="{0D108BD9-81ED-4DB2-BD59-A6C34878D82A}">
                    <a16:rowId xmlns:a16="http://schemas.microsoft.com/office/drawing/2014/main" val="10000"/>
                  </a:ext>
                </a:extLst>
              </a:tr>
              <a:tr h="294843">
                <a:tc>
                  <a:txBody>
                    <a:bodyPr/>
                    <a:lstStyle/>
                    <a:p>
                      <a:pPr>
                        <a:defRPr sz="1000" b="1">
                          <a:solidFill>
                            <a:srgbClr val="1E40AF"/>
                          </a:solidFill>
                          <a:latin typeface="Segoe UI"/>
                        </a:defRPr>
                      </a:pPr>
                      <a:r>
                        <a:rPr sz="1200"/>
                        <a:t>FR-001</a:t>
                      </a:r>
                    </a:p>
                  </a:txBody>
                  <a:tcPr marT="36576" marB="36576">
                    <a:solidFill>
                      <a:srgbClr val="FFFFFF"/>
                    </a:solidFill>
                  </a:tcPr>
                </a:tc>
                <a:tc>
                  <a:txBody>
                    <a:bodyPr/>
                    <a:lstStyle/>
                    <a:p>
                      <a:pPr>
                        <a:defRPr sz="1000" b="0">
                          <a:solidFill>
                            <a:srgbClr val="1E293B"/>
                          </a:solidFill>
                          <a:latin typeface="Segoe UI"/>
                        </a:defRPr>
                      </a:pPr>
                      <a:r>
                        <a:rPr sz="1200"/>
                        <a:t>Đăng nhập &amp; phân quyền</a:t>
                      </a:r>
                    </a:p>
                  </a:txBody>
                  <a:tcPr marT="36576" marB="36576">
                    <a:solidFill>
                      <a:srgbClr val="FFFFFF"/>
                    </a:solidFill>
                  </a:tcPr>
                </a:tc>
                <a:tc>
                  <a:txBody>
                    <a:bodyPr/>
                    <a:lstStyle/>
                    <a:p>
                      <a:pPr>
                        <a:defRPr sz="1000" b="0">
                          <a:solidFill>
                            <a:srgbClr val="1E293B"/>
                          </a:solidFill>
                          <a:latin typeface="Segoe UI"/>
                        </a:defRPr>
                      </a:pPr>
                      <a:r>
                        <a:rPr sz="1200"/>
                        <a:t>Cả 4 vai trò (JWT RBAC)</a:t>
                      </a:r>
                    </a:p>
                  </a:txBody>
                  <a:tcPr marT="36576" marB="36576">
                    <a:solidFill>
                      <a:srgbClr val="FFFFFF"/>
                    </a:solidFill>
                  </a:tcPr>
                </a:tc>
                <a:extLst>
                  <a:ext uri="{0D108BD9-81ED-4DB2-BD59-A6C34878D82A}">
                    <a16:rowId xmlns:a16="http://schemas.microsoft.com/office/drawing/2014/main" val="10001"/>
                  </a:ext>
                </a:extLst>
              </a:tr>
              <a:tr h="294843">
                <a:tc>
                  <a:txBody>
                    <a:bodyPr/>
                    <a:lstStyle/>
                    <a:p>
                      <a:pPr>
                        <a:defRPr sz="1000" b="1">
                          <a:solidFill>
                            <a:srgbClr val="1E40AF"/>
                          </a:solidFill>
                          <a:latin typeface="Segoe UI"/>
                        </a:defRPr>
                      </a:pPr>
                      <a:r>
                        <a:rPr sz="1200"/>
                        <a:t>FR-002</a:t>
                      </a:r>
                    </a:p>
                  </a:txBody>
                  <a:tcPr marT="36576" marB="36576">
                    <a:solidFill>
                      <a:srgbClr val="F0F7FF"/>
                    </a:solidFill>
                  </a:tcPr>
                </a:tc>
                <a:tc>
                  <a:txBody>
                    <a:bodyPr/>
                    <a:lstStyle/>
                    <a:p>
                      <a:pPr>
                        <a:defRPr sz="1000" b="0">
                          <a:solidFill>
                            <a:srgbClr val="1E293B"/>
                          </a:solidFill>
                          <a:latin typeface="Segoe UI"/>
                        </a:defRPr>
                      </a:pPr>
                      <a:r>
                        <a:rPr sz="1200"/>
                        <a:t>Quản lý học viên &amp; CEFR</a:t>
                      </a:r>
                    </a:p>
                  </a:txBody>
                  <a:tcPr marT="36576" marB="36576">
                    <a:solidFill>
                      <a:srgbClr val="F0F7FF"/>
                    </a:solidFill>
                  </a:tcPr>
                </a:tc>
                <a:tc>
                  <a:txBody>
                    <a:bodyPr/>
                    <a:lstStyle/>
                    <a:p>
                      <a:pPr>
                        <a:defRPr sz="1000" b="0">
                          <a:solidFill>
                            <a:srgbClr val="1E293B"/>
                          </a:solidFill>
                          <a:latin typeface="Segoe UI"/>
                        </a:defRPr>
                      </a:pPr>
                      <a:r>
                        <a:rPr sz="1200"/>
                        <a:t>Quản lý, Tư vấn viên</a:t>
                      </a:r>
                    </a:p>
                  </a:txBody>
                  <a:tcPr marT="36576" marB="36576">
                    <a:solidFill>
                      <a:srgbClr val="F0F7FF"/>
                    </a:solidFill>
                  </a:tcPr>
                </a:tc>
                <a:extLst>
                  <a:ext uri="{0D108BD9-81ED-4DB2-BD59-A6C34878D82A}">
                    <a16:rowId xmlns:a16="http://schemas.microsoft.com/office/drawing/2014/main" val="10002"/>
                  </a:ext>
                </a:extLst>
              </a:tr>
              <a:tr h="294843">
                <a:tc>
                  <a:txBody>
                    <a:bodyPr/>
                    <a:lstStyle/>
                    <a:p>
                      <a:pPr>
                        <a:defRPr sz="1000" b="1">
                          <a:solidFill>
                            <a:srgbClr val="1E40AF"/>
                          </a:solidFill>
                          <a:latin typeface="Segoe UI"/>
                        </a:defRPr>
                      </a:pPr>
                      <a:r>
                        <a:rPr sz="1200"/>
                        <a:t>FR-003</a:t>
                      </a:r>
                    </a:p>
                  </a:txBody>
                  <a:tcPr marT="36576" marB="36576">
                    <a:solidFill>
                      <a:srgbClr val="FFFFFF"/>
                    </a:solidFill>
                  </a:tcPr>
                </a:tc>
                <a:tc>
                  <a:txBody>
                    <a:bodyPr/>
                    <a:lstStyle/>
                    <a:p>
                      <a:pPr>
                        <a:defRPr sz="1000" b="0">
                          <a:solidFill>
                            <a:srgbClr val="1E293B"/>
                          </a:solidFill>
                          <a:latin typeface="Segoe UI"/>
                        </a:defRPr>
                      </a:pPr>
                      <a:r>
                        <a:rPr sz="1200"/>
                        <a:t>Quản lý danh mục khóa học</a:t>
                      </a:r>
                    </a:p>
                  </a:txBody>
                  <a:tcPr marT="36576" marB="36576">
                    <a:solidFill>
                      <a:srgbClr val="FFFFFF"/>
                    </a:solidFill>
                  </a:tcPr>
                </a:tc>
                <a:tc>
                  <a:txBody>
                    <a:bodyPr/>
                    <a:lstStyle/>
                    <a:p>
                      <a:pPr>
                        <a:defRPr sz="1000" b="0">
                          <a:solidFill>
                            <a:srgbClr val="1E293B"/>
                          </a:solidFill>
                          <a:latin typeface="Segoe UI"/>
                        </a:defRPr>
                      </a:pPr>
                      <a:r>
                        <a:rPr sz="1200"/>
                        <a:t>Quản lý</a:t>
                      </a:r>
                    </a:p>
                  </a:txBody>
                  <a:tcPr marT="36576" marB="36576">
                    <a:solidFill>
                      <a:srgbClr val="FFFFFF"/>
                    </a:solidFill>
                  </a:tcPr>
                </a:tc>
                <a:extLst>
                  <a:ext uri="{0D108BD9-81ED-4DB2-BD59-A6C34878D82A}">
                    <a16:rowId xmlns:a16="http://schemas.microsoft.com/office/drawing/2014/main" val="10003"/>
                  </a:ext>
                </a:extLst>
              </a:tr>
              <a:tr h="294843">
                <a:tc>
                  <a:txBody>
                    <a:bodyPr/>
                    <a:lstStyle/>
                    <a:p>
                      <a:pPr>
                        <a:defRPr sz="1000" b="1">
                          <a:solidFill>
                            <a:srgbClr val="1E40AF"/>
                          </a:solidFill>
                          <a:latin typeface="Segoe UI"/>
                        </a:defRPr>
                      </a:pPr>
                      <a:r>
                        <a:rPr sz="1200"/>
                        <a:t>FR-004</a:t>
                      </a:r>
                    </a:p>
                  </a:txBody>
                  <a:tcPr marT="36576" marB="36576">
                    <a:solidFill>
                      <a:srgbClr val="F0F7FF"/>
                    </a:solidFill>
                  </a:tcPr>
                </a:tc>
                <a:tc>
                  <a:txBody>
                    <a:bodyPr/>
                    <a:lstStyle/>
                    <a:p>
                      <a:pPr>
                        <a:defRPr sz="1000" b="0">
                          <a:solidFill>
                            <a:srgbClr val="1E293B"/>
                          </a:solidFill>
                          <a:latin typeface="Segoe UI"/>
                        </a:defRPr>
                      </a:pPr>
                      <a:r>
                        <a:rPr sz="1200"/>
                        <a:t>Quản lý lớp học &amp; xếp lịch</a:t>
                      </a:r>
                    </a:p>
                  </a:txBody>
                  <a:tcPr marT="36576" marB="36576">
                    <a:solidFill>
                      <a:srgbClr val="F0F7FF"/>
                    </a:solidFill>
                  </a:tcPr>
                </a:tc>
                <a:tc>
                  <a:txBody>
                    <a:bodyPr/>
                    <a:lstStyle/>
                    <a:p>
                      <a:pPr>
                        <a:defRPr sz="1000" b="0">
                          <a:solidFill>
                            <a:srgbClr val="1E293B"/>
                          </a:solidFill>
                          <a:latin typeface="Segoe UI"/>
                        </a:defRPr>
                      </a:pPr>
                      <a:r>
                        <a:rPr sz="1200"/>
                        <a:t>Quản lý (Max 25 HV/lớp)</a:t>
                      </a:r>
                    </a:p>
                  </a:txBody>
                  <a:tcPr marT="36576" marB="36576">
                    <a:solidFill>
                      <a:srgbClr val="F0F7FF"/>
                    </a:solidFill>
                  </a:tcPr>
                </a:tc>
                <a:extLst>
                  <a:ext uri="{0D108BD9-81ED-4DB2-BD59-A6C34878D82A}">
                    <a16:rowId xmlns:a16="http://schemas.microsoft.com/office/drawing/2014/main" val="10004"/>
                  </a:ext>
                </a:extLst>
              </a:tr>
              <a:tr h="294843">
                <a:tc>
                  <a:txBody>
                    <a:bodyPr/>
                    <a:lstStyle/>
                    <a:p>
                      <a:pPr>
                        <a:defRPr sz="1000" b="1">
                          <a:solidFill>
                            <a:srgbClr val="1E40AF"/>
                          </a:solidFill>
                          <a:latin typeface="Segoe UI"/>
                        </a:defRPr>
                      </a:pPr>
                      <a:r>
                        <a:rPr sz="1200"/>
                        <a:t>FR-005</a:t>
                      </a:r>
                    </a:p>
                  </a:txBody>
                  <a:tcPr marT="36576" marB="36576">
                    <a:solidFill>
                      <a:srgbClr val="FFFFFF"/>
                    </a:solidFill>
                  </a:tcPr>
                </a:tc>
                <a:tc>
                  <a:txBody>
                    <a:bodyPr/>
                    <a:lstStyle/>
                    <a:p>
                      <a:pPr>
                        <a:defRPr sz="1000" b="0">
                          <a:solidFill>
                            <a:srgbClr val="1E293B"/>
                          </a:solidFill>
                          <a:latin typeface="Segoe UI"/>
                        </a:defRPr>
                      </a:pPr>
                      <a:r>
                        <a:rPr sz="1200"/>
                        <a:t>Quản lý giáo viên &amp; phân công</a:t>
                      </a:r>
                    </a:p>
                  </a:txBody>
                  <a:tcPr marT="36576" marB="36576">
                    <a:solidFill>
                      <a:srgbClr val="FFFFFF"/>
                    </a:solidFill>
                  </a:tcPr>
                </a:tc>
                <a:tc>
                  <a:txBody>
                    <a:bodyPr/>
                    <a:lstStyle/>
                    <a:p>
                      <a:pPr>
                        <a:defRPr sz="1000" b="0">
                          <a:solidFill>
                            <a:srgbClr val="1E293B"/>
                          </a:solidFill>
                          <a:latin typeface="Segoe UI"/>
                        </a:defRPr>
                      </a:pPr>
                      <a:r>
                        <a:rPr sz="1200"/>
                        <a:t>Quản lý, Giáo viên</a:t>
                      </a:r>
                    </a:p>
                  </a:txBody>
                  <a:tcPr marT="36576" marB="36576">
                    <a:solidFill>
                      <a:srgbClr val="FFFFFF"/>
                    </a:solidFill>
                  </a:tcPr>
                </a:tc>
                <a:extLst>
                  <a:ext uri="{0D108BD9-81ED-4DB2-BD59-A6C34878D82A}">
                    <a16:rowId xmlns:a16="http://schemas.microsoft.com/office/drawing/2014/main" val="10005"/>
                  </a:ext>
                </a:extLst>
              </a:tr>
              <a:tr h="294843">
                <a:tc>
                  <a:txBody>
                    <a:bodyPr/>
                    <a:lstStyle/>
                    <a:p>
                      <a:pPr>
                        <a:defRPr sz="1000" b="1">
                          <a:solidFill>
                            <a:srgbClr val="1E40AF"/>
                          </a:solidFill>
                          <a:latin typeface="Segoe UI"/>
                        </a:defRPr>
                      </a:pPr>
                      <a:r>
                        <a:rPr sz="1200"/>
                        <a:t>FR-006</a:t>
                      </a:r>
                    </a:p>
                  </a:txBody>
                  <a:tcPr marT="36576" marB="36576">
                    <a:solidFill>
                      <a:srgbClr val="F0F7FF"/>
                    </a:solidFill>
                  </a:tcPr>
                </a:tc>
                <a:tc>
                  <a:txBody>
                    <a:bodyPr/>
                    <a:lstStyle/>
                    <a:p>
                      <a:pPr>
                        <a:defRPr sz="1000" b="0">
                          <a:solidFill>
                            <a:srgbClr val="1E293B"/>
                          </a:solidFill>
                          <a:latin typeface="Segoe UI"/>
                        </a:defRPr>
                      </a:pPr>
                      <a:r>
                        <a:rPr sz="1200"/>
                        <a:t>Quản lý đăng ký lớp học</a:t>
                      </a:r>
                    </a:p>
                  </a:txBody>
                  <a:tcPr marT="36576" marB="36576">
                    <a:solidFill>
                      <a:srgbClr val="F0F7FF"/>
                    </a:solidFill>
                  </a:tcPr>
                </a:tc>
                <a:tc>
                  <a:txBody>
                    <a:bodyPr/>
                    <a:lstStyle/>
                    <a:p>
                      <a:pPr>
                        <a:defRPr sz="1000" b="0">
                          <a:solidFill>
                            <a:srgbClr val="1E293B"/>
                          </a:solidFill>
                          <a:latin typeface="Segoe UI"/>
                        </a:defRPr>
                      </a:pPr>
                      <a:r>
                        <a:rPr sz="1200"/>
                        <a:t>Học viên, Tư vấn viên</a:t>
                      </a:r>
                    </a:p>
                  </a:txBody>
                  <a:tcPr marT="36576" marB="36576">
                    <a:solidFill>
                      <a:srgbClr val="F0F7FF"/>
                    </a:solidFill>
                  </a:tcPr>
                </a:tc>
                <a:extLst>
                  <a:ext uri="{0D108BD9-81ED-4DB2-BD59-A6C34878D82A}">
                    <a16:rowId xmlns:a16="http://schemas.microsoft.com/office/drawing/2014/main" val="10006"/>
                  </a:ext>
                </a:extLst>
              </a:tr>
              <a:tr h="294843">
                <a:tc>
                  <a:txBody>
                    <a:bodyPr/>
                    <a:lstStyle/>
                    <a:p>
                      <a:pPr>
                        <a:defRPr sz="1000" b="1">
                          <a:solidFill>
                            <a:srgbClr val="1E40AF"/>
                          </a:solidFill>
                          <a:latin typeface="Segoe UI"/>
                        </a:defRPr>
                      </a:pPr>
                      <a:r>
                        <a:rPr sz="1200"/>
                        <a:t>FR-007</a:t>
                      </a:r>
                    </a:p>
                  </a:txBody>
                  <a:tcPr marT="36576" marB="36576">
                    <a:solidFill>
                      <a:srgbClr val="FFFFFF"/>
                    </a:solidFill>
                  </a:tcPr>
                </a:tc>
                <a:tc>
                  <a:txBody>
                    <a:bodyPr/>
                    <a:lstStyle/>
                    <a:p>
                      <a:pPr>
                        <a:defRPr sz="1000" b="0">
                          <a:solidFill>
                            <a:srgbClr val="1E293B"/>
                          </a:solidFill>
                          <a:latin typeface="Segoe UI"/>
                        </a:defRPr>
                      </a:pPr>
                      <a:r>
                        <a:rPr sz="1200"/>
                        <a:t>Quản lý học phí &amp; phiếu thu</a:t>
                      </a:r>
                    </a:p>
                  </a:txBody>
                  <a:tcPr marT="36576" marB="36576">
                    <a:solidFill>
                      <a:srgbClr val="FFFFFF"/>
                    </a:solidFill>
                  </a:tcPr>
                </a:tc>
                <a:tc>
                  <a:txBody>
                    <a:bodyPr/>
                    <a:lstStyle/>
                    <a:p>
                      <a:pPr>
                        <a:defRPr sz="1000" b="0">
                          <a:solidFill>
                            <a:srgbClr val="1E293B"/>
                          </a:solidFill>
                          <a:latin typeface="Segoe UI"/>
                        </a:defRPr>
                      </a:pPr>
                      <a:r>
                        <a:rPr sz="1200"/>
                        <a:t>Quản lý, TVV, Học viên</a:t>
                      </a:r>
                    </a:p>
                  </a:txBody>
                  <a:tcPr marT="36576" marB="36576">
                    <a:solidFill>
                      <a:srgbClr val="FFFFFF"/>
                    </a:solidFill>
                  </a:tcPr>
                </a:tc>
                <a:extLst>
                  <a:ext uri="{0D108BD9-81ED-4DB2-BD59-A6C34878D82A}">
                    <a16:rowId xmlns:a16="http://schemas.microsoft.com/office/drawing/2014/main" val="10007"/>
                  </a:ext>
                </a:extLst>
              </a:tr>
              <a:tr h="294843">
                <a:tc>
                  <a:txBody>
                    <a:bodyPr/>
                    <a:lstStyle/>
                    <a:p>
                      <a:pPr>
                        <a:defRPr sz="1000" b="1">
                          <a:solidFill>
                            <a:srgbClr val="1E40AF"/>
                          </a:solidFill>
                          <a:latin typeface="Segoe UI"/>
                        </a:defRPr>
                      </a:pPr>
                      <a:r>
                        <a:rPr sz="1200"/>
                        <a:t>FR-008</a:t>
                      </a:r>
                    </a:p>
                  </a:txBody>
                  <a:tcPr marT="36576" marB="36576">
                    <a:solidFill>
                      <a:srgbClr val="F0F7FF"/>
                    </a:solidFill>
                  </a:tcPr>
                </a:tc>
                <a:tc>
                  <a:txBody>
                    <a:bodyPr/>
                    <a:lstStyle/>
                    <a:p>
                      <a:pPr>
                        <a:defRPr sz="1000" b="0">
                          <a:solidFill>
                            <a:srgbClr val="1E293B"/>
                          </a:solidFill>
                          <a:latin typeface="Segoe UI"/>
                        </a:defRPr>
                      </a:pPr>
                      <a:r>
                        <a:rPr sz="1200"/>
                        <a:t>Điểm danh buổi học (4 trạng thái)</a:t>
                      </a:r>
                    </a:p>
                  </a:txBody>
                  <a:tcPr marT="36576" marB="36576">
                    <a:solidFill>
                      <a:srgbClr val="F0F7FF"/>
                    </a:solidFill>
                  </a:tcPr>
                </a:tc>
                <a:tc>
                  <a:txBody>
                    <a:bodyPr/>
                    <a:lstStyle/>
                    <a:p>
                      <a:pPr>
                        <a:defRPr sz="1000" b="0">
                          <a:solidFill>
                            <a:srgbClr val="1E293B"/>
                          </a:solidFill>
                          <a:latin typeface="Segoe UI"/>
                        </a:defRPr>
                      </a:pPr>
                      <a:r>
                        <a:rPr sz="1200"/>
                        <a:t>Giáo viên</a:t>
                      </a:r>
                    </a:p>
                  </a:txBody>
                  <a:tcPr marT="36576" marB="36576">
                    <a:solidFill>
                      <a:srgbClr val="F0F7FF"/>
                    </a:solidFill>
                  </a:tcPr>
                </a:tc>
                <a:extLst>
                  <a:ext uri="{0D108BD9-81ED-4DB2-BD59-A6C34878D82A}">
                    <a16:rowId xmlns:a16="http://schemas.microsoft.com/office/drawing/2014/main" val="10008"/>
                  </a:ext>
                </a:extLst>
              </a:tr>
              <a:tr h="294843">
                <a:tc>
                  <a:txBody>
                    <a:bodyPr/>
                    <a:lstStyle/>
                    <a:p>
                      <a:pPr>
                        <a:defRPr sz="1000" b="1">
                          <a:solidFill>
                            <a:srgbClr val="1E40AF"/>
                          </a:solidFill>
                          <a:latin typeface="Segoe UI"/>
                        </a:defRPr>
                      </a:pPr>
                      <a:r>
                        <a:rPr sz="1200"/>
                        <a:t>FR-009</a:t>
                      </a:r>
                    </a:p>
                  </a:txBody>
                  <a:tcPr marT="36576" marB="36576">
                    <a:solidFill>
                      <a:srgbClr val="FFFFFF"/>
                    </a:solidFill>
                  </a:tcPr>
                </a:tc>
                <a:tc>
                  <a:txBody>
                    <a:bodyPr/>
                    <a:lstStyle/>
                    <a:p>
                      <a:pPr>
                        <a:defRPr sz="1000" b="0">
                          <a:solidFill>
                            <a:srgbClr val="1E293B"/>
                          </a:solidFill>
                          <a:latin typeface="Segoe UI"/>
                        </a:defRPr>
                      </a:pPr>
                      <a:r>
                        <a:rPr sz="1200"/>
                        <a:t>Ghi nhận điểm &amp; xếp loại</a:t>
                      </a:r>
                    </a:p>
                  </a:txBody>
                  <a:tcPr marT="36576" marB="36576">
                    <a:solidFill>
                      <a:srgbClr val="FFFFFF"/>
                    </a:solidFill>
                  </a:tcPr>
                </a:tc>
                <a:tc>
                  <a:txBody>
                    <a:bodyPr/>
                    <a:lstStyle/>
                    <a:p>
                      <a:pPr>
                        <a:defRPr sz="1000" b="0">
                          <a:solidFill>
                            <a:srgbClr val="1E293B"/>
                          </a:solidFill>
                          <a:latin typeface="Segoe UI"/>
                        </a:defRPr>
                      </a:pPr>
                      <a:r>
                        <a:rPr sz="1200"/>
                        <a:t>Giáo viên (Công thức 20/30/50)</a:t>
                      </a:r>
                    </a:p>
                  </a:txBody>
                  <a:tcPr marT="36576" marB="36576">
                    <a:solidFill>
                      <a:srgbClr val="FFFFFF"/>
                    </a:solidFill>
                  </a:tcPr>
                </a:tc>
                <a:extLst>
                  <a:ext uri="{0D108BD9-81ED-4DB2-BD59-A6C34878D82A}">
                    <a16:rowId xmlns:a16="http://schemas.microsoft.com/office/drawing/2014/main" val="10009"/>
                  </a:ext>
                </a:extLst>
              </a:tr>
              <a:tr h="294843">
                <a:tc>
                  <a:txBody>
                    <a:bodyPr/>
                    <a:lstStyle/>
                    <a:p>
                      <a:pPr>
                        <a:defRPr sz="1000" b="1">
                          <a:solidFill>
                            <a:srgbClr val="1E40AF"/>
                          </a:solidFill>
                          <a:latin typeface="Segoe UI"/>
                        </a:defRPr>
                      </a:pPr>
                      <a:r>
                        <a:rPr sz="1200"/>
                        <a:t>FR-010</a:t>
                      </a:r>
                    </a:p>
                  </a:txBody>
                  <a:tcPr marT="36576" marB="36576">
                    <a:solidFill>
                      <a:srgbClr val="F0F7FF"/>
                    </a:solidFill>
                  </a:tcPr>
                </a:tc>
                <a:tc>
                  <a:txBody>
                    <a:bodyPr/>
                    <a:lstStyle/>
                    <a:p>
                      <a:pPr>
                        <a:defRPr sz="1000" b="0">
                          <a:solidFill>
                            <a:srgbClr val="1E293B"/>
                          </a:solidFill>
                          <a:latin typeface="Segoe UI"/>
                        </a:defRPr>
                      </a:pPr>
                      <a:r>
                        <a:rPr sz="1200"/>
                        <a:t>Tra cứu thời khóa biểu &amp; điểm</a:t>
                      </a:r>
                    </a:p>
                  </a:txBody>
                  <a:tcPr marT="36576" marB="36576">
                    <a:solidFill>
                      <a:srgbClr val="F0F7FF"/>
                    </a:solidFill>
                  </a:tcPr>
                </a:tc>
                <a:tc>
                  <a:txBody>
                    <a:bodyPr/>
                    <a:lstStyle/>
                    <a:p>
                      <a:pPr>
                        <a:defRPr sz="1000" b="0">
                          <a:solidFill>
                            <a:srgbClr val="1E293B"/>
                          </a:solidFill>
                          <a:latin typeface="Segoe UI"/>
                        </a:defRPr>
                      </a:pPr>
                      <a:r>
                        <a:rPr sz="1200"/>
                        <a:t>Cả 4 vai trò người dùng</a:t>
                      </a:r>
                    </a:p>
                  </a:txBody>
                  <a:tcPr marT="36576" marB="36576">
                    <a:solidFill>
                      <a:srgbClr val="F0F7FF"/>
                    </a:solidFill>
                  </a:tcPr>
                </a:tc>
                <a:extLst>
                  <a:ext uri="{0D108BD9-81ED-4DB2-BD59-A6C34878D82A}">
                    <a16:rowId xmlns:a16="http://schemas.microsoft.com/office/drawing/2014/main" val="10010"/>
                  </a:ext>
                </a:extLst>
              </a:tr>
              <a:tr h="294843">
                <a:tc>
                  <a:txBody>
                    <a:bodyPr/>
                    <a:lstStyle/>
                    <a:p>
                      <a:pPr>
                        <a:defRPr sz="1000" b="1">
                          <a:solidFill>
                            <a:srgbClr val="1E40AF"/>
                          </a:solidFill>
                          <a:latin typeface="Segoe UI"/>
                        </a:defRPr>
                      </a:pPr>
                      <a:r>
                        <a:rPr sz="1200"/>
                        <a:t>FR-011</a:t>
                      </a:r>
                    </a:p>
                  </a:txBody>
                  <a:tcPr marT="36576" marB="36576">
                    <a:solidFill>
                      <a:srgbClr val="FFFFFF"/>
                    </a:solidFill>
                  </a:tcPr>
                </a:tc>
                <a:tc>
                  <a:txBody>
                    <a:bodyPr/>
                    <a:lstStyle/>
                    <a:p>
                      <a:pPr>
                        <a:defRPr sz="1000" b="0">
                          <a:solidFill>
                            <a:srgbClr val="1E293B"/>
                          </a:solidFill>
                          <a:latin typeface="Segoe UI"/>
                        </a:defRPr>
                      </a:pPr>
                      <a:r>
                        <a:rPr sz="1200"/>
                        <a:t>Báo cáo thống kê trung tâm</a:t>
                      </a:r>
                    </a:p>
                  </a:txBody>
                  <a:tcPr marT="36576" marB="36576">
                    <a:solidFill>
                      <a:srgbClr val="FFFFFF"/>
                    </a:solidFill>
                  </a:tcPr>
                </a:tc>
                <a:tc>
                  <a:txBody>
                    <a:bodyPr/>
                    <a:lstStyle/>
                    <a:p>
                      <a:pPr>
                        <a:defRPr sz="1000" b="0">
                          <a:solidFill>
                            <a:srgbClr val="1E293B"/>
                          </a:solidFill>
                          <a:latin typeface="Segoe UI"/>
                        </a:defRPr>
                      </a:pPr>
                      <a:r>
                        <a:rPr sz="1200"/>
                        <a:t>Quản lý (Doanh thu, sĩ số)</a:t>
                      </a:r>
                    </a:p>
                  </a:txBody>
                  <a:tcPr marT="36576" marB="36576">
                    <a:solidFill>
                      <a:srgbClr val="FFFFFF"/>
                    </a:solidFill>
                  </a:tcPr>
                </a:tc>
                <a:extLst>
                  <a:ext uri="{0D108BD9-81ED-4DB2-BD59-A6C34878D82A}">
                    <a16:rowId xmlns:a16="http://schemas.microsoft.com/office/drawing/2014/main" val="10011"/>
                  </a:ext>
                </a:extLst>
              </a:tr>
              <a:tr h="294843">
                <a:tc>
                  <a:txBody>
                    <a:bodyPr/>
                    <a:lstStyle/>
                    <a:p>
                      <a:pPr>
                        <a:defRPr sz="1000" b="1">
                          <a:solidFill>
                            <a:srgbClr val="3730A3"/>
                          </a:solidFill>
                          <a:latin typeface="Segoe UI"/>
                        </a:defRPr>
                      </a:pPr>
                      <a:r>
                        <a:rPr sz="1200"/>
                        <a:t>FR-AI-01</a:t>
                      </a:r>
                    </a:p>
                  </a:txBody>
                  <a:tcPr marT="36576" marB="36576">
                    <a:solidFill>
                      <a:srgbClr val="E0E7FF"/>
                    </a:solidFill>
                  </a:tcPr>
                </a:tc>
                <a:tc>
                  <a:txBody>
                    <a:bodyPr/>
                    <a:lstStyle/>
                    <a:p>
                      <a:pPr>
                        <a:defRPr sz="1000" b="1">
                          <a:solidFill>
                            <a:srgbClr val="3730A3"/>
                          </a:solidFill>
                          <a:latin typeface="Segoe UI"/>
                        </a:defRPr>
                      </a:pPr>
                      <a:r>
                        <a:rPr sz="1200"/>
                        <a:t>★ AI tư vấn lớp học phù hợp</a:t>
                      </a:r>
                    </a:p>
                  </a:txBody>
                  <a:tcPr marT="36576" marB="36576">
                    <a:solidFill>
                      <a:srgbClr val="E0E7FF"/>
                    </a:solidFill>
                  </a:tcPr>
                </a:tc>
                <a:tc>
                  <a:txBody>
                    <a:bodyPr/>
                    <a:lstStyle/>
                    <a:p>
                      <a:pPr>
                        <a:defRPr sz="1000" b="1">
                          <a:solidFill>
                            <a:srgbClr val="3730A3"/>
                          </a:solidFill>
                          <a:latin typeface="Segoe UI"/>
                        </a:defRPr>
                      </a:pPr>
                      <a:r>
                        <a:rPr sz="1200"/>
                        <a:t>Tư vấn viên, Học viên</a:t>
                      </a:r>
                    </a:p>
                  </a:txBody>
                  <a:tcPr marT="36576" marB="36576">
                    <a:solidFill>
                      <a:srgbClr val="E0E7FF"/>
                    </a:solidFill>
                  </a:tcPr>
                </a:tc>
                <a:extLst>
                  <a:ext uri="{0D108BD9-81ED-4DB2-BD59-A6C34878D82A}">
                    <a16:rowId xmlns:a16="http://schemas.microsoft.com/office/drawing/2014/main" val="10012"/>
                  </a:ext>
                </a:extLst>
              </a:tr>
              <a:tr h="294843">
                <a:tc>
                  <a:txBody>
                    <a:bodyPr/>
                    <a:lstStyle/>
                    <a:p>
                      <a:pPr>
                        <a:defRPr sz="1000" b="1">
                          <a:solidFill>
                            <a:srgbClr val="3730A3"/>
                          </a:solidFill>
                          <a:latin typeface="Segoe UI"/>
                        </a:defRPr>
                      </a:pPr>
                      <a:r>
                        <a:rPr sz="1200"/>
                        <a:t>FR-AI-02</a:t>
                      </a:r>
                    </a:p>
                  </a:txBody>
                  <a:tcPr marT="36576" marB="36576">
                    <a:solidFill>
                      <a:srgbClr val="E0E7FF"/>
                    </a:solidFill>
                  </a:tcPr>
                </a:tc>
                <a:tc>
                  <a:txBody>
                    <a:bodyPr/>
                    <a:lstStyle/>
                    <a:p>
                      <a:pPr>
                        <a:defRPr sz="1000" b="1">
                          <a:solidFill>
                            <a:srgbClr val="3730A3"/>
                          </a:solidFill>
                          <a:latin typeface="Segoe UI"/>
                        </a:defRPr>
                      </a:pPr>
                      <a:r>
                        <a:rPr sz="1200"/>
                        <a:t>★ AI sinh bài trắc nghiệm bổ trợ</a:t>
                      </a:r>
                    </a:p>
                  </a:txBody>
                  <a:tcPr marT="36576" marB="36576">
                    <a:solidFill>
                      <a:srgbClr val="E0E7FF"/>
                    </a:solidFill>
                  </a:tcPr>
                </a:tc>
                <a:tc>
                  <a:txBody>
                    <a:bodyPr/>
                    <a:lstStyle/>
                    <a:p>
                      <a:pPr>
                        <a:defRPr sz="1000" b="1">
                          <a:solidFill>
                            <a:srgbClr val="3730A3"/>
                          </a:solidFill>
                          <a:latin typeface="Segoe UI"/>
                        </a:defRPr>
                      </a:pPr>
                      <a:r>
                        <a:rPr sz="1200"/>
                        <a:t>Giáo viên, Học viên</a:t>
                      </a:r>
                    </a:p>
                  </a:txBody>
                  <a:tcPr marT="36576" marB="36576">
                    <a:solidFill>
                      <a:srgbClr val="E0E7FF"/>
                    </a:solidFill>
                  </a:tcPr>
                </a:tc>
                <a:extLst>
                  <a:ext uri="{0D108BD9-81ED-4DB2-BD59-A6C34878D82A}">
                    <a16:rowId xmlns:a16="http://schemas.microsoft.com/office/drawing/2014/main" val="10013"/>
                  </a:ext>
                </a:extLst>
              </a:tr>
              <a:tr h="294843">
                <a:tc>
                  <a:txBody>
                    <a:bodyPr/>
                    <a:lstStyle/>
                    <a:p>
                      <a:pPr>
                        <a:defRPr sz="1000" b="1">
                          <a:solidFill>
                            <a:srgbClr val="3730A3"/>
                          </a:solidFill>
                          <a:latin typeface="Segoe UI"/>
                        </a:defRPr>
                      </a:pPr>
                      <a:r>
                        <a:rPr sz="1200"/>
                        <a:t>FR-AI-03</a:t>
                      </a:r>
                    </a:p>
                  </a:txBody>
                  <a:tcPr marT="36576" marB="36576">
                    <a:solidFill>
                      <a:srgbClr val="E0E7FF"/>
                    </a:solidFill>
                  </a:tcPr>
                </a:tc>
                <a:tc>
                  <a:txBody>
                    <a:bodyPr/>
                    <a:lstStyle/>
                    <a:p>
                      <a:pPr>
                        <a:defRPr sz="1000" b="1">
                          <a:solidFill>
                            <a:srgbClr val="3730A3"/>
                          </a:solidFill>
                          <a:latin typeface="Segoe UI"/>
                        </a:defRPr>
                      </a:pPr>
                      <a:r>
                        <a:rPr sz="1200"/>
                        <a:t>★ AI tóm tắt tiến độ học tập</a:t>
                      </a:r>
                    </a:p>
                  </a:txBody>
                  <a:tcPr marT="36576" marB="36576">
                    <a:solidFill>
                      <a:srgbClr val="E0E7FF"/>
                    </a:solidFill>
                  </a:tcPr>
                </a:tc>
                <a:tc>
                  <a:txBody>
                    <a:bodyPr/>
                    <a:lstStyle/>
                    <a:p>
                      <a:pPr>
                        <a:defRPr sz="1000" b="1">
                          <a:solidFill>
                            <a:srgbClr val="3730A3"/>
                          </a:solidFill>
                          <a:latin typeface="Segoe UI"/>
                        </a:defRPr>
                      </a:pPr>
                      <a:r>
                        <a:rPr sz="1200"/>
                        <a:t>Học viên, Quản lý</a:t>
                      </a:r>
                    </a:p>
                  </a:txBody>
                  <a:tcPr marT="36576" marB="36576">
                    <a:solidFill>
                      <a:srgbClr val="E0E7FF"/>
                    </a:solidFill>
                  </a:tcPr>
                </a:tc>
                <a:extLst>
                  <a:ext uri="{0D108BD9-81ED-4DB2-BD59-A6C34878D82A}">
                    <a16:rowId xmlns:a16="http://schemas.microsoft.com/office/drawing/2014/main" val="10014"/>
                  </a:ext>
                </a:extLst>
              </a:tr>
            </a:tbl>
          </a:graphicData>
        </a:graphic>
      </p:graphicFrame>
      <p:sp>
        <p:nvSpPr>
          <p:cNvPr id="12" name="Rounded Rectangle 11"/>
          <p:cNvSpPr/>
          <p:nvPr/>
        </p:nvSpPr>
        <p:spPr>
          <a:xfrm>
            <a:off x="7818120" y="1691640"/>
            <a:ext cx="3639312" cy="4526280"/>
          </a:xfrm>
          <a:prstGeom prst="roundRect">
            <a:avLst/>
          </a:prstGeom>
          <a:solidFill>
            <a:srgbClr val="FFFF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wrap="square" lIns="182880" tIns="164592" rIns="182880" rtlCol="0" anchor="t"/>
          <a:lstStyle/>
          <a:p>
            <a:pPr algn="ctr">
              <a:defRPr sz="1400" b="1">
                <a:solidFill>
                  <a:srgbClr val="1E40AF"/>
                </a:solidFill>
              </a:defRPr>
            </a:pPr>
            <a:r>
              <a:t>TIÊU CHUẨN PHI CHỨC NĂNG (NFR)</a:t>
            </a:r>
          </a:p>
          <a:p>
            <a:pPr>
              <a:spcBef>
                <a:spcPts val="800"/>
              </a:spcBef>
              <a:defRPr sz="1100" b="1">
                <a:solidFill>
                  <a:srgbClr val="1E40AF"/>
                </a:solidFill>
              </a:defRPr>
            </a:pPr>
            <a:r>
              <a:rPr sz="1200"/>
              <a:t>► NFR-001: Bảo mật &amp; Mật khẩu</a:t>
            </a:r>
          </a:p>
          <a:p>
            <a:pPr>
              <a:spcBef>
                <a:spcPts val="200"/>
              </a:spcBef>
              <a:defRPr sz="1000">
                <a:solidFill>
                  <a:srgbClr val="1E293B"/>
                </a:solidFill>
              </a:defRPr>
            </a:pPr>
            <a:r>
              <a:rPr sz="1200"/>
              <a:t>Băm mật khẩu 1 chiều bằng Argon2/Bcrypt; phiên làm việc xác thực bảo mật JWT Token vô trạng thái.</a:t>
            </a:r>
          </a:p>
          <a:p>
            <a:pPr>
              <a:spcBef>
                <a:spcPts val="800"/>
              </a:spcBef>
              <a:defRPr sz="1100" b="1">
                <a:solidFill>
                  <a:srgbClr val="0284C7"/>
                </a:solidFill>
              </a:defRPr>
            </a:pPr>
            <a:r>
              <a:rPr sz="1200"/>
              <a:t>► NFR-002: Toàn vẹn giao dịch ACID</a:t>
            </a:r>
          </a:p>
          <a:p>
            <a:pPr>
              <a:spcBef>
                <a:spcPts val="200"/>
              </a:spcBef>
              <a:defRPr sz="1000">
                <a:solidFill>
                  <a:srgbClr val="1E293B"/>
                </a:solidFill>
              </a:defRPr>
            </a:pPr>
            <a:r>
              <a:rPr sz="1200"/>
              <a:t>Ghi danh lớp học, tạo hóa đơn, trừ chỗ trống được đóng gói trong Transaction khép kín (All-or-Nothing).</a:t>
            </a:r>
          </a:p>
          <a:p>
            <a:pPr>
              <a:spcBef>
                <a:spcPts val="800"/>
              </a:spcBef>
              <a:defRPr sz="1100" b="1">
                <a:solidFill>
                  <a:srgbClr val="3730A3"/>
                </a:solidFill>
              </a:defRPr>
            </a:pPr>
            <a:r>
              <a:rPr sz="1200"/>
              <a:t>► NFR-003: An toàn AI &amp; Lọc Ảo Giác</a:t>
            </a:r>
          </a:p>
          <a:p>
            <a:pPr>
              <a:spcBef>
                <a:spcPts val="200"/>
              </a:spcBef>
              <a:defRPr sz="1000">
                <a:solidFill>
                  <a:srgbClr val="1E293B"/>
                </a:solidFill>
              </a:defRPr>
            </a:pPr>
            <a:r>
              <a:rPr sz="1200"/>
              <a:t>Cơ chế Zero-Trust: Chỉ gợi ý lớp có thật trong CSDL; Timeout 10-15s tự động chuyển chế độ Fallback.</a:t>
            </a:r>
          </a:p>
          <a:p>
            <a:pPr>
              <a:spcBef>
                <a:spcPts val="800"/>
              </a:spcBef>
              <a:defRPr sz="1100" b="1">
                <a:solidFill>
                  <a:srgbClr val="047857"/>
                </a:solidFill>
              </a:defRPr>
            </a:pPr>
            <a:r>
              <a:rPr sz="1200"/>
              <a:t>► NFR-006: Hiệu năng &amp; Tốc độ</a:t>
            </a:r>
          </a:p>
          <a:p>
            <a:pPr>
              <a:spcBef>
                <a:spcPts val="200"/>
              </a:spcBef>
              <a:defRPr sz="1000">
                <a:solidFill>
                  <a:srgbClr val="1E293B"/>
                </a:solidFill>
              </a:defRPr>
            </a:pPr>
            <a:r>
              <a:rPr sz="1200"/>
              <a:t>Thời gian phản hồi nghiệp vụ CRUD CSDL &lt; 3 giây; thời gian xử lý AI Flash-Lite trung bình &lt; 0.5s - 1.5s.</a:t>
            </a:r>
          </a:p>
        </p:txBody>
      </p:sp>
      <p:sp>
        <p:nvSpPr>
          <p:cNvPr id="13" name="Rectangle 12"/>
          <p:cNvSpPr/>
          <p:nvPr/>
        </p:nvSpPr>
        <p:spPr>
          <a:xfrm>
            <a:off x="7818120" y="1691640"/>
            <a:ext cx="3639312"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3">
            <a:extLst>
              <a:ext uri="{FF2B5EF4-FFF2-40B4-BE49-F238E27FC236}">
                <a16:creationId xmlns:a16="http://schemas.microsoft.com/office/drawing/2014/main" id="{84D23B04-BB7C-9030-DBF5-B45E058D645D}"/>
              </a:ext>
            </a:extLst>
          </p:cNvPr>
          <p:cNvSpPr/>
          <p:nvPr/>
        </p:nvSpPr>
        <p:spPr>
          <a:xfrm>
            <a:off x="0" y="73152"/>
            <a:ext cx="3634740" cy="310896"/>
          </a:xfrm>
          <a:prstGeom prst="roundRect">
            <a:avLst/>
          </a:prstGeom>
          <a:solidFill>
            <a:srgbClr val="EFF6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1000" b="1">
                <a:solidFill>
                  <a:srgbClr val="1E40AF"/>
                </a:solidFill>
              </a:defRPr>
            </a:pPr>
            <a:r>
              <a:t>CHƯƠNG </a:t>
            </a:r>
            <a:r>
              <a:rPr lang="en-US"/>
              <a:t>1</a:t>
            </a:r>
            <a:r>
              <a:t>: </a:t>
            </a:r>
            <a:r>
              <a:rPr lang="en-US"/>
              <a:t>Khảo sát &amp; Yêu cầu</a:t>
            </a:r>
            <a:endParaRPr/>
          </a:p>
        </p:txBody>
      </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1+#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0-#ppt_w/2"/>
                                          </p:val>
                                        </p:tav>
                                        <p:tav tm="100000">
                                          <p:val>
                                            <p:strVal val="#ppt_x"/>
                                          </p:val>
                                        </p:tav>
                                      </p:tavLst>
                                    </p:anim>
                                    <p:anim calcmode="lin" valueType="num">
                                      <p:cBhvr additive="base">
                                        <p:cTn id="12" dur="500" fill="hold"/>
                                        <p:tgtEl>
                                          <p:spTgt spid="12"/>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2"/>
                                        </p:tgtEl>
                                        <p:attrNameLst>
                                          <p:attrName>style.visibility</p:attrName>
                                        </p:attrNameLst>
                                      </p:cBhvr>
                                      <p:to>
                                        <p:strVal val="visible"/>
                                      </p:to>
                                    </p:set>
                                    <p:anim calcmode="lin" valueType="num">
                                      <p:cBhvr additive="base">
                                        <p:cTn id="15" dur="500" fill="hold"/>
                                        <p:tgtEl>
                                          <p:spTgt spid="2"/>
                                        </p:tgtEl>
                                        <p:attrNameLst>
                                          <p:attrName>ppt_x</p:attrName>
                                        </p:attrNameLst>
                                      </p:cBhvr>
                                      <p:tavLst>
                                        <p:tav tm="0">
                                          <p:val>
                                            <p:strVal val="0-#ppt_w/2"/>
                                          </p:val>
                                        </p:tav>
                                        <p:tav tm="100000">
                                          <p:val>
                                            <p:strVal val="#ppt_x"/>
                                          </p:val>
                                        </p:tav>
                                      </p:tavLst>
                                    </p:anim>
                                    <p:anim calcmode="lin" valueType="num">
                                      <p:cBhvr additive="base">
                                        <p:cTn id="16" dur="500" fill="hold"/>
                                        <p:tgtEl>
                                          <p:spTgt spid="2"/>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0-#ppt_w/2"/>
                                          </p:val>
                                        </p:tav>
                                        <p:tav tm="100000">
                                          <p:val>
                                            <p:strVal val="#ppt_x"/>
                                          </p:val>
                                        </p:tav>
                                      </p:tavLst>
                                    </p:anim>
                                    <p:anim calcmode="lin" valueType="num">
                                      <p:cBhvr additive="base">
                                        <p:cTn id="20"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2" grpId="0" animBg="1"/>
      <p:bldP spid="1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516"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713232"/>
            <a:ext cx="10728655" cy="384721"/>
          </a:xfrm>
          <a:prstGeom prst="rect">
            <a:avLst/>
          </a:prstGeom>
          <a:noFill/>
        </p:spPr>
        <p:txBody>
          <a:bodyPr wrap="square" lIns="0" tIns="0" rIns="0" bIns="0" anchor="t">
            <a:spAutoFit/>
          </a:bodyPr>
          <a:lstStyle/>
          <a:p>
            <a:pPr>
              <a:defRPr sz="2500" b="1">
                <a:solidFill>
                  <a:srgbClr val="0F172A"/>
                </a:solidFill>
                <a:latin typeface="Segoe UI"/>
              </a:defRPr>
            </a:pPr>
            <a:r>
              <a:t>Sơ Đồ Phân Cấp Chức Năng Của Hệ Thống </a:t>
            </a:r>
          </a:p>
        </p:txBody>
      </p:sp>
      <p:sp>
        <p:nvSpPr>
          <p:cNvPr id="6" name="TextBox 5"/>
          <p:cNvSpPr txBox="1"/>
          <p:nvPr/>
        </p:nvSpPr>
        <p:spPr>
          <a:xfrm>
            <a:off x="731520" y="1261872"/>
            <a:ext cx="10728655" cy="215444"/>
          </a:xfrm>
          <a:prstGeom prst="rect">
            <a:avLst/>
          </a:prstGeom>
          <a:noFill/>
        </p:spPr>
        <p:txBody>
          <a:bodyPr wrap="square" lIns="0" tIns="0" rIns="0" bIns="0" anchor="t">
            <a:spAutoFit/>
          </a:bodyPr>
          <a:lstStyle/>
          <a:p>
            <a:pPr>
              <a:defRPr sz="1300">
                <a:solidFill>
                  <a:srgbClr val="475569"/>
                </a:solidFill>
                <a:latin typeface="Segoe UI"/>
              </a:defRPr>
            </a:pPr>
            <a:r>
              <a:rPr sz="1400"/>
              <a:t>Phân rã toàn diện hệ thống ETC English thành 5 phân hệ nghiệp vụ cốt lõi</a:t>
            </a:r>
          </a:p>
        </p:txBody>
      </p:sp>
      <p:sp>
        <p:nvSpPr>
          <p:cNvPr id="7" name="Rectangle 6"/>
          <p:cNvSpPr/>
          <p:nvPr/>
        </p:nvSpPr>
        <p:spPr>
          <a:xfrm>
            <a:off x="731520" y="6327648"/>
            <a:ext cx="10728655" cy="1524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6382512"/>
            <a:ext cx="65" cy="323165"/>
          </a:xfrm>
          <a:prstGeom prst="rect">
            <a:avLst/>
          </a:prstGeom>
          <a:noFill/>
        </p:spPr>
        <p:txBody>
          <a:bodyPr wrap="none" lIns="0" tIns="0" rIns="0" bIns="0">
            <a:spAutoFit/>
          </a:bodyPr>
          <a:lstStyle/>
          <a:p>
            <a:pPr>
              <a:defRPr sz="1050" b="1">
                <a:solidFill>
                  <a:srgbClr val="1E40AF"/>
                </a:solidFill>
              </a:defRPr>
            </a:pPr>
            <a:endParaRPr lang="en-US"/>
          </a:p>
          <a:p>
            <a:pPr>
              <a:defRPr sz="1050" b="1">
                <a:solidFill>
                  <a:srgbClr val="1E40AF"/>
                </a:solidFill>
              </a:defRPr>
            </a:pPr>
            <a:endParaRPr lang="en-US"/>
          </a:p>
        </p:txBody>
      </p:sp>
      <p:sp>
        <p:nvSpPr>
          <p:cNvPr id="10" name="Rounded Rectangle 9"/>
          <p:cNvSpPr/>
          <p:nvPr/>
        </p:nvSpPr>
        <p:spPr>
          <a:xfrm>
            <a:off x="731520" y="1691640"/>
            <a:ext cx="2039112" cy="841248"/>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wrap="square" lIns="109728" tIns="0" rIns="109728" bIns="0" rtlCol="0" anchor="ctr"/>
          <a:lstStyle/>
          <a:p>
            <a:pPr algn="ctr">
              <a:defRPr sz="1000" b="1">
                <a:solidFill>
                  <a:srgbClr val="38BDF8"/>
                </a:solidFill>
              </a:defRPr>
            </a:pPr>
            <a:r>
              <a:t>PHÂN HỆ 1</a:t>
            </a:r>
          </a:p>
          <a:p>
            <a:pPr algn="ctr">
              <a:spcBef>
                <a:spcPts val="300"/>
              </a:spcBef>
              <a:defRPr sz="1300" b="1">
                <a:solidFill>
                  <a:srgbClr val="FFFFFF"/>
                </a:solidFill>
              </a:defRPr>
            </a:pPr>
            <a:r>
              <a:t>Xác Thực &amp; Hồ Sơ</a:t>
            </a:r>
          </a:p>
        </p:txBody>
      </p:sp>
      <p:sp>
        <p:nvSpPr>
          <p:cNvPr id="11" name="Rounded Rectangle 10"/>
          <p:cNvSpPr/>
          <p:nvPr/>
        </p:nvSpPr>
        <p:spPr>
          <a:xfrm>
            <a:off x="731520" y="2578608"/>
            <a:ext cx="2039112" cy="3639312"/>
          </a:xfrm>
          <a:prstGeom prst="roundRect">
            <a:avLst/>
          </a:prstGeom>
          <a:solidFill>
            <a:srgbClr val="FFFF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wrap="square" lIns="146304" tIns="228600" rIns="146304" rtlCol="0" anchor="t"/>
          <a:lstStyle/>
          <a:p>
            <a:pPr marL="231775" indent="-231775">
              <a:defRPr sz="1200" b="0">
                <a:solidFill>
                  <a:srgbClr val="1E293B"/>
                </a:solidFill>
              </a:defRPr>
            </a:pPr>
            <a:r>
              <a:rPr sz="1400"/>
              <a:t>1.1 Đăng nhập JWT</a:t>
            </a:r>
            <a:endParaRPr lang="en-US" sz="1400"/>
          </a:p>
          <a:p>
            <a:pPr marL="231775" indent="-231775">
              <a:defRPr sz="1200" b="0">
                <a:solidFill>
                  <a:srgbClr val="1E293B"/>
                </a:solidFill>
              </a:defRPr>
            </a:pPr>
            <a:endParaRPr lang="en-US" sz="1400"/>
          </a:p>
          <a:p>
            <a:pPr>
              <a:defRPr sz="1200" b="0">
                <a:solidFill>
                  <a:srgbClr val="1E293B"/>
                </a:solidFill>
              </a:defRPr>
            </a:pPr>
            <a:r>
              <a:rPr sz="1400"/>
              <a:t>1.2 Đăng ký học viên</a:t>
            </a:r>
            <a:endParaRPr lang="en-US" sz="1400"/>
          </a:p>
          <a:p>
            <a:pPr>
              <a:defRPr sz="1200" b="0">
                <a:solidFill>
                  <a:srgbClr val="1E293B"/>
                </a:solidFill>
              </a:defRPr>
            </a:pPr>
            <a:endParaRPr lang="en-US" sz="1400"/>
          </a:p>
          <a:p>
            <a:pPr>
              <a:defRPr sz="1200" b="0">
                <a:solidFill>
                  <a:srgbClr val="1E293B"/>
                </a:solidFill>
              </a:defRPr>
            </a:pPr>
            <a:r>
              <a:rPr sz="1400"/>
              <a:t>1.3 Quản lý mật khẩu</a:t>
            </a:r>
            <a:endParaRPr lang="en-US" sz="1400"/>
          </a:p>
          <a:p>
            <a:pPr>
              <a:defRPr sz="1200" b="0">
                <a:solidFill>
                  <a:srgbClr val="1E293B"/>
                </a:solidFill>
              </a:defRPr>
            </a:pPr>
            <a:endParaRPr lang="en-US" sz="1400"/>
          </a:p>
          <a:p>
            <a:pPr>
              <a:defRPr sz="1200" b="0">
                <a:solidFill>
                  <a:srgbClr val="1E293B"/>
                </a:solidFill>
              </a:defRPr>
            </a:pPr>
            <a:r>
              <a:rPr sz="1400"/>
              <a:t>1.4 Cập nhật hồ sơ</a:t>
            </a:r>
          </a:p>
        </p:txBody>
      </p:sp>
      <p:sp>
        <p:nvSpPr>
          <p:cNvPr id="12" name="Rounded Rectangle 11"/>
          <p:cNvSpPr/>
          <p:nvPr/>
        </p:nvSpPr>
        <p:spPr>
          <a:xfrm>
            <a:off x="2898648" y="1691640"/>
            <a:ext cx="2039112" cy="84124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wrap="square" lIns="109728" tIns="0" rIns="109728" bIns="0" rtlCol="0" anchor="ctr"/>
          <a:lstStyle/>
          <a:p>
            <a:pPr algn="ctr">
              <a:defRPr sz="1000" b="1">
                <a:solidFill>
                  <a:srgbClr val="E0E7FF"/>
                </a:solidFill>
              </a:defRPr>
            </a:pPr>
            <a:r>
              <a:t>PHÂN HỆ 2</a:t>
            </a:r>
          </a:p>
          <a:p>
            <a:pPr algn="ctr">
              <a:spcBef>
                <a:spcPts val="300"/>
              </a:spcBef>
              <a:defRPr sz="1300" b="1">
                <a:solidFill>
                  <a:srgbClr val="FFFFFF"/>
                </a:solidFill>
              </a:defRPr>
            </a:pPr>
            <a:r>
              <a:t>Quản Lý Đào Tạo</a:t>
            </a:r>
          </a:p>
        </p:txBody>
      </p:sp>
      <p:sp>
        <p:nvSpPr>
          <p:cNvPr id="13" name="Rounded Rectangle 12"/>
          <p:cNvSpPr/>
          <p:nvPr/>
        </p:nvSpPr>
        <p:spPr>
          <a:xfrm>
            <a:off x="2898648" y="2578608"/>
            <a:ext cx="2039112" cy="3639312"/>
          </a:xfrm>
          <a:prstGeom prst="roundRect">
            <a:avLst/>
          </a:prstGeom>
          <a:solidFill>
            <a:srgbClr val="FFFF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wrap="square" lIns="146304" tIns="228600" rIns="146304" rtlCol="0" anchor="t"/>
          <a:lstStyle/>
          <a:p>
            <a:pPr>
              <a:defRPr sz="1200" b="0">
                <a:solidFill>
                  <a:srgbClr val="1E293B"/>
                </a:solidFill>
              </a:defRPr>
            </a:pPr>
            <a:r>
              <a:rPr sz="1400"/>
              <a:t>2.1 Khóa học &amp; CEFR</a:t>
            </a:r>
            <a:endParaRPr lang="en-US" sz="1400"/>
          </a:p>
          <a:p>
            <a:pPr>
              <a:defRPr sz="1200" b="0">
                <a:solidFill>
                  <a:srgbClr val="1E293B"/>
                </a:solidFill>
              </a:defRPr>
            </a:pPr>
            <a:endParaRPr lang="en-US" sz="1400"/>
          </a:p>
          <a:p>
            <a:pPr>
              <a:defRPr sz="1200" b="0">
                <a:solidFill>
                  <a:srgbClr val="1E293B"/>
                </a:solidFill>
              </a:defRPr>
            </a:pPr>
            <a:r>
              <a:rPr sz="1400"/>
              <a:t>2.2 Quản lý phòng học</a:t>
            </a:r>
            <a:endParaRPr lang="en-US" sz="1400"/>
          </a:p>
          <a:p>
            <a:pPr>
              <a:defRPr sz="1200" b="0">
                <a:solidFill>
                  <a:srgbClr val="1E293B"/>
                </a:solidFill>
              </a:defRPr>
            </a:pPr>
            <a:endParaRPr lang="en-US" sz="1400"/>
          </a:p>
          <a:p>
            <a:pPr>
              <a:defRPr sz="1200" b="0">
                <a:solidFill>
                  <a:srgbClr val="1E293B"/>
                </a:solidFill>
              </a:defRPr>
            </a:pPr>
            <a:r>
              <a:rPr sz="1400"/>
              <a:t>2.3 Mở lớp &amp; xếp lịch</a:t>
            </a:r>
            <a:endParaRPr lang="en-US" sz="1400"/>
          </a:p>
          <a:p>
            <a:pPr>
              <a:defRPr sz="1200" b="0">
                <a:solidFill>
                  <a:srgbClr val="1E293B"/>
                </a:solidFill>
              </a:defRPr>
            </a:pPr>
            <a:endParaRPr lang="en-US" sz="1400"/>
          </a:p>
          <a:p>
            <a:pPr>
              <a:defRPr sz="1200" b="0">
                <a:solidFill>
                  <a:srgbClr val="1E293B"/>
                </a:solidFill>
              </a:defRPr>
            </a:pPr>
            <a:r>
              <a:rPr sz="1400"/>
              <a:t>2.4 Phân công giáo viên</a:t>
            </a:r>
          </a:p>
        </p:txBody>
      </p:sp>
      <p:sp>
        <p:nvSpPr>
          <p:cNvPr id="14" name="Rounded Rectangle 13"/>
          <p:cNvSpPr/>
          <p:nvPr/>
        </p:nvSpPr>
        <p:spPr>
          <a:xfrm>
            <a:off x="5065776" y="1691640"/>
            <a:ext cx="2039112" cy="841248"/>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wrap="square" lIns="109728" tIns="0" rIns="109728" bIns="0" rtlCol="0" anchor="ctr"/>
          <a:lstStyle/>
          <a:p>
            <a:pPr algn="ctr">
              <a:defRPr sz="1000" b="1">
                <a:solidFill>
                  <a:srgbClr val="E0E7FF"/>
                </a:solidFill>
              </a:defRPr>
            </a:pPr>
            <a:r>
              <a:t>PHÂN HỆ 3</a:t>
            </a:r>
          </a:p>
          <a:p>
            <a:pPr algn="ctr">
              <a:spcBef>
                <a:spcPts val="300"/>
              </a:spcBef>
              <a:defRPr sz="1300" b="1">
                <a:solidFill>
                  <a:srgbClr val="FFFFFF"/>
                </a:solidFill>
              </a:defRPr>
            </a:pPr>
            <a:r>
              <a:t>Nghiệp Vụ Học Tập</a:t>
            </a:r>
          </a:p>
        </p:txBody>
      </p:sp>
      <p:sp>
        <p:nvSpPr>
          <p:cNvPr id="15" name="Rounded Rectangle 14"/>
          <p:cNvSpPr/>
          <p:nvPr/>
        </p:nvSpPr>
        <p:spPr>
          <a:xfrm>
            <a:off x="5065776" y="2578608"/>
            <a:ext cx="2039112" cy="3639312"/>
          </a:xfrm>
          <a:prstGeom prst="roundRect">
            <a:avLst/>
          </a:prstGeom>
          <a:solidFill>
            <a:srgbClr val="FFFF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wrap="square" lIns="146304" tIns="228600" rIns="146304" rtlCol="0" anchor="t"/>
          <a:lstStyle/>
          <a:p>
            <a:pPr>
              <a:defRPr sz="1200" b="0">
                <a:solidFill>
                  <a:srgbClr val="1E293B"/>
                </a:solidFill>
              </a:defRPr>
            </a:pPr>
            <a:r>
              <a:rPr sz="1400"/>
              <a:t>3.1 Đăng ký lớp học</a:t>
            </a:r>
            <a:endParaRPr lang="en-US" sz="1400"/>
          </a:p>
          <a:p>
            <a:pPr>
              <a:defRPr sz="1200" b="0">
                <a:solidFill>
                  <a:srgbClr val="1E293B"/>
                </a:solidFill>
              </a:defRPr>
            </a:pPr>
            <a:endParaRPr lang="en-US" sz="1400"/>
          </a:p>
          <a:p>
            <a:pPr>
              <a:defRPr sz="1200" b="0">
                <a:solidFill>
                  <a:srgbClr val="1E293B"/>
                </a:solidFill>
              </a:defRPr>
            </a:pPr>
            <a:r>
              <a:rPr sz="1400"/>
              <a:t>3.2 Thu phí &amp; Hóa đơn</a:t>
            </a:r>
            <a:endParaRPr lang="en-US" sz="1400"/>
          </a:p>
          <a:p>
            <a:pPr>
              <a:defRPr sz="1200" b="0">
                <a:solidFill>
                  <a:srgbClr val="1E293B"/>
                </a:solidFill>
              </a:defRPr>
            </a:pPr>
            <a:endParaRPr lang="en-US" sz="1400"/>
          </a:p>
          <a:p>
            <a:pPr>
              <a:defRPr sz="1200" b="0">
                <a:solidFill>
                  <a:srgbClr val="1E293B"/>
                </a:solidFill>
              </a:defRPr>
            </a:pPr>
            <a:r>
              <a:rPr sz="1400"/>
              <a:t>3.3 Điểm danh buổi học</a:t>
            </a:r>
            <a:endParaRPr lang="en-US" sz="1400"/>
          </a:p>
          <a:p>
            <a:pPr>
              <a:defRPr sz="1200" b="0">
                <a:solidFill>
                  <a:srgbClr val="1E293B"/>
                </a:solidFill>
              </a:defRPr>
            </a:pPr>
            <a:endParaRPr lang="en-US" sz="1400"/>
          </a:p>
          <a:p>
            <a:pPr>
              <a:defRPr sz="1200" b="0">
                <a:solidFill>
                  <a:srgbClr val="1E293B"/>
                </a:solidFill>
              </a:defRPr>
            </a:pPr>
            <a:r>
              <a:rPr lang="en-US" sz="1400"/>
              <a:t>3.4 Nhập điểm 20/30/50</a:t>
            </a:r>
          </a:p>
        </p:txBody>
      </p:sp>
      <p:sp>
        <p:nvSpPr>
          <p:cNvPr id="16" name="Rounded Rectangle 15"/>
          <p:cNvSpPr/>
          <p:nvPr/>
        </p:nvSpPr>
        <p:spPr>
          <a:xfrm>
            <a:off x="7232904" y="1691640"/>
            <a:ext cx="2039112" cy="841248"/>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wrap="square" lIns="109728" tIns="0" rIns="109728" bIns="0" rtlCol="0" anchor="ctr"/>
          <a:lstStyle/>
          <a:p>
            <a:pPr algn="ctr">
              <a:defRPr sz="1000" b="1">
                <a:solidFill>
                  <a:srgbClr val="E0E7FF"/>
                </a:solidFill>
              </a:defRPr>
            </a:pPr>
            <a:r>
              <a:t>PHÂN HỆ 4</a:t>
            </a:r>
          </a:p>
          <a:p>
            <a:pPr algn="ctr">
              <a:spcBef>
                <a:spcPts val="300"/>
              </a:spcBef>
              <a:defRPr sz="1300" b="1">
                <a:solidFill>
                  <a:srgbClr val="FFFFFF"/>
                </a:solidFill>
              </a:defRPr>
            </a:pPr>
            <a:r>
              <a:t>Báo Cáo &amp; Thống Kê</a:t>
            </a:r>
          </a:p>
        </p:txBody>
      </p:sp>
      <p:sp>
        <p:nvSpPr>
          <p:cNvPr id="17" name="Rounded Rectangle 16"/>
          <p:cNvSpPr/>
          <p:nvPr/>
        </p:nvSpPr>
        <p:spPr>
          <a:xfrm>
            <a:off x="7232904" y="2578608"/>
            <a:ext cx="2039112" cy="3639312"/>
          </a:xfrm>
          <a:prstGeom prst="roundRect">
            <a:avLst/>
          </a:prstGeom>
          <a:solidFill>
            <a:srgbClr val="FFFF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wrap="square" lIns="146304" tIns="228600" rIns="146304" rtlCol="0" anchor="t"/>
          <a:lstStyle/>
          <a:p>
            <a:pPr>
              <a:defRPr sz="1200" b="0">
                <a:solidFill>
                  <a:srgbClr val="1E293B"/>
                </a:solidFill>
              </a:defRPr>
            </a:pPr>
            <a:r>
              <a:rPr sz="1400"/>
              <a:t>4.1 Tra cứu TKB cá nhân</a:t>
            </a:r>
          </a:p>
          <a:p>
            <a:pPr>
              <a:spcBef>
                <a:spcPts val="1200"/>
              </a:spcBef>
              <a:defRPr sz="1200" b="0">
                <a:solidFill>
                  <a:srgbClr val="1E293B"/>
                </a:solidFill>
              </a:defRPr>
            </a:pPr>
            <a:r>
              <a:rPr sz="1400"/>
              <a:t>4.2 Thống kê sĩ số lớp</a:t>
            </a:r>
          </a:p>
          <a:p>
            <a:pPr>
              <a:spcBef>
                <a:spcPts val="1200"/>
              </a:spcBef>
              <a:defRPr sz="1200" b="0">
                <a:solidFill>
                  <a:srgbClr val="1E293B"/>
                </a:solidFill>
              </a:defRPr>
            </a:pPr>
            <a:r>
              <a:rPr sz="1400"/>
              <a:t>4.3 Báo cáo doanh thu</a:t>
            </a:r>
          </a:p>
          <a:p>
            <a:pPr>
              <a:spcBef>
                <a:spcPts val="1200"/>
              </a:spcBef>
              <a:defRPr sz="1200" b="0">
                <a:solidFill>
                  <a:srgbClr val="1E293B"/>
                </a:solidFill>
              </a:defRPr>
            </a:pPr>
            <a:r>
              <a:rPr sz="1400"/>
              <a:t>4.4 Tỷ lệ Đạt &amp; Hỏng</a:t>
            </a:r>
          </a:p>
        </p:txBody>
      </p:sp>
      <p:sp>
        <p:nvSpPr>
          <p:cNvPr id="18" name="Rounded Rectangle 17"/>
          <p:cNvSpPr/>
          <p:nvPr/>
        </p:nvSpPr>
        <p:spPr>
          <a:xfrm>
            <a:off x="9400032" y="1691640"/>
            <a:ext cx="2039112" cy="841248"/>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wrap="square" lIns="109728" tIns="0" rIns="109728" bIns="0" rtlCol="0" anchor="ctr"/>
          <a:lstStyle/>
          <a:p>
            <a:pPr algn="ctr">
              <a:defRPr sz="1000" b="1">
                <a:solidFill>
                  <a:srgbClr val="E0E7FF"/>
                </a:solidFill>
              </a:defRPr>
            </a:pPr>
            <a:r>
              <a:t>PHÂN HỆ 5</a:t>
            </a:r>
          </a:p>
          <a:p>
            <a:pPr algn="ctr">
              <a:spcBef>
                <a:spcPts val="300"/>
              </a:spcBef>
              <a:defRPr sz="1300" b="1">
                <a:solidFill>
                  <a:srgbClr val="FFFFFF"/>
                </a:solidFill>
              </a:defRPr>
            </a:pPr>
            <a:r>
              <a:t>Trí Tuệ Nhân Tạo</a:t>
            </a:r>
          </a:p>
        </p:txBody>
      </p:sp>
      <p:sp>
        <p:nvSpPr>
          <p:cNvPr id="19" name="Rounded Rectangle 18"/>
          <p:cNvSpPr/>
          <p:nvPr/>
        </p:nvSpPr>
        <p:spPr>
          <a:xfrm>
            <a:off x="9400032" y="2578608"/>
            <a:ext cx="2039112" cy="3639312"/>
          </a:xfrm>
          <a:prstGeom prst="roundRect">
            <a:avLst/>
          </a:prstGeom>
          <a:solidFill>
            <a:srgbClr val="FFFF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wrap="square" lIns="146304" tIns="228600" rIns="146304" rtlCol="0" anchor="t"/>
          <a:lstStyle/>
          <a:p>
            <a:pPr>
              <a:defRPr sz="1200" b="0">
                <a:solidFill>
                  <a:srgbClr val="1E293B"/>
                </a:solidFill>
              </a:defRPr>
            </a:pPr>
            <a:r>
              <a:rPr sz="1400"/>
              <a:t>5.1 AI tư vấn lớp học</a:t>
            </a:r>
          </a:p>
          <a:p>
            <a:pPr>
              <a:spcBef>
                <a:spcPts val="1200"/>
              </a:spcBef>
              <a:defRPr sz="1200" b="0">
                <a:solidFill>
                  <a:srgbClr val="1E293B"/>
                </a:solidFill>
              </a:defRPr>
            </a:pPr>
            <a:r>
              <a:rPr sz="1400"/>
              <a:t>5.2 AI sinh trắc nghiệm</a:t>
            </a:r>
          </a:p>
          <a:p>
            <a:pPr>
              <a:spcBef>
                <a:spcPts val="1200"/>
              </a:spcBef>
              <a:defRPr sz="1200" b="0">
                <a:solidFill>
                  <a:srgbClr val="1E293B"/>
                </a:solidFill>
              </a:defRPr>
            </a:pPr>
            <a:r>
              <a:rPr sz="1400"/>
              <a:t>5.3 AI tóm tắt tiến độ</a:t>
            </a:r>
          </a:p>
          <a:p>
            <a:pPr>
              <a:spcBef>
                <a:spcPts val="1200"/>
              </a:spcBef>
              <a:defRPr sz="1200" b="0">
                <a:solidFill>
                  <a:srgbClr val="1E293B"/>
                </a:solidFill>
              </a:defRPr>
            </a:pPr>
            <a:r>
              <a:rPr sz="1400"/>
              <a:t>5.4 Fallback dự phòng</a:t>
            </a:r>
          </a:p>
        </p:txBody>
      </p:sp>
      <p:sp>
        <p:nvSpPr>
          <p:cNvPr id="20" name="Rounded Rectangle 3">
            <a:extLst>
              <a:ext uri="{FF2B5EF4-FFF2-40B4-BE49-F238E27FC236}">
                <a16:creationId xmlns:a16="http://schemas.microsoft.com/office/drawing/2014/main" id="{3E4176B1-5A45-E877-EE86-A18AA43ABB21}"/>
              </a:ext>
            </a:extLst>
          </p:cNvPr>
          <p:cNvSpPr/>
          <p:nvPr/>
        </p:nvSpPr>
        <p:spPr>
          <a:xfrm>
            <a:off x="0" y="73152"/>
            <a:ext cx="3634740" cy="310896"/>
          </a:xfrm>
          <a:prstGeom prst="roundRect">
            <a:avLst/>
          </a:prstGeom>
          <a:solidFill>
            <a:srgbClr val="EFF6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1000" b="1">
                <a:solidFill>
                  <a:srgbClr val="1E40AF"/>
                </a:solidFill>
              </a:defRPr>
            </a:pPr>
            <a:r>
              <a:t>CHƯƠNG </a:t>
            </a:r>
            <a:r>
              <a:rPr lang="en-US"/>
              <a:t>1</a:t>
            </a:r>
            <a:r>
              <a:t>: </a:t>
            </a:r>
            <a:r>
              <a:rPr lang="en-US"/>
              <a:t>Khảo sát &amp; Yêu cầu</a:t>
            </a:r>
            <a:endParaRPr/>
          </a:p>
        </p:txBody>
      </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1000"/>
                                        <p:tgtEl>
                                          <p:spTgt spid="10"/>
                                        </p:tgtEl>
                                      </p:cBhvr>
                                    </p:animEffect>
                                    <p:anim calcmode="lin" valueType="num">
                                      <p:cBhvr>
                                        <p:cTn id="13" dur="1000" fill="hold"/>
                                        <p:tgtEl>
                                          <p:spTgt spid="10"/>
                                        </p:tgtEl>
                                        <p:attrNameLst>
                                          <p:attrName>ppt_x</p:attrName>
                                        </p:attrNameLst>
                                      </p:cBhvr>
                                      <p:tavLst>
                                        <p:tav tm="0">
                                          <p:val>
                                            <p:strVal val="#ppt_x"/>
                                          </p:val>
                                        </p:tav>
                                        <p:tav tm="100000">
                                          <p:val>
                                            <p:strVal val="#ppt_x"/>
                                          </p:val>
                                        </p:tav>
                                      </p:tavLst>
                                    </p:anim>
                                    <p:anim calcmode="lin" valueType="num">
                                      <p:cBhvr>
                                        <p:cTn id="14" dur="1000" fill="hold"/>
                                        <p:tgtEl>
                                          <p:spTgt spid="10"/>
                                        </p:tgtEl>
                                        <p:attrNameLst>
                                          <p:attrName>ppt_y</p:attrName>
                                        </p:attrNameLst>
                                      </p:cBhvr>
                                      <p:tavLst>
                                        <p:tav tm="0">
                                          <p:val>
                                            <p:strVal val="#ppt_y-.1"/>
                                          </p:val>
                                        </p:tav>
                                        <p:tav tm="100000">
                                          <p:val>
                                            <p:strVal val="#ppt_y"/>
                                          </p:val>
                                        </p:tav>
                                      </p:tavLst>
                                    </p:anim>
                                  </p:childTnLst>
                                </p:cTn>
                              </p:par>
                              <p:par>
                                <p:cTn id="15" presetID="47"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1000"/>
                                        <p:tgtEl>
                                          <p:spTgt spid="12"/>
                                        </p:tgtEl>
                                      </p:cBhvr>
                                    </p:animEffect>
                                    <p:anim calcmode="lin" valueType="num">
                                      <p:cBhvr>
                                        <p:cTn id="18" dur="1000" fill="hold"/>
                                        <p:tgtEl>
                                          <p:spTgt spid="12"/>
                                        </p:tgtEl>
                                        <p:attrNameLst>
                                          <p:attrName>ppt_x</p:attrName>
                                        </p:attrNameLst>
                                      </p:cBhvr>
                                      <p:tavLst>
                                        <p:tav tm="0">
                                          <p:val>
                                            <p:strVal val="#ppt_x"/>
                                          </p:val>
                                        </p:tav>
                                        <p:tav tm="100000">
                                          <p:val>
                                            <p:strVal val="#ppt_x"/>
                                          </p:val>
                                        </p:tav>
                                      </p:tavLst>
                                    </p:anim>
                                    <p:anim calcmode="lin" valueType="num">
                                      <p:cBhvr>
                                        <p:cTn id="19" dur="1000" fill="hold"/>
                                        <p:tgtEl>
                                          <p:spTgt spid="12"/>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1000"/>
                                        <p:tgtEl>
                                          <p:spTgt spid="13"/>
                                        </p:tgtEl>
                                      </p:cBhvr>
                                    </p:animEffect>
                                    <p:anim calcmode="lin" valueType="num">
                                      <p:cBhvr>
                                        <p:cTn id="23" dur="1000" fill="hold"/>
                                        <p:tgtEl>
                                          <p:spTgt spid="13"/>
                                        </p:tgtEl>
                                        <p:attrNameLst>
                                          <p:attrName>ppt_x</p:attrName>
                                        </p:attrNameLst>
                                      </p:cBhvr>
                                      <p:tavLst>
                                        <p:tav tm="0">
                                          <p:val>
                                            <p:strVal val="#ppt_x"/>
                                          </p:val>
                                        </p:tav>
                                        <p:tav tm="100000">
                                          <p:val>
                                            <p:strVal val="#ppt_x"/>
                                          </p:val>
                                        </p:tav>
                                      </p:tavLst>
                                    </p:anim>
                                    <p:anim calcmode="lin" valueType="num">
                                      <p:cBhvr>
                                        <p:cTn id="24" dur="1000" fill="hold"/>
                                        <p:tgtEl>
                                          <p:spTgt spid="13"/>
                                        </p:tgtEl>
                                        <p:attrNameLst>
                                          <p:attrName>ppt_y</p:attrName>
                                        </p:attrNameLst>
                                      </p:cBhvr>
                                      <p:tavLst>
                                        <p:tav tm="0">
                                          <p:val>
                                            <p:strVal val="#ppt_y+.1"/>
                                          </p:val>
                                        </p:tav>
                                        <p:tav tm="100000">
                                          <p:val>
                                            <p:strVal val="#ppt_y"/>
                                          </p:val>
                                        </p:tav>
                                      </p:tavLst>
                                    </p:anim>
                                  </p:childTnLst>
                                </p:cTn>
                              </p:par>
                              <p:par>
                                <p:cTn id="25" presetID="47"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1000"/>
                                        <p:tgtEl>
                                          <p:spTgt spid="14"/>
                                        </p:tgtEl>
                                      </p:cBhvr>
                                    </p:animEffect>
                                    <p:anim calcmode="lin" valueType="num">
                                      <p:cBhvr>
                                        <p:cTn id="28" dur="1000" fill="hold"/>
                                        <p:tgtEl>
                                          <p:spTgt spid="14"/>
                                        </p:tgtEl>
                                        <p:attrNameLst>
                                          <p:attrName>ppt_x</p:attrName>
                                        </p:attrNameLst>
                                      </p:cBhvr>
                                      <p:tavLst>
                                        <p:tav tm="0">
                                          <p:val>
                                            <p:strVal val="#ppt_x"/>
                                          </p:val>
                                        </p:tav>
                                        <p:tav tm="100000">
                                          <p:val>
                                            <p:strVal val="#ppt_x"/>
                                          </p:val>
                                        </p:tav>
                                      </p:tavLst>
                                    </p:anim>
                                    <p:anim calcmode="lin" valueType="num">
                                      <p:cBhvr>
                                        <p:cTn id="29" dur="1000" fill="hold"/>
                                        <p:tgtEl>
                                          <p:spTgt spid="14"/>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1000"/>
                                        <p:tgtEl>
                                          <p:spTgt spid="15"/>
                                        </p:tgtEl>
                                      </p:cBhvr>
                                    </p:animEffect>
                                    <p:anim calcmode="lin" valueType="num">
                                      <p:cBhvr>
                                        <p:cTn id="33" dur="1000" fill="hold"/>
                                        <p:tgtEl>
                                          <p:spTgt spid="15"/>
                                        </p:tgtEl>
                                        <p:attrNameLst>
                                          <p:attrName>ppt_x</p:attrName>
                                        </p:attrNameLst>
                                      </p:cBhvr>
                                      <p:tavLst>
                                        <p:tav tm="0">
                                          <p:val>
                                            <p:strVal val="#ppt_x"/>
                                          </p:val>
                                        </p:tav>
                                        <p:tav tm="100000">
                                          <p:val>
                                            <p:strVal val="#ppt_x"/>
                                          </p:val>
                                        </p:tav>
                                      </p:tavLst>
                                    </p:anim>
                                    <p:anim calcmode="lin" valueType="num">
                                      <p:cBhvr>
                                        <p:cTn id="34" dur="1000" fill="hold"/>
                                        <p:tgtEl>
                                          <p:spTgt spid="15"/>
                                        </p:tgtEl>
                                        <p:attrNameLst>
                                          <p:attrName>ppt_y</p:attrName>
                                        </p:attrNameLst>
                                      </p:cBhvr>
                                      <p:tavLst>
                                        <p:tav tm="0">
                                          <p:val>
                                            <p:strVal val="#ppt_y+.1"/>
                                          </p:val>
                                        </p:tav>
                                        <p:tav tm="100000">
                                          <p:val>
                                            <p:strVal val="#ppt_y"/>
                                          </p:val>
                                        </p:tav>
                                      </p:tavLst>
                                    </p:anim>
                                  </p:childTnLst>
                                </p:cTn>
                              </p:par>
                              <p:par>
                                <p:cTn id="35" presetID="47"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1000"/>
                                        <p:tgtEl>
                                          <p:spTgt spid="16"/>
                                        </p:tgtEl>
                                      </p:cBhvr>
                                    </p:animEffect>
                                    <p:anim calcmode="lin" valueType="num">
                                      <p:cBhvr>
                                        <p:cTn id="38" dur="1000" fill="hold"/>
                                        <p:tgtEl>
                                          <p:spTgt spid="16"/>
                                        </p:tgtEl>
                                        <p:attrNameLst>
                                          <p:attrName>ppt_x</p:attrName>
                                        </p:attrNameLst>
                                      </p:cBhvr>
                                      <p:tavLst>
                                        <p:tav tm="0">
                                          <p:val>
                                            <p:strVal val="#ppt_x"/>
                                          </p:val>
                                        </p:tav>
                                        <p:tav tm="100000">
                                          <p:val>
                                            <p:strVal val="#ppt_x"/>
                                          </p:val>
                                        </p:tav>
                                      </p:tavLst>
                                    </p:anim>
                                    <p:anim calcmode="lin" valueType="num">
                                      <p:cBhvr>
                                        <p:cTn id="39" dur="1000" fill="hold"/>
                                        <p:tgtEl>
                                          <p:spTgt spid="16"/>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1000"/>
                                        <p:tgtEl>
                                          <p:spTgt spid="17"/>
                                        </p:tgtEl>
                                      </p:cBhvr>
                                    </p:animEffect>
                                    <p:anim calcmode="lin" valueType="num">
                                      <p:cBhvr>
                                        <p:cTn id="43" dur="1000" fill="hold"/>
                                        <p:tgtEl>
                                          <p:spTgt spid="17"/>
                                        </p:tgtEl>
                                        <p:attrNameLst>
                                          <p:attrName>ppt_x</p:attrName>
                                        </p:attrNameLst>
                                      </p:cBhvr>
                                      <p:tavLst>
                                        <p:tav tm="0">
                                          <p:val>
                                            <p:strVal val="#ppt_x"/>
                                          </p:val>
                                        </p:tav>
                                        <p:tav tm="100000">
                                          <p:val>
                                            <p:strVal val="#ppt_x"/>
                                          </p:val>
                                        </p:tav>
                                      </p:tavLst>
                                    </p:anim>
                                    <p:anim calcmode="lin" valueType="num">
                                      <p:cBhvr>
                                        <p:cTn id="44" dur="1000" fill="hold"/>
                                        <p:tgtEl>
                                          <p:spTgt spid="17"/>
                                        </p:tgtEl>
                                        <p:attrNameLst>
                                          <p:attrName>ppt_y</p:attrName>
                                        </p:attrNameLst>
                                      </p:cBhvr>
                                      <p:tavLst>
                                        <p:tav tm="0">
                                          <p:val>
                                            <p:strVal val="#ppt_y+.1"/>
                                          </p:val>
                                        </p:tav>
                                        <p:tav tm="100000">
                                          <p:val>
                                            <p:strVal val="#ppt_y"/>
                                          </p:val>
                                        </p:tav>
                                      </p:tavLst>
                                    </p:anim>
                                  </p:childTnLst>
                                </p:cTn>
                              </p:par>
                              <p:par>
                                <p:cTn id="45" presetID="47" presetClass="entr" presetSubtype="0"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1000"/>
                                        <p:tgtEl>
                                          <p:spTgt spid="18"/>
                                        </p:tgtEl>
                                      </p:cBhvr>
                                    </p:animEffect>
                                    <p:anim calcmode="lin" valueType="num">
                                      <p:cBhvr>
                                        <p:cTn id="48" dur="1000" fill="hold"/>
                                        <p:tgtEl>
                                          <p:spTgt spid="18"/>
                                        </p:tgtEl>
                                        <p:attrNameLst>
                                          <p:attrName>ppt_x</p:attrName>
                                        </p:attrNameLst>
                                      </p:cBhvr>
                                      <p:tavLst>
                                        <p:tav tm="0">
                                          <p:val>
                                            <p:strVal val="#ppt_x"/>
                                          </p:val>
                                        </p:tav>
                                        <p:tav tm="100000">
                                          <p:val>
                                            <p:strVal val="#ppt_x"/>
                                          </p:val>
                                        </p:tav>
                                      </p:tavLst>
                                    </p:anim>
                                    <p:anim calcmode="lin" valueType="num">
                                      <p:cBhvr>
                                        <p:cTn id="49" dur="1000" fill="hold"/>
                                        <p:tgtEl>
                                          <p:spTgt spid="18"/>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1000"/>
                                        <p:tgtEl>
                                          <p:spTgt spid="19"/>
                                        </p:tgtEl>
                                      </p:cBhvr>
                                    </p:animEffect>
                                    <p:anim calcmode="lin" valueType="num">
                                      <p:cBhvr>
                                        <p:cTn id="53" dur="1000" fill="hold"/>
                                        <p:tgtEl>
                                          <p:spTgt spid="19"/>
                                        </p:tgtEl>
                                        <p:attrNameLst>
                                          <p:attrName>ppt_x</p:attrName>
                                        </p:attrNameLst>
                                      </p:cBhvr>
                                      <p:tavLst>
                                        <p:tav tm="0">
                                          <p:val>
                                            <p:strVal val="#ppt_x"/>
                                          </p:val>
                                        </p:tav>
                                        <p:tav tm="100000">
                                          <p:val>
                                            <p:strVal val="#ppt_x"/>
                                          </p:val>
                                        </p:tav>
                                      </p:tavLst>
                                    </p:anim>
                                    <p:anim calcmode="lin" valueType="num">
                                      <p:cBhvr>
                                        <p:cTn id="54"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048"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0" y="73152"/>
            <a:ext cx="3634740" cy="310896"/>
          </a:xfrm>
          <a:prstGeom prst="roundRect">
            <a:avLst/>
          </a:prstGeom>
          <a:solidFill>
            <a:srgbClr val="EFF6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1000" b="1">
                <a:solidFill>
                  <a:srgbClr val="1E40AF"/>
                </a:solidFill>
              </a:defRPr>
            </a:pPr>
            <a:r>
              <a:t>CHƯƠNG 2: THIẾT KẾ TÁC NHÂN</a:t>
            </a:r>
          </a:p>
        </p:txBody>
      </p:sp>
      <p:sp>
        <p:nvSpPr>
          <p:cNvPr id="5" name="TextBox 4"/>
          <p:cNvSpPr txBox="1"/>
          <p:nvPr/>
        </p:nvSpPr>
        <p:spPr>
          <a:xfrm>
            <a:off x="731520" y="713232"/>
            <a:ext cx="10728655" cy="548640"/>
          </a:xfrm>
          <a:prstGeom prst="rect">
            <a:avLst/>
          </a:prstGeom>
          <a:noFill/>
        </p:spPr>
        <p:txBody>
          <a:bodyPr wrap="square" lIns="0" tIns="0" rIns="0" bIns="0" anchor="t">
            <a:spAutoFit/>
          </a:bodyPr>
          <a:lstStyle/>
          <a:p>
            <a:pPr>
              <a:defRPr sz="2500" b="1">
                <a:solidFill>
                  <a:srgbClr val="0F172A"/>
                </a:solidFill>
                <a:latin typeface="Segoe UI"/>
              </a:defRPr>
            </a:pPr>
            <a:r>
              <a:t>Mô Hình 4 Tác Nhân Người Dùng &amp; Phân Quyền (RBAC)</a:t>
            </a:r>
          </a:p>
        </p:txBody>
      </p:sp>
      <p:sp>
        <p:nvSpPr>
          <p:cNvPr id="6" name="TextBox 5"/>
          <p:cNvSpPr txBox="1"/>
          <p:nvPr/>
        </p:nvSpPr>
        <p:spPr>
          <a:xfrm>
            <a:off x="731520" y="1261872"/>
            <a:ext cx="10728655" cy="215444"/>
          </a:xfrm>
          <a:prstGeom prst="rect">
            <a:avLst/>
          </a:prstGeom>
          <a:noFill/>
        </p:spPr>
        <p:txBody>
          <a:bodyPr wrap="square" lIns="0" tIns="0" rIns="0" bIns="0" anchor="t">
            <a:spAutoFit/>
          </a:bodyPr>
          <a:lstStyle/>
          <a:p>
            <a:pPr>
              <a:defRPr sz="1300">
                <a:solidFill>
                  <a:srgbClr val="475569"/>
                </a:solidFill>
                <a:latin typeface="Segoe UI"/>
              </a:defRPr>
            </a:pPr>
            <a:r>
              <a:rPr sz="1400"/>
              <a:t>Phân định rõ ranh giới trách nhiệm, thẩm quyền và dữ liệu truy cập của từng vai trò</a:t>
            </a:r>
          </a:p>
        </p:txBody>
      </p:sp>
      <p:sp>
        <p:nvSpPr>
          <p:cNvPr id="7" name="Rectangle 6"/>
          <p:cNvSpPr/>
          <p:nvPr/>
        </p:nvSpPr>
        <p:spPr>
          <a:xfrm>
            <a:off x="731520" y="6327648"/>
            <a:ext cx="10728655" cy="1524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31520" y="1691640"/>
            <a:ext cx="2542032" cy="4526280"/>
          </a:xfrm>
          <a:prstGeom prst="roundRect">
            <a:avLst/>
          </a:prstGeom>
          <a:solidFill>
            <a:srgbClr val="FFFF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wrap="square" lIns="219456" tIns="219456" rIns="219456" rtlCol="0" anchor="t"/>
          <a:lstStyle/>
          <a:p>
            <a:pPr algn="ctr">
              <a:spcBef>
                <a:spcPts val="300"/>
              </a:spcBef>
              <a:defRPr sz="1650" b="1">
                <a:solidFill>
                  <a:srgbClr val="1E40AF"/>
                </a:solidFill>
                <a:latin typeface="Segoe UI"/>
              </a:defRPr>
            </a:pPr>
            <a:r>
              <a:rPr sz="1600"/>
              <a:t>Quản Lý (Admin)</a:t>
            </a:r>
          </a:p>
          <a:p>
            <a:pPr>
              <a:spcBef>
                <a:spcPts val="700"/>
              </a:spcBef>
              <a:defRPr sz="1200">
                <a:solidFill>
                  <a:srgbClr val="1E293B"/>
                </a:solidFill>
              </a:defRPr>
            </a:pPr>
            <a:r>
              <a:rPr sz="1400"/>
              <a:t>Nắm giữ toàn quyền quản trị cao nhất trên toàn hệ thống:</a:t>
            </a:r>
          </a:p>
          <a:p>
            <a:pPr>
              <a:spcBef>
                <a:spcPts val="500"/>
              </a:spcBef>
              <a:defRPr sz="1150">
                <a:solidFill>
                  <a:srgbClr val="1E293B"/>
                </a:solidFill>
              </a:defRPr>
            </a:pPr>
            <a:r>
              <a:rPr sz="1400"/>
              <a:t>• Thiết lập danh mục khóa học, mức học phí.</a:t>
            </a:r>
          </a:p>
          <a:p>
            <a:pPr>
              <a:spcBef>
                <a:spcPts val="500"/>
              </a:spcBef>
              <a:defRPr sz="1150">
                <a:solidFill>
                  <a:srgbClr val="1E293B"/>
                </a:solidFill>
              </a:defRPr>
            </a:pPr>
            <a:r>
              <a:rPr sz="1400"/>
              <a:t>• Mở lớp học, bố trí phòng và xếp thời khóa biểu.</a:t>
            </a:r>
          </a:p>
          <a:p>
            <a:pPr>
              <a:spcBef>
                <a:spcPts val="500"/>
              </a:spcBef>
              <a:defRPr sz="1150">
                <a:solidFill>
                  <a:srgbClr val="1E293B"/>
                </a:solidFill>
              </a:defRPr>
            </a:pPr>
            <a:r>
              <a:rPr sz="1400"/>
              <a:t>• Phân công giáo viên chính và trợ giảng cho lớp.</a:t>
            </a:r>
          </a:p>
          <a:p>
            <a:pPr>
              <a:spcBef>
                <a:spcPts val="500"/>
              </a:spcBef>
              <a:defRPr sz="1150">
                <a:solidFill>
                  <a:srgbClr val="1E293B"/>
                </a:solidFill>
              </a:defRPr>
            </a:pPr>
            <a:r>
              <a:rPr sz="1400"/>
              <a:t>• Xem báo cáo tài chính, doanh thu, sĩ số và tỷ lệ hoàn thành.</a:t>
            </a:r>
          </a:p>
        </p:txBody>
      </p:sp>
      <p:sp>
        <p:nvSpPr>
          <p:cNvPr id="11" name="Rounded Rectangle 10"/>
          <p:cNvSpPr/>
          <p:nvPr/>
        </p:nvSpPr>
        <p:spPr>
          <a:xfrm>
            <a:off x="3468625" y="1691640"/>
            <a:ext cx="2542032" cy="4526280"/>
          </a:xfrm>
          <a:prstGeom prst="roundRect">
            <a:avLst/>
          </a:prstGeom>
          <a:solidFill>
            <a:srgbClr val="FFFF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wrap="square" lIns="219456" tIns="219456" rIns="219456" rtlCol="0" anchor="t"/>
          <a:lstStyle/>
          <a:p>
            <a:pPr algn="ctr">
              <a:spcBef>
                <a:spcPts val="300"/>
              </a:spcBef>
              <a:defRPr sz="1650" b="1">
                <a:solidFill>
                  <a:srgbClr val="1E40AF"/>
                </a:solidFill>
                <a:latin typeface="Segoe UI"/>
              </a:defRPr>
            </a:pPr>
            <a:r>
              <a:rPr sz="1600"/>
              <a:t>Giáo Viên(Teacher)</a:t>
            </a:r>
          </a:p>
          <a:p>
            <a:pPr>
              <a:spcBef>
                <a:spcPts val="700"/>
              </a:spcBef>
              <a:defRPr sz="1200">
                <a:solidFill>
                  <a:srgbClr val="1E293B"/>
                </a:solidFill>
              </a:defRPr>
            </a:pPr>
            <a:r>
              <a:rPr sz="1400"/>
              <a:t>Trực tiếp phụ trách công tác chuyên môn trên lớp:</a:t>
            </a:r>
          </a:p>
          <a:p>
            <a:pPr>
              <a:spcBef>
                <a:spcPts val="500"/>
              </a:spcBef>
              <a:defRPr sz="1150">
                <a:solidFill>
                  <a:srgbClr val="1E293B"/>
                </a:solidFill>
              </a:defRPr>
            </a:pPr>
            <a:r>
              <a:rPr sz="1400"/>
              <a:t>• Xem thời khóa biểu dạy và danh sách học viên lớp mình.</a:t>
            </a:r>
          </a:p>
          <a:p>
            <a:pPr>
              <a:spcBef>
                <a:spcPts val="500"/>
              </a:spcBef>
              <a:defRPr sz="1150">
                <a:solidFill>
                  <a:srgbClr val="1E293B"/>
                </a:solidFill>
              </a:defRPr>
            </a:pPr>
            <a:r>
              <a:rPr sz="1400"/>
              <a:t>• Điểm danh từng buổi (Có mặt, Đi muộn, Có phép, Vắng).</a:t>
            </a:r>
          </a:p>
          <a:p>
            <a:pPr>
              <a:spcBef>
                <a:spcPts val="500"/>
              </a:spcBef>
              <a:defRPr sz="1150">
                <a:solidFill>
                  <a:srgbClr val="1E293B"/>
                </a:solidFill>
              </a:defRPr>
            </a:pPr>
            <a:r>
              <a:rPr sz="1400"/>
              <a:t>• Nhập điểm chuyên cần, giữa kỳ, cuối kỳ.</a:t>
            </a:r>
          </a:p>
          <a:p>
            <a:pPr>
              <a:spcBef>
                <a:spcPts val="500"/>
              </a:spcBef>
              <a:defRPr sz="1150">
                <a:solidFill>
                  <a:srgbClr val="1E293B"/>
                </a:solidFill>
              </a:defRPr>
            </a:pPr>
            <a:r>
              <a:rPr sz="1400"/>
              <a:t>• Sử dụng AI sinh đề trắc nghiệm bổ trợ kiến thức.</a:t>
            </a:r>
          </a:p>
        </p:txBody>
      </p:sp>
      <p:sp>
        <p:nvSpPr>
          <p:cNvPr id="12" name="Rounded Rectangle 11"/>
          <p:cNvSpPr/>
          <p:nvPr/>
        </p:nvSpPr>
        <p:spPr>
          <a:xfrm>
            <a:off x="6181344" y="1691640"/>
            <a:ext cx="2542032" cy="4526280"/>
          </a:xfrm>
          <a:prstGeom prst="roundRect">
            <a:avLst/>
          </a:prstGeom>
          <a:solidFill>
            <a:srgbClr val="FFFF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wrap="square" lIns="219456" tIns="219456" rIns="219456" rtlCol="0" anchor="t"/>
          <a:lstStyle/>
          <a:p>
            <a:pPr algn="ctr">
              <a:spcBef>
                <a:spcPts val="300"/>
              </a:spcBef>
              <a:defRPr sz="1650" b="1">
                <a:solidFill>
                  <a:srgbClr val="1E40AF"/>
                </a:solidFill>
                <a:latin typeface="Segoe UI"/>
              </a:defRPr>
            </a:pPr>
            <a:r>
              <a:rPr sz="1600"/>
              <a:t>Tư Vấn Viên (Staff)</a:t>
            </a:r>
          </a:p>
          <a:p>
            <a:pPr>
              <a:spcBef>
                <a:spcPts val="700"/>
              </a:spcBef>
              <a:defRPr sz="1200">
                <a:solidFill>
                  <a:srgbClr val="1E293B"/>
                </a:solidFill>
              </a:defRPr>
            </a:pPr>
            <a:r>
              <a:rPr sz="1400"/>
              <a:t>Cầu nối giữa khách hàng và các lớp học tại trung tâm:</a:t>
            </a:r>
          </a:p>
          <a:p>
            <a:pPr>
              <a:spcBef>
                <a:spcPts val="500"/>
              </a:spcBef>
              <a:defRPr sz="1150">
                <a:solidFill>
                  <a:srgbClr val="1E293B"/>
                </a:solidFill>
              </a:defRPr>
            </a:pPr>
            <a:r>
              <a:rPr sz="1400"/>
              <a:t>• Tiếp nhận học viên mới, lưu trình độ CEFR đầu vào.</a:t>
            </a:r>
          </a:p>
          <a:p>
            <a:pPr>
              <a:spcBef>
                <a:spcPts val="500"/>
              </a:spcBef>
              <a:defRPr sz="1150">
                <a:solidFill>
                  <a:srgbClr val="1E293B"/>
                </a:solidFill>
              </a:defRPr>
            </a:pPr>
            <a:r>
              <a:rPr sz="1400"/>
              <a:t>• Sử dụng AI hỗ trợ tư vấn chọn lớp khớp lịch rảnh.</a:t>
            </a:r>
          </a:p>
          <a:p>
            <a:pPr>
              <a:spcBef>
                <a:spcPts val="500"/>
              </a:spcBef>
              <a:defRPr sz="1150">
                <a:solidFill>
                  <a:srgbClr val="1E293B"/>
                </a:solidFill>
              </a:defRPr>
            </a:pPr>
            <a:r>
              <a:rPr sz="1400"/>
              <a:t>• Thực hiện đăng ký lớp cho học viên.</a:t>
            </a:r>
          </a:p>
          <a:p>
            <a:pPr>
              <a:spcBef>
                <a:spcPts val="500"/>
              </a:spcBef>
              <a:defRPr sz="1150">
                <a:solidFill>
                  <a:srgbClr val="1E293B"/>
                </a:solidFill>
              </a:defRPr>
            </a:pPr>
            <a:r>
              <a:rPr sz="1400"/>
              <a:t>• Lập phiếu thu học phí nhiều đợt và theo dõi công nợ.</a:t>
            </a:r>
          </a:p>
        </p:txBody>
      </p:sp>
      <p:sp>
        <p:nvSpPr>
          <p:cNvPr id="13" name="Rounded Rectangle 12"/>
          <p:cNvSpPr/>
          <p:nvPr/>
        </p:nvSpPr>
        <p:spPr>
          <a:xfrm>
            <a:off x="8906256" y="1691640"/>
            <a:ext cx="2542032" cy="4526280"/>
          </a:xfrm>
          <a:prstGeom prst="roundRect">
            <a:avLst/>
          </a:prstGeom>
          <a:solidFill>
            <a:srgbClr val="FFFF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wrap="square" lIns="219456" tIns="219456" rIns="219456" rtlCol="0" anchor="t"/>
          <a:lstStyle/>
          <a:p>
            <a:pPr algn="ctr">
              <a:spcBef>
                <a:spcPts val="300"/>
              </a:spcBef>
              <a:defRPr sz="1650" b="1">
                <a:solidFill>
                  <a:srgbClr val="1E40AF"/>
                </a:solidFill>
                <a:latin typeface="Segoe UI"/>
              </a:defRPr>
            </a:pPr>
            <a:r>
              <a:rPr sz="1600"/>
              <a:t>Học Viên (Student)</a:t>
            </a:r>
          </a:p>
          <a:p>
            <a:pPr>
              <a:spcBef>
                <a:spcPts val="700"/>
              </a:spcBef>
              <a:defRPr sz="1200">
                <a:solidFill>
                  <a:srgbClr val="1E293B"/>
                </a:solidFill>
              </a:defRPr>
            </a:pPr>
            <a:r>
              <a:rPr sz="1400"/>
              <a:t>Trung tâm của mọi hoạt động trải nghiệm đào tạo:</a:t>
            </a:r>
          </a:p>
          <a:p>
            <a:pPr>
              <a:spcBef>
                <a:spcPts val="500"/>
              </a:spcBef>
              <a:defRPr sz="1150">
                <a:solidFill>
                  <a:srgbClr val="1E293B"/>
                </a:solidFill>
              </a:defRPr>
            </a:pPr>
            <a:r>
              <a:rPr sz="1400"/>
              <a:t>• Tra cứu lớp học còn chỗ, tự đăng ký trực tuyến.</a:t>
            </a:r>
          </a:p>
          <a:p>
            <a:pPr>
              <a:spcBef>
                <a:spcPts val="500"/>
              </a:spcBef>
              <a:defRPr sz="1150">
                <a:solidFill>
                  <a:srgbClr val="1E293B"/>
                </a:solidFill>
              </a:defRPr>
            </a:pPr>
            <a:r>
              <a:rPr sz="1400"/>
              <a:t>• Xem thời khóa biểu tuần và hóa đơn học phí cá nhân.</a:t>
            </a:r>
          </a:p>
          <a:p>
            <a:pPr>
              <a:spcBef>
                <a:spcPts val="500"/>
              </a:spcBef>
              <a:defRPr sz="1150">
                <a:solidFill>
                  <a:srgbClr val="1E293B"/>
                </a:solidFill>
              </a:defRPr>
            </a:pPr>
            <a:r>
              <a:rPr sz="1400"/>
              <a:t>• Theo dõi bảng điểm 3 thành phần và kết quả Đạt/Hỏng.</a:t>
            </a:r>
          </a:p>
          <a:p>
            <a:pPr>
              <a:spcBef>
                <a:spcPts val="500"/>
              </a:spcBef>
              <a:defRPr sz="1150">
                <a:solidFill>
                  <a:srgbClr val="1E293B"/>
                </a:solidFill>
              </a:defRPr>
            </a:pPr>
            <a:r>
              <a:rPr sz="1400"/>
              <a:t>• Sử dụng cả 3 tính năng AI để luyện tập và theo dõi lộ trình.</a:t>
            </a:r>
          </a:p>
        </p:txBody>
      </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p:cTn id="12" dur="500" fill="hold"/>
                                        <p:tgtEl>
                                          <p:spTgt spid="11"/>
                                        </p:tgtEl>
                                        <p:attrNameLst>
                                          <p:attrName>ppt_w</p:attrName>
                                        </p:attrNameLst>
                                      </p:cBhvr>
                                      <p:tavLst>
                                        <p:tav tm="0">
                                          <p:val>
                                            <p:fltVal val="0"/>
                                          </p:val>
                                        </p:tav>
                                        <p:tav tm="100000">
                                          <p:val>
                                            <p:strVal val="#ppt_w"/>
                                          </p:val>
                                        </p:tav>
                                      </p:tavLst>
                                    </p:anim>
                                    <p:anim calcmode="lin" valueType="num">
                                      <p:cBhvr>
                                        <p:cTn id="13" dur="500" fill="hold"/>
                                        <p:tgtEl>
                                          <p:spTgt spid="11"/>
                                        </p:tgtEl>
                                        <p:attrNameLst>
                                          <p:attrName>ppt_h</p:attrName>
                                        </p:attrNameLst>
                                      </p:cBhvr>
                                      <p:tavLst>
                                        <p:tav tm="0">
                                          <p:val>
                                            <p:fltVal val="0"/>
                                          </p:val>
                                        </p:tav>
                                        <p:tav tm="100000">
                                          <p:val>
                                            <p:strVal val="#ppt_h"/>
                                          </p:val>
                                        </p:tav>
                                      </p:tavLst>
                                    </p:anim>
                                    <p:animEffect transition="in" filter="fade">
                                      <p:cBhvr>
                                        <p:cTn id="14" dur="500"/>
                                        <p:tgtEl>
                                          <p:spTgt spid="11"/>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anim calcmode="lin" valueType="num">
                                      <p:cBhvr>
                                        <p:cTn id="17" dur="500" fill="hold"/>
                                        <p:tgtEl>
                                          <p:spTgt spid="12"/>
                                        </p:tgtEl>
                                        <p:attrNameLst>
                                          <p:attrName>ppt_w</p:attrName>
                                        </p:attrNameLst>
                                      </p:cBhvr>
                                      <p:tavLst>
                                        <p:tav tm="0">
                                          <p:val>
                                            <p:fltVal val="0"/>
                                          </p:val>
                                        </p:tav>
                                        <p:tav tm="100000">
                                          <p:val>
                                            <p:strVal val="#ppt_w"/>
                                          </p:val>
                                        </p:tav>
                                      </p:tavLst>
                                    </p:anim>
                                    <p:anim calcmode="lin" valueType="num">
                                      <p:cBhvr>
                                        <p:cTn id="18" dur="500" fill="hold"/>
                                        <p:tgtEl>
                                          <p:spTgt spid="12"/>
                                        </p:tgtEl>
                                        <p:attrNameLst>
                                          <p:attrName>ppt_h</p:attrName>
                                        </p:attrNameLst>
                                      </p:cBhvr>
                                      <p:tavLst>
                                        <p:tav tm="0">
                                          <p:val>
                                            <p:fltVal val="0"/>
                                          </p:val>
                                        </p:tav>
                                        <p:tav tm="100000">
                                          <p:val>
                                            <p:strVal val="#ppt_h"/>
                                          </p:val>
                                        </p:tav>
                                      </p:tavLst>
                                    </p:anim>
                                    <p:animEffect transition="in" filter="fade">
                                      <p:cBhvr>
                                        <p:cTn id="19" dur="500"/>
                                        <p:tgtEl>
                                          <p:spTgt spid="12"/>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 calcmode="lin" valueType="num">
                                      <p:cBhvr>
                                        <p:cTn id="22" dur="500" fill="hold"/>
                                        <p:tgtEl>
                                          <p:spTgt spid="13"/>
                                        </p:tgtEl>
                                        <p:attrNameLst>
                                          <p:attrName>ppt_w</p:attrName>
                                        </p:attrNameLst>
                                      </p:cBhvr>
                                      <p:tavLst>
                                        <p:tav tm="0">
                                          <p:val>
                                            <p:fltVal val="0"/>
                                          </p:val>
                                        </p:tav>
                                        <p:tav tm="100000">
                                          <p:val>
                                            <p:strVal val="#ppt_w"/>
                                          </p:val>
                                        </p:tav>
                                      </p:tavLst>
                                    </p:anim>
                                    <p:anim calcmode="lin" valueType="num">
                                      <p:cBhvr>
                                        <p:cTn id="23" dur="500" fill="hold"/>
                                        <p:tgtEl>
                                          <p:spTgt spid="13"/>
                                        </p:tgtEl>
                                        <p:attrNameLst>
                                          <p:attrName>ppt_h</p:attrName>
                                        </p:attrNameLst>
                                      </p:cBhvr>
                                      <p:tavLst>
                                        <p:tav tm="0">
                                          <p:val>
                                            <p:fltVal val="0"/>
                                          </p:val>
                                        </p:tav>
                                        <p:tav tm="100000">
                                          <p:val>
                                            <p:strVal val="#ppt_h"/>
                                          </p:val>
                                        </p:tav>
                                      </p:tavLst>
                                    </p:anim>
                                    <p:animEffect transition="in" filter="fade">
                                      <p:cBhvr>
                                        <p:cTn id="24"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465"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713232"/>
            <a:ext cx="10728655" cy="548640"/>
          </a:xfrm>
          <a:prstGeom prst="rect">
            <a:avLst/>
          </a:prstGeom>
          <a:noFill/>
        </p:spPr>
        <p:txBody>
          <a:bodyPr wrap="square" lIns="0" tIns="0" rIns="0" bIns="0" anchor="t">
            <a:spAutoFit/>
          </a:bodyPr>
          <a:lstStyle/>
          <a:p>
            <a:pPr>
              <a:defRPr sz="2500" b="1">
                <a:solidFill>
                  <a:srgbClr val="0F172A"/>
                </a:solidFill>
                <a:latin typeface="Segoe UI"/>
              </a:defRPr>
            </a:pPr>
            <a:r>
              <a:t>Biểu Đồ Use Case Tổng Quát (14 Ca Sử Dụng)</a:t>
            </a:r>
          </a:p>
        </p:txBody>
      </p:sp>
      <p:sp>
        <p:nvSpPr>
          <p:cNvPr id="6" name="TextBox 5"/>
          <p:cNvSpPr txBox="1"/>
          <p:nvPr/>
        </p:nvSpPr>
        <p:spPr>
          <a:xfrm>
            <a:off x="731520" y="1261872"/>
            <a:ext cx="10728655" cy="215444"/>
          </a:xfrm>
          <a:prstGeom prst="rect">
            <a:avLst/>
          </a:prstGeom>
          <a:noFill/>
        </p:spPr>
        <p:txBody>
          <a:bodyPr wrap="square" lIns="0" tIns="0" rIns="0" bIns="0" anchor="t">
            <a:spAutoFit/>
          </a:bodyPr>
          <a:lstStyle/>
          <a:p>
            <a:pPr>
              <a:defRPr sz="1300">
                <a:solidFill>
                  <a:srgbClr val="475569"/>
                </a:solidFill>
                <a:latin typeface="Segoe UI"/>
              </a:defRPr>
            </a:pPr>
            <a:r>
              <a:rPr sz="1400"/>
              <a:t>Ánh xạ tương tác trực quan giữa 4 tác nhân người dùng với 14 ca sử dụng cốt lõi</a:t>
            </a:r>
          </a:p>
        </p:txBody>
      </p:sp>
      <p:sp>
        <p:nvSpPr>
          <p:cNvPr id="7" name="Rectangle 6"/>
          <p:cNvSpPr/>
          <p:nvPr/>
        </p:nvSpPr>
        <p:spPr>
          <a:xfrm>
            <a:off x="731520" y="6327648"/>
            <a:ext cx="10728655" cy="1524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6248095" y="1691640"/>
            <a:ext cx="5212080" cy="4526280"/>
          </a:xfrm>
          <a:prstGeom prst="roundRect">
            <a:avLst/>
          </a:prstGeom>
          <a:solidFill>
            <a:srgbClr val="FFFF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wrap="square" lIns="219456" tIns="219456" rIns="219456" rtlCol="0" anchor="t"/>
          <a:lstStyle/>
          <a:p>
            <a:pPr algn="ctr">
              <a:spcBef>
                <a:spcPts val="300"/>
              </a:spcBef>
              <a:defRPr sz="1650" b="1">
                <a:solidFill>
                  <a:srgbClr val="1E40AF"/>
                </a:solidFill>
                <a:latin typeface="Segoe UI"/>
              </a:defRPr>
            </a:pPr>
            <a:r>
              <a:t>Phân Bổ Thẩm Quyền</a:t>
            </a:r>
          </a:p>
          <a:p>
            <a:pPr>
              <a:spcBef>
                <a:spcPts val="700"/>
              </a:spcBef>
              <a:defRPr sz="1100">
                <a:solidFill>
                  <a:srgbClr val="1E40AF"/>
                </a:solidFill>
              </a:defRPr>
            </a:pPr>
            <a:r>
              <a:rPr sz="1400"/>
              <a:t>► Người Quản lý:Toàn quyền với UC001, UC002, UC003, UC004, UC005, UC007, UC010, UC011, UC014.Tư vấn viên:Thực hiện UC001, UC002 (hồ sơ), UC006 (ghi danh), UC007 (thu phí), UC010, UC012 (AI tư vấn).Giáo viên:Trực tiếp thực hiện UC001, UC008 (điểm danh), UC009 (nhập điểm), UC010, UC013 (AI sinh đề), UC014.Học viên:Tương tác với UC001, UC006, UC007 (xem công nợ), UC010, và trọn bộ 3 tính năng AI (UC012, UC013, UC014).</a:t>
            </a:r>
          </a:p>
          <a:p>
            <a:pPr>
              <a:spcBef>
                <a:spcPts val="700"/>
              </a:spcBef>
              <a:defRPr sz="1100">
                <a:solidFill>
                  <a:srgbClr val="1E40AF"/>
                </a:solidFill>
              </a:defRPr>
            </a:pPr>
            <a:r>
              <a:rPr sz="1400"/>
              <a:t>► Đảm bảo tính bao phủ 100% yêu cầu chức năng không trùng lặp và không xung đột thẩm quyền.</a:t>
            </a:r>
          </a:p>
        </p:txBody>
      </p:sp>
      <p:sp>
        <p:nvSpPr>
          <p:cNvPr id="12" name="Rounded Rectangle 3">
            <a:extLst>
              <a:ext uri="{FF2B5EF4-FFF2-40B4-BE49-F238E27FC236}">
                <a16:creationId xmlns:a16="http://schemas.microsoft.com/office/drawing/2014/main" id="{C94C4A10-A9E4-613B-34C8-0EFB0FCB194E}"/>
              </a:ext>
            </a:extLst>
          </p:cNvPr>
          <p:cNvSpPr/>
          <p:nvPr/>
        </p:nvSpPr>
        <p:spPr>
          <a:xfrm>
            <a:off x="0" y="73152"/>
            <a:ext cx="3634740" cy="310896"/>
          </a:xfrm>
          <a:prstGeom prst="roundRect">
            <a:avLst/>
          </a:prstGeom>
          <a:solidFill>
            <a:srgbClr val="EFF6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1000" b="1">
                <a:solidFill>
                  <a:srgbClr val="1E40AF"/>
                </a:solidFill>
              </a:defRPr>
            </a:pPr>
            <a:r>
              <a:t>CHƯƠNG 2: THIẾT KẾ TÁC NHÂN</a:t>
            </a:r>
          </a:p>
        </p:txBody>
      </p:sp>
      <p:grpSp>
        <p:nvGrpSpPr>
          <p:cNvPr id="4" name="Nhóm 3">
            <a:extLst>
              <a:ext uri="{FF2B5EF4-FFF2-40B4-BE49-F238E27FC236}">
                <a16:creationId xmlns:a16="http://schemas.microsoft.com/office/drawing/2014/main" id="{D94034BA-980F-8521-1513-DE0041D956BB}"/>
              </a:ext>
            </a:extLst>
          </p:cNvPr>
          <p:cNvGrpSpPr/>
          <p:nvPr/>
        </p:nvGrpSpPr>
        <p:grpSpPr>
          <a:xfrm>
            <a:off x="731520" y="1691640"/>
            <a:ext cx="5212080" cy="4526280"/>
            <a:chOff x="731520" y="1691640"/>
            <a:chExt cx="5212080" cy="4526280"/>
          </a:xfrm>
        </p:grpSpPr>
        <p:sp>
          <p:nvSpPr>
            <p:cNvPr id="10" name="Rounded Rectangle 9"/>
            <p:cNvSpPr/>
            <p:nvPr/>
          </p:nvSpPr>
          <p:spPr>
            <a:xfrm>
              <a:off x="731520" y="1691640"/>
              <a:ext cx="5212080" cy="4526280"/>
            </a:xfrm>
            <a:prstGeom prst="roundRect">
              <a:avLst/>
            </a:prstGeom>
            <a:solidFill>
              <a:srgbClr val="FFFF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wrap="square" lIns="219456" tIns="219456" rIns="219456" rtlCol="0" anchor="t"/>
            <a:lstStyle/>
            <a:p>
              <a:pPr algn="ctr"/>
              <a:endParaRPr/>
            </a:p>
          </p:txBody>
        </p:sp>
        <p:pic>
          <p:nvPicPr>
            <p:cNvPr id="13" name="Graphic 1">
              <a:extLst>
                <a:ext uri="{FF2B5EF4-FFF2-40B4-BE49-F238E27FC236}">
                  <a16:creationId xmlns:a16="http://schemas.microsoft.com/office/drawing/2014/main" id="{B7D18818-91D3-DB53-2C1B-72F32BA1CF8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33120" y="1797488"/>
              <a:ext cx="5029200" cy="4279146"/>
            </a:xfrm>
            <a:prstGeom prst="roundRect">
              <a:avLst/>
            </a:prstGeom>
          </p:spPr>
        </p:pic>
      </p:gr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right)">
                                      <p:cBhvr>
                                        <p:cTn id="7" dur="500"/>
                                        <p:tgtEl>
                                          <p:spTgt spid="4"/>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wipe(left)">
                                      <p:cBhvr>
                                        <p:cTn id="1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0" y="82296"/>
            <a:ext cx="3520440" cy="310896"/>
          </a:xfrm>
          <a:prstGeom prst="roundRect">
            <a:avLst/>
          </a:prstGeom>
          <a:solidFill>
            <a:srgbClr val="EFF6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1000" b="1">
                <a:solidFill>
                  <a:srgbClr val="1E40AF"/>
                </a:solidFill>
              </a:defRPr>
            </a:pPr>
            <a:r>
              <a:t>CHƯƠNG 3: ĐẶC TẢ NGHIỆP VỤ</a:t>
            </a:r>
          </a:p>
        </p:txBody>
      </p:sp>
      <p:sp>
        <p:nvSpPr>
          <p:cNvPr id="5" name="TextBox 4"/>
          <p:cNvSpPr txBox="1"/>
          <p:nvPr/>
        </p:nvSpPr>
        <p:spPr>
          <a:xfrm>
            <a:off x="731520" y="713232"/>
            <a:ext cx="10728655" cy="548640"/>
          </a:xfrm>
          <a:prstGeom prst="rect">
            <a:avLst/>
          </a:prstGeom>
          <a:noFill/>
        </p:spPr>
        <p:txBody>
          <a:bodyPr wrap="square" lIns="0" tIns="0" rIns="0" bIns="0" anchor="t">
            <a:spAutoFit/>
          </a:bodyPr>
          <a:lstStyle/>
          <a:p>
            <a:pPr>
              <a:defRPr sz="2500" b="1">
                <a:solidFill>
                  <a:srgbClr val="0F172A"/>
                </a:solidFill>
                <a:latin typeface="Segoe UI"/>
              </a:defRPr>
            </a:pPr>
            <a:r>
              <a:t>Đặc Tả Ca Sử Dụng: Quản Lý Đào Tạo &amp; Nhân Sự</a:t>
            </a:r>
          </a:p>
        </p:txBody>
      </p:sp>
      <p:sp>
        <p:nvSpPr>
          <p:cNvPr id="6" name="TextBox 5"/>
          <p:cNvSpPr txBox="1"/>
          <p:nvPr/>
        </p:nvSpPr>
        <p:spPr>
          <a:xfrm>
            <a:off x="731520" y="1261872"/>
            <a:ext cx="10728655" cy="215444"/>
          </a:xfrm>
          <a:prstGeom prst="rect">
            <a:avLst/>
          </a:prstGeom>
          <a:noFill/>
        </p:spPr>
        <p:txBody>
          <a:bodyPr wrap="square" lIns="0" tIns="0" rIns="0" bIns="0" anchor="t">
            <a:spAutoFit/>
          </a:bodyPr>
          <a:lstStyle/>
          <a:p>
            <a:pPr>
              <a:defRPr sz="1300">
                <a:solidFill>
                  <a:srgbClr val="475569"/>
                </a:solidFill>
                <a:latin typeface="Segoe UI"/>
              </a:defRPr>
            </a:pPr>
            <a:r>
              <a:rPr sz="1400"/>
              <a:t>Chi tiết luồng thực thi các ca sử dụng từ UC001 đến UC005</a:t>
            </a:r>
          </a:p>
        </p:txBody>
      </p:sp>
      <p:sp>
        <p:nvSpPr>
          <p:cNvPr id="7" name="Rectangle 6"/>
          <p:cNvSpPr/>
          <p:nvPr/>
        </p:nvSpPr>
        <p:spPr>
          <a:xfrm>
            <a:off x="731520" y="6327648"/>
            <a:ext cx="10728655" cy="1524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31520" y="1746504"/>
            <a:ext cx="3401568" cy="4526280"/>
          </a:xfrm>
          <a:prstGeom prst="roundRect">
            <a:avLst/>
          </a:prstGeom>
          <a:solidFill>
            <a:srgbClr val="FFFF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wrap="square" lIns="219456" tIns="219456" rIns="219456" rtlCol="0" anchor="t"/>
          <a:lstStyle/>
          <a:p>
            <a:pPr algn="ctr">
              <a:defRPr sz="950" b="1">
                <a:solidFill>
                  <a:srgbClr val="2563EB"/>
                </a:solidFill>
              </a:defRPr>
            </a:pPr>
            <a:r>
              <a:t>UC001 &amp; UC002</a:t>
            </a:r>
          </a:p>
          <a:p>
            <a:pPr>
              <a:spcBef>
                <a:spcPts val="300"/>
              </a:spcBef>
              <a:defRPr sz="1650" b="1">
                <a:solidFill>
                  <a:srgbClr val="1E40AF"/>
                </a:solidFill>
                <a:latin typeface="Segoe UI"/>
              </a:defRPr>
            </a:pPr>
            <a:r>
              <a:t>Xác Thực &amp; Học Viên</a:t>
            </a:r>
          </a:p>
          <a:p>
            <a:pPr>
              <a:spcBef>
                <a:spcPts val="700"/>
              </a:spcBef>
              <a:defRPr sz="1200">
                <a:solidFill>
                  <a:srgbClr val="1E293B"/>
                </a:solidFill>
              </a:defRPr>
            </a:pPr>
            <a:r>
              <a:rPr sz="1400"/>
              <a:t>UC001: Đăng nhập &amp; phân quyền:</a:t>
            </a:r>
          </a:p>
          <a:p>
            <a:pPr>
              <a:spcBef>
                <a:spcPts val="500"/>
              </a:spcBef>
              <a:defRPr sz="1150">
                <a:solidFill>
                  <a:srgbClr val="1E293B"/>
                </a:solidFill>
              </a:defRPr>
            </a:pPr>
            <a:r>
              <a:rPr sz="1400"/>
              <a:t>• Xác thực tài khoản qua mật khẩu băm Argon2.</a:t>
            </a:r>
          </a:p>
          <a:p>
            <a:pPr>
              <a:spcBef>
                <a:spcPts val="500"/>
              </a:spcBef>
              <a:defRPr sz="1150">
                <a:solidFill>
                  <a:srgbClr val="1E293B"/>
                </a:solidFill>
              </a:defRPr>
            </a:pPr>
            <a:r>
              <a:rPr sz="1400"/>
              <a:t>• Cấp JWT token 24h, điều hướng Dashboard đúng vai trò.</a:t>
            </a:r>
          </a:p>
          <a:p>
            <a:pPr>
              <a:spcBef>
                <a:spcPts val="700"/>
              </a:spcBef>
              <a:defRPr sz="1200">
                <a:solidFill>
                  <a:srgbClr val="1E293B"/>
                </a:solidFill>
              </a:defRPr>
            </a:pPr>
            <a:r>
              <a:rPr sz="1400"/>
              <a:t>UC002: Quản lý học viên &amp; CEFR:</a:t>
            </a:r>
          </a:p>
          <a:p>
            <a:pPr>
              <a:spcBef>
                <a:spcPts val="500"/>
              </a:spcBef>
              <a:defRPr sz="1150">
                <a:solidFill>
                  <a:srgbClr val="1E293B"/>
                </a:solidFill>
              </a:defRPr>
            </a:pPr>
            <a:r>
              <a:rPr sz="1400"/>
              <a:t>• Lưu hồ sơ cá nhân và trình độ CEFR (A1-C2).</a:t>
            </a:r>
          </a:p>
          <a:p>
            <a:pPr>
              <a:spcBef>
                <a:spcPts val="500"/>
              </a:spcBef>
              <a:defRPr sz="1150">
                <a:solidFill>
                  <a:srgbClr val="1E293B"/>
                </a:solidFill>
              </a:defRPr>
            </a:pPr>
            <a:r>
              <a:rPr sz="1400"/>
              <a:t>• Lưu mảng JSON khung giờ rảnh phục vụ AI xếp lớp.</a:t>
            </a:r>
          </a:p>
        </p:txBody>
      </p:sp>
      <p:sp>
        <p:nvSpPr>
          <p:cNvPr id="11" name="Rounded Rectangle 10"/>
          <p:cNvSpPr/>
          <p:nvPr/>
        </p:nvSpPr>
        <p:spPr>
          <a:xfrm>
            <a:off x="4389120" y="1691640"/>
            <a:ext cx="3401568" cy="4526280"/>
          </a:xfrm>
          <a:prstGeom prst="roundRect">
            <a:avLst/>
          </a:prstGeom>
          <a:solidFill>
            <a:srgbClr val="FFFF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wrap="square" lIns="219456" tIns="219456" rIns="219456" rtlCol="0" anchor="t"/>
          <a:lstStyle/>
          <a:p>
            <a:pPr algn="ctr">
              <a:defRPr sz="950" b="1">
                <a:solidFill>
                  <a:srgbClr val="2563EB"/>
                </a:solidFill>
              </a:defRPr>
            </a:pPr>
            <a:r>
              <a:t>UC003 &amp; UC004</a:t>
            </a:r>
          </a:p>
          <a:p>
            <a:pPr>
              <a:spcBef>
                <a:spcPts val="300"/>
              </a:spcBef>
              <a:defRPr sz="1650" b="1">
                <a:solidFill>
                  <a:srgbClr val="1E40AF"/>
                </a:solidFill>
                <a:latin typeface="Segoe UI"/>
              </a:defRPr>
            </a:pPr>
            <a:r>
              <a:t>Khóa Học &amp; Mở Lớp Học</a:t>
            </a:r>
          </a:p>
          <a:p>
            <a:pPr>
              <a:spcBef>
                <a:spcPts val="700"/>
              </a:spcBef>
              <a:defRPr sz="1200">
                <a:solidFill>
                  <a:srgbClr val="1E293B"/>
                </a:solidFill>
              </a:defRPr>
            </a:pPr>
            <a:r>
              <a:rPr sz="1400"/>
              <a:t>UC003: Quản lý khóa học:</a:t>
            </a:r>
          </a:p>
          <a:p>
            <a:pPr>
              <a:spcBef>
                <a:spcPts val="500"/>
              </a:spcBef>
              <a:defRPr sz="1150">
                <a:solidFill>
                  <a:srgbClr val="1E293B"/>
                </a:solidFill>
              </a:defRPr>
            </a:pPr>
            <a:r>
              <a:rPr sz="1400"/>
              <a:t>• Định nghĩa mã chuẩn (ENG-B1), thời lượng, học phí.</a:t>
            </a:r>
          </a:p>
          <a:p>
            <a:pPr>
              <a:spcBef>
                <a:spcPts val="500"/>
              </a:spcBef>
              <a:defRPr sz="1150">
                <a:solidFill>
                  <a:srgbClr val="1E293B"/>
                </a:solidFill>
              </a:defRPr>
            </a:pPr>
            <a:r>
              <a:rPr sz="1400"/>
              <a:t>• Khóa đã mở lớp chỉ chuyển ngừng hoạt động, không xóa cứng.</a:t>
            </a:r>
          </a:p>
          <a:p>
            <a:pPr>
              <a:spcBef>
                <a:spcPts val="700"/>
              </a:spcBef>
              <a:defRPr sz="1200">
                <a:solidFill>
                  <a:srgbClr val="1E293B"/>
                </a:solidFill>
              </a:defRPr>
            </a:pPr>
            <a:r>
              <a:rPr sz="1400"/>
              <a:t>UC004: Quản lý lớp &amp; lịch học:</a:t>
            </a:r>
          </a:p>
          <a:p>
            <a:pPr>
              <a:spcBef>
                <a:spcPts val="500"/>
              </a:spcBef>
              <a:defRPr sz="1150">
                <a:solidFill>
                  <a:srgbClr val="1E293B"/>
                </a:solidFill>
              </a:defRPr>
            </a:pPr>
            <a:r>
              <a:rPr sz="1400"/>
              <a:t>• Khống chế sĩ số lớp tối đa nghiêm ngặt 25 học viên.</a:t>
            </a:r>
          </a:p>
          <a:p>
            <a:pPr>
              <a:spcBef>
                <a:spcPts val="500"/>
              </a:spcBef>
              <a:defRPr sz="1150">
                <a:solidFill>
                  <a:srgbClr val="1E293B"/>
                </a:solidFill>
              </a:defRPr>
            </a:pPr>
            <a:r>
              <a:rPr sz="1400"/>
              <a:t>• Kiểm tra chống trùng phòng học trong cùng một ca.</a:t>
            </a:r>
          </a:p>
        </p:txBody>
      </p:sp>
      <p:sp>
        <p:nvSpPr>
          <p:cNvPr id="12" name="Rounded Rectangle 11"/>
          <p:cNvSpPr/>
          <p:nvPr/>
        </p:nvSpPr>
        <p:spPr>
          <a:xfrm>
            <a:off x="8046720" y="1691640"/>
            <a:ext cx="3401568" cy="4526280"/>
          </a:xfrm>
          <a:prstGeom prst="roundRect">
            <a:avLst/>
          </a:prstGeom>
          <a:solidFill>
            <a:srgbClr val="FFFF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wrap="square" lIns="219456" tIns="219456" rIns="219456" rtlCol="0" anchor="t"/>
          <a:lstStyle/>
          <a:p>
            <a:pPr algn="ctr">
              <a:defRPr sz="950" b="1">
                <a:solidFill>
                  <a:srgbClr val="2563EB"/>
                </a:solidFill>
              </a:defRPr>
            </a:pPr>
            <a:r>
              <a:t>UC005</a:t>
            </a:r>
          </a:p>
          <a:p>
            <a:pPr>
              <a:spcBef>
                <a:spcPts val="300"/>
              </a:spcBef>
              <a:defRPr sz="1650" b="1">
                <a:solidFill>
                  <a:srgbClr val="1E40AF"/>
                </a:solidFill>
                <a:latin typeface="Segoe UI"/>
              </a:defRPr>
            </a:pPr>
            <a:r>
              <a:t>Phân Công Giảng Viên</a:t>
            </a:r>
          </a:p>
          <a:p>
            <a:pPr>
              <a:spcBef>
                <a:spcPts val="700"/>
              </a:spcBef>
              <a:defRPr sz="1200">
                <a:solidFill>
                  <a:srgbClr val="1E293B"/>
                </a:solidFill>
              </a:defRPr>
            </a:pPr>
            <a:r>
              <a:t>UC005: Quản lý GV &amp; phân công:</a:t>
            </a:r>
          </a:p>
          <a:p>
            <a:pPr>
              <a:spcBef>
                <a:spcPts val="500"/>
              </a:spcBef>
              <a:defRPr sz="1150">
                <a:solidFill>
                  <a:srgbClr val="1E293B"/>
                </a:solidFill>
              </a:defRPr>
            </a:pPr>
            <a:r>
              <a:t>• Lưu hồ sơ bằng cấp, chuyên môn giảng dạy (IELTS/TOEIC).</a:t>
            </a:r>
          </a:p>
          <a:p>
            <a:pPr>
              <a:spcBef>
                <a:spcPts val="500"/>
              </a:spcBef>
              <a:defRPr sz="1150">
                <a:solidFill>
                  <a:srgbClr val="1E293B"/>
                </a:solidFill>
              </a:defRPr>
            </a:pPr>
            <a:r>
              <a:t>• Phân công 1 giảng viên chính cho mỗi lớp học.</a:t>
            </a:r>
          </a:p>
          <a:p>
            <a:pPr>
              <a:spcBef>
                <a:spcPts val="500"/>
              </a:spcBef>
              <a:defRPr sz="1150">
                <a:solidFill>
                  <a:srgbClr val="1E293B"/>
                </a:solidFill>
              </a:defRPr>
            </a:pPr>
            <a:r>
              <a:t>• Thuật toán kiểm tra lịch trống: Ngăn chặn phân công 1 giáo viên phụ trách 2 lớp học có thời gian trùng nhau.</a:t>
            </a:r>
          </a:p>
          <a:p>
            <a:pPr>
              <a:spcBef>
                <a:spcPts val="500"/>
              </a:spcBef>
              <a:defRPr sz="1150">
                <a:solidFill>
                  <a:srgbClr val="1E293B"/>
                </a:solidFill>
              </a:defRPr>
            </a:pPr>
            <a:r>
              <a:t>• Giáo viên chủ động theo dõi thời khóa biểu dạy cá nhân.</a:t>
            </a:r>
          </a:p>
        </p:txBody>
      </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500" fill="hold"/>
                                        <p:tgtEl>
                                          <p:spTgt spid="12"/>
                                        </p:tgtEl>
                                        <p:attrNameLst>
                                          <p:attrName>ppt_x</p:attrName>
                                        </p:attrNameLst>
                                      </p:cBhvr>
                                      <p:tavLst>
                                        <p:tav tm="0">
                                          <p:val>
                                            <p:strVal val="#ppt_x"/>
                                          </p:val>
                                        </p:tav>
                                        <p:tav tm="100000">
                                          <p:val>
                                            <p:strVal val="#ppt_x"/>
                                          </p:val>
                                        </p:tav>
                                      </p:tavLst>
                                    </p:anim>
                                    <p:anim calcmode="lin" valueType="num">
                                      <p:cBhvr additive="base">
                                        <p:cTn id="1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0" y="73152"/>
            <a:ext cx="3634740" cy="310896"/>
          </a:xfrm>
          <a:prstGeom prst="roundRect">
            <a:avLst/>
          </a:prstGeom>
          <a:solidFill>
            <a:srgbClr val="EFF6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1000" b="1">
                <a:solidFill>
                  <a:srgbClr val="1E40AF"/>
                </a:solidFill>
              </a:defRPr>
            </a:pPr>
            <a:r>
              <a:t>CHƯƠNG 3: QUY TẮC NGHIỆP </a:t>
            </a:r>
            <a:r>
              <a:rPr lang="en-US"/>
              <a:t>V</a:t>
            </a:r>
            <a:r>
              <a:t>Ụ</a:t>
            </a:r>
          </a:p>
        </p:txBody>
      </p:sp>
      <p:sp>
        <p:nvSpPr>
          <p:cNvPr id="5" name="TextBox 4"/>
          <p:cNvSpPr txBox="1"/>
          <p:nvPr/>
        </p:nvSpPr>
        <p:spPr>
          <a:xfrm>
            <a:off x="731520" y="713232"/>
            <a:ext cx="10728655" cy="548640"/>
          </a:xfrm>
          <a:prstGeom prst="rect">
            <a:avLst/>
          </a:prstGeom>
          <a:noFill/>
        </p:spPr>
        <p:txBody>
          <a:bodyPr wrap="square" lIns="0" tIns="0" rIns="0" bIns="0" anchor="t">
            <a:spAutoFit/>
          </a:bodyPr>
          <a:lstStyle/>
          <a:p>
            <a:pPr>
              <a:defRPr sz="2500" b="1">
                <a:solidFill>
                  <a:srgbClr val="0F172A"/>
                </a:solidFill>
                <a:latin typeface="Segoe UI"/>
              </a:defRPr>
            </a:pPr>
            <a:r>
              <a:t>Đặc Tả Nghiệp Vụ: Đăng Ký, Học Phí &amp; Đánh Giá</a:t>
            </a:r>
          </a:p>
        </p:txBody>
      </p:sp>
      <p:sp>
        <p:nvSpPr>
          <p:cNvPr id="6" name="TextBox 5"/>
          <p:cNvSpPr txBox="1"/>
          <p:nvPr/>
        </p:nvSpPr>
        <p:spPr>
          <a:xfrm>
            <a:off x="731520" y="1261872"/>
            <a:ext cx="10728655" cy="215444"/>
          </a:xfrm>
          <a:prstGeom prst="rect">
            <a:avLst/>
          </a:prstGeom>
          <a:noFill/>
        </p:spPr>
        <p:txBody>
          <a:bodyPr wrap="square" lIns="0" tIns="0" rIns="0" bIns="0" anchor="t">
            <a:spAutoFit/>
          </a:bodyPr>
          <a:lstStyle/>
          <a:p>
            <a:pPr>
              <a:defRPr sz="1300">
                <a:solidFill>
                  <a:srgbClr val="475569"/>
                </a:solidFill>
                <a:latin typeface="Segoe UI"/>
              </a:defRPr>
            </a:pPr>
            <a:r>
              <a:rPr sz="1400"/>
              <a:t>Ràng buộc 4 điều kiện ghi danh, công thức tính điểm và công nợ tài chính</a:t>
            </a:r>
          </a:p>
        </p:txBody>
      </p:sp>
      <p:sp>
        <p:nvSpPr>
          <p:cNvPr id="7" name="Rectangle 6"/>
          <p:cNvSpPr/>
          <p:nvPr/>
        </p:nvSpPr>
        <p:spPr>
          <a:xfrm>
            <a:off x="731520" y="6327648"/>
            <a:ext cx="10728655" cy="1524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31520" y="1691640"/>
            <a:ext cx="5212080" cy="4526280"/>
          </a:xfrm>
          <a:prstGeom prst="roundRect">
            <a:avLst/>
          </a:prstGeom>
          <a:solidFill>
            <a:srgbClr val="FFFF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wrap="square" lIns="219456" tIns="219456" rIns="219456" rtlCol="0" anchor="t"/>
          <a:lstStyle/>
          <a:p>
            <a:pPr algn="ctr">
              <a:spcBef>
                <a:spcPts val="300"/>
              </a:spcBef>
              <a:defRPr sz="1650" b="1">
                <a:solidFill>
                  <a:srgbClr val="1E40AF"/>
                </a:solidFill>
                <a:latin typeface="Segoe UI"/>
              </a:defRPr>
            </a:pPr>
            <a:r>
              <a:t>UC006: 4 Ràng Buộc Khi Đăng Ký Lớp</a:t>
            </a:r>
          </a:p>
          <a:p>
            <a:pPr>
              <a:spcBef>
                <a:spcPts val="500"/>
              </a:spcBef>
              <a:defRPr sz="1150">
                <a:solidFill>
                  <a:srgbClr val="1E293B"/>
                </a:solidFill>
              </a:defRPr>
            </a:pPr>
            <a:r>
              <a:rPr sz="1400"/>
              <a:t>• 1. Sĩ số lớp còn chỗ:Sĩ số hiện tại &lt; 25 học viên tối đa.</a:t>
            </a:r>
          </a:p>
          <a:p>
            <a:pPr>
              <a:spcBef>
                <a:spcPts val="500"/>
              </a:spcBef>
              <a:defRPr sz="1150">
                <a:solidFill>
                  <a:srgbClr val="1E293B"/>
                </a:solidFill>
              </a:defRPr>
            </a:pPr>
            <a:r>
              <a:rPr sz="1400"/>
              <a:t>• 2. Chống ghi danh trùng:Học viên chưa từng đăng ký lớp này.</a:t>
            </a:r>
          </a:p>
          <a:p>
            <a:pPr>
              <a:spcBef>
                <a:spcPts val="500"/>
              </a:spcBef>
              <a:defRPr sz="1150">
                <a:solidFill>
                  <a:srgbClr val="1E293B"/>
                </a:solidFill>
              </a:defRPr>
            </a:pPr>
            <a:r>
              <a:rPr sz="1400"/>
              <a:t>• 3. Chuẩn CEFR đầu vào:Trình độ học viên đạt yêu cầu khóa học.</a:t>
            </a:r>
          </a:p>
          <a:p>
            <a:pPr>
              <a:spcBef>
                <a:spcPts val="500"/>
              </a:spcBef>
              <a:defRPr sz="1150">
                <a:solidFill>
                  <a:srgbClr val="1E293B"/>
                </a:solidFill>
              </a:defRPr>
            </a:pPr>
            <a:r>
              <a:rPr sz="1400"/>
              <a:t>• 4. Chống trùng lịch:Lịch học không xung đột với các lớp đang học.</a:t>
            </a:r>
          </a:p>
          <a:p>
            <a:pPr>
              <a:spcBef>
                <a:spcPts val="700"/>
              </a:spcBef>
              <a:defRPr sz="1100">
                <a:solidFill>
                  <a:srgbClr val="1E40AF"/>
                </a:solidFill>
              </a:defRPr>
            </a:pPr>
            <a:r>
              <a:rPr sz="1400"/>
              <a:t>► UC007: Quản lý học phí tự động:Ngay khi đăng ký thành công, hệ thống tự động sinh 01 Hóa đơn học phí (Quan hệ 1-1). Hỗ trợ thanh toán nhiều đợt, tự động cập nhật trạng thái sang "ĐÃ HOÀN THÀNH" khi tất toán.</a:t>
            </a:r>
          </a:p>
        </p:txBody>
      </p:sp>
      <p:sp>
        <p:nvSpPr>
          <p:cNvPr id="11" name="Rounded Rectangle 10"/>
          <p:cNvSpPr/>
          <p:nvPr/>
        </p:nvSpPr>
        <p:spPr>
          <a:xfrm>
            <a:off x="6248095" y="1691640"/>
            <a:ext cx="5212080" cy="4526280"/>
          </a:xfrm>
          <a:prstGeom prst="roundRect">
            <a:avLst/>
          </a:prstGeom>
          <a:solidFill>
            <a:srgbClr val="FFFF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wrap="square" lIns="219456" tIns="219456" rIns="219456" rtlCol="0" anchor="t"/>
          <a:lstStyle/>
          <a:p>
            <a:pPr algn="ctr">
              <a:spcBef>
                <a:spcPts val="300"/>
              </a:spcBef>
              <a:defRPr sz="1650" b="1">
                <a:solidFill>
                  <a:srgbClr val="1E40AF"/>
                </a:solidFill>
                <a:latin typeface="Segoe UI"/>
              </a:defRPr>
            </a:pPr>
            <a:r>
              <a:t>UC008 &amp; UC009: Chuyên Cần &amp; Công Thức Điểm</a:t>
            </a:r>
          </a:p>
          <a:p>
            <a:pPr>
              <a:spcBef>
                <a:spcPts val="700"/>
              </a:spcBef>
              <a:defRPr sz="1200">
                <a:solidFill>
                  <a:srgbClr val="1E293B"/>
                </a:solidFill>
              </a:defRPr>
            </a:pPr>
            <a:r>
              <a:rPr sz="1400"/>
              <a:t>UC008: Điểm danh buổi học:Giáo viên ghi nhận 1 trong 4 trạng thái cho từng học viên:Có mặt, Đi muộn, Có phép, Vắng không phép.</a:t>
            </a:r>
          </a:p>
          <a:p>
            <a:pPr>
              <a:spcBef>
                <a:spcPts val="700"/>
              </a:spcBef>
              <a:defRPr sz="1100">
                <a:solidFill>
                  <a:srgbClr val="1E40AF"/>
                </a:solidFill>
              </a:defRPr>
            </a:pPr>
            <a:r>
              <a:rPr sz="1400"/>
              <a:t>► Công Thức Tính Điểm Tổng Kết (Thang 100):Điểm TK = 20% Chuyên Cần + 30% Giữa Kỳ + 50% Cuối KỳTiêu chuẩn xét ĐẠT khóa học:Điểm Tổng Kết ≥ 50.00 điểm VÀ Điểm Chuyên Cần ≥ 80.00 điểm (tương đương tham gia tối thiểu 80% số buổi học).</a:t>
            </a:r>
          </a:p>
        </p:txBody>
      </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4"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heel(4)">
                                      <p:cBhvr>
                                        <p:cTn id="7" dur="1000"/>
                                        <p:tgtEl>
                                          <p:spTgt spid="10"/>
                                        </p:tgtEl>
                                      </p:cBhvr>
                                    </p:animEffect>
                                  </p:childTnLst>
                                </p:cTn>
                              </p:par>
                              <p:par>
                                <p:cTn id="8" presetID="21" presetClass="entr" presetSubtype="4"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wheel(4)">
                                      <p:cBhvr>
                                        <p:cTn id="10"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0" y="100584"/>
            <a:ext cx="3977639" cy="310896"/>
          </a:xfrm>
          <a:prstGeom prst="roundRect">
            <a:avLst/>
          </a:prstGeom>
          <a:solidFill>
            <a:srgbClr val="EFF6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1000" b="1">
                <a:solidFill>
                  <a:srgbClr val="1E40AF"/>
                </a:solidFill>
              </a:defRPr>
            </a:pPr>
            <a:r>
              <a:t>CHƯƠNG </a:t>
            </a:r>
            <a:r>
              <a:rPr lang="en-US"/>
              <a:t>4</a:t>
            </a:r>
            <a:r>
              <a:t>: THIẾT KẾ LUỒNG XỬ LÝ</a:t>
            </a:r>
          </a:p>
        </p:txBody>
      </p:sp>
      <p:sp>
        <p:nvSpPr>
          <p:cNvPr id="5" name="TextBox 4"/>
          <p:cNvSpPr txBox="1"/>
          <p:nvPr/>
        </p:nvSpPr>
        <p:spPr>
          <a:xfrm>
            <a:off x="731520" y="713232"/>
            <a:ext cx="10728655" cy="548640"/>
          </a:xfrm>
          <a:prstGeom prst="rect">
            <a:avLst/>
          </a:prstGeom>
          <a:noFill/>
        </p:spPr>
        <p:txBody>
          <a:bodyPr wrap="square" lIns="0" tIns="0" rIns="0" bIns="0" anchor="t">
            <a:spAutoFit/>
          </a:bodyPr>
          <a:lstStyle/>
          <a:p>
            <a:pPr>
              <a:defRPr sz="2500" b="1">
                <a:solidFill>
                  <a:srgbClr val="0F172A"/>
                </a:solidFill>
                <a:latin typeface="Segoe UI"/>
              </a:defRPr>
            </a:pPr>
            <a:r>
              <a:t>Thiết Kế Biểu Đồ Trình Tự Chuẩn Kiến Trúc BCE</a:t>
            </a:r>
          </a:p>
        </p:txBody>
      </p:sp>
      <p:sp>
        <p:nvSpPr>
          <p:cNvPr id="6" name="TextBox 5"/>
          <p:cNvSpPr txBox="1"/>
          <p:nvPr/>
        </p:nvSpPr>
        <p:spPr>
          <a:xfrm>
            <a:off x="746455" y="1229804"/>
            <a:ext cx="10728655" cy="215444"/>
          </a:xfrm>
          <a:prstGeom prst="rect">
            <a:avLst/>
          </a:prstGeom>
          <a:noFill/>
        </p:spPr>
        <p:txBody>
          <a:bodyPr wrap="square" lIns="0" tIns="0" rIns="0" bIns="0" anchor="t">
            <a:spAutoFit/>
          </a:bodyPr>
          <a:lstStyle/>
          <a:p>
            <a:pPr>
              <a:defRPr sz="1300">
                <a:solidFill>
                  <a:srgbClr val="475569"/>
                </a:solidFill>
                <a:latin typeface="Segoe UI"/>
              </a:defRPr>
            </a:pPr>
            <a:r>
              <a:rPr sz="1400"/>
              <a:t>Áp dụng mô hình chuẩn Boundary - Control - Entity cho các ca sử dụng then chốt</a:t>
            </a:r>
          </a:p>
        </p:txBody>
      </p:sp>
      <p:sp>
        <p:nvSpPr>
          <p:cNvPr id="7" name="Rectangle 6"/>
          <p:cNvSpPr/>
          <p:nvPr/>
        </p:nvSpPr>
        <p:spPr>
          <a:xfrm>
            <a:off x="731520" y="6327648"/>
            <a:ext cx="10728655" cy="1524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6248095" y="1691640"/>
            <a:ext cx="5212080" cy="4526280"/>
          </a:xfrm>
          <a:prstGeom prst="roundRect">
            <a:avLst/>
          </a:prstGeom>
          <a:solidFill>
            <a:srgbClr val="FFFF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wrap="square" lIns="219456" tIns="219456" rIns="219456" rtlCol="0" anchor="t"/>
          <a:lstStyle/>
          <a:p>
            <a:pPr algn="ctr">
              <a:spcBef>
                <a:spcPts val="300"/>
              </a:spcBef>
              <a:defRPr sz="1650" b="1">
                <a:solidFill>
                  <a:srgbClr val="1E40AF"/>
                </a:solidFill>
                <a:latin typeface="Segoe UI"/>
              </a:defRPr>
            </a:pPr>
            <a:r>
              <a:t>Ưu Điểm Của Mô Hình BCE</a:t>
            </a:r>
          </a:p>
          <a:p>
            <a:pPr>
              <a:spcBef>
                <a:spcPts val="700"/>
              </a:spcBef>
              <a:defRPr sz="1200">
                <a:solidFill>
                  <a:srgbClr val="1E293B"/>
                </a:solidFill>
              </a:defRPr>
            </a:pPr>
            <a:r>
              <a:rPr sz="1400"/>
              <a:t>Mô hình Boundary - Control - Entity đảm bảo tính phân tách trách nhiệm tuyệt đối giữa các tầng công nghệ:</a:t>
            </a:r>
          </a:p>
          <a:p>
            <a:pPr>
              <a:spcBef>
                <a:spcPts val="500"/>
              </a:spcBef>
              <a:defRPr sz="1150">
                <a:solidFill>
                  <a:srgbClr val="1E293B"/>
                </a:solidFill>
              </a:defRPr>
            </a:pPr>
            <a:r>
              <a:rPr sz="1400"/>
              <a:t>• Boundary (Giao diện):Đại diện cho các trang Form trên Next.js SPA, chịu trách nhiệm thu thập sự kiện người dùng và hiển thị thông báo.</a:t>
            </a:r>
          </a:p>
          <a:p>
            <a:pPr>
              <a:spcBef>
                <a:spcPts val="500"/>
              </a:spcBef>
              <a:defRPr sz="1150">
                <a:solidFill>
                  <a:srgbClr val="1E293B"/>
                </a:solidFill>
              </a:defRPr>
            </a:pPr>
            <a:r>
              <a:rPr sz="1400"/>
              <a:t>• Control (Điều khiển):Tương ứng với Service / Controller tại NestJS Backend, thực thi các nghiệp vụ kiểm tra logic và giao dịch ACID.</a:t>
            </a:r>
          </a:p>
          <a:p>
            <a:pPr>
              <a:spcBef>
                <a:spcPts val="500"/>
              </a:spcBef>
              <a:defRPr sz="1150">
                <a:solidFill>
                  <a:srgbClr val="1E293B"/>
                </a:solidFill>
              </a:defRPr>
            </a:pPr>
            <a:r>
              <a:rPr sz="1400"/>
              <a:t>• Entity (Thực thể):Tương ứng với Model CSDL trong PostgreSQL thông qua Prisma ORM, đảm bảo tính toàn vẹn dữ liệu.</a:t>
            </a:r>
          </a:p>
          <a:p>
            <a:pPr>
              <a:spcBef>
                <a:spcPts val="700"/>
              </a:spcBef>
              <a:defRPr sz="1100">
                <a:solidFill>
                  <a:srgbClr val="1E40AF"/>
                </a:solidFill>
              </a:defRPr>
            </a:pPr>
            <a:r>
              <a:rPr sz="1400"/>
              <a:t>► Tác nhân người dùngtuyệt đối không tương tác trực tiếp với dữ liệu, mọi yêu cầu đều bắt buộc đi qua tầng kiểm soát nghiệp vụ an toàn.</a:t>
            </a:r>
          </a:p>
        </p:txBody>
      </p:sp>
      <p:grpSp>
        <p:nvGrpSpPr>
          <p:cNvPr id="8" name="Nhóm 7">
            <a:extLst>
              <a:ext uri="{FF2B5EF4-FFF2-40B4-BE49-F238E27FC236}">
                <a16:creationId xmlns:a16="http://schemas.microsoft.com/office/drawing/2014/main" id="{FDC6220B-EE3F-D25E-FC99-A5F83108BC37}"/>
              </a:ext>
            </a:extLst>
          </p:cNvPr>
          <p:cNvGrpSpPr/>
          <p:nvPr/>
        </p:nvGrpSpPr>
        <p:grpSpPr>
          <a:xfrm>
            <a:off x="467360" y="1691640"/>
            <a:ext cx="5628640" cy="4526280"/>
            <a:chOff x="467360" y="1691640"/>
            <a:chExt cx="5628640" cy="4526280"/>
          </a:xfrm>
        </p:grpSpPr>
        <p:sp>
          <p:nvSpPr>
            <p:cNvPr id="10" name="Rounded Rectangle 9"/>
            <p:cNvSpPr/>
            <p:nvPr/>
          </p:nvSpPr>
          <p:spPr>
            <a:xfrm>
              <a:off x="467360" y="1691640"/>
              <a:ext cx="5628640" cy="4526280"/>
            </a:xfrm>
            <a:prstGeom prst="roundRect">
              <a:avLst/>
            </a:prstGeom>
            <a:solidFill>
              <a:srgbClr val="FFFF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wrap="square" lIns="219456" tIns="219456" rIns="219456" rtlCol="0" anchor="t"/>
            <a:lstStyle/>
            <a:p>
              <a:pPr algn="ctr"/>
              <a:endParaRPr/>
            </a:p>
          </p:txBody>
        </p:sp>
        <p:pic>
          <p:nvPicPr>
            <p:cNvPr id="13" name="Hình ảnh 12">
              <a:extLst>
                <a:ext uri="{FF2B5EF4-FFF2-40B4-BE49-F238E27FC236}">
                  <a16:creationId xmlns:a16="http://schemas.microsoft.com/office/drawing/2014/main" id="{BEA77C88-9BE5-83BD-B7BF-4E70BA78D371}"/>
                </a:ext>
              </a:extLst>
            </p:cNvPr>
            <p:cNvPicPr>
              <a:picLocks noChangeAspect="1"/>
            </p:cNvPicPr>
            <p:nvPr/>
          </p:nvPicPr>
          <p:blipFill>
            <a:blip r:embed="rId2"/>
            <a:stretch>
              <a:fillRect/>
            </a:stretch>
          </p:blipFill>
          <p:spPr>
            <a:xfrm>
              <a:off x="619760" y="2286000"/>
              <a:ext cx="5414591" cy="3363230"/>
            </a:xfrm>
            <a:prstGeom prst="rect">
              <a:avLst/>
            </a:prstGeom>
          </p:spPr>
        </p:pic>
      </p:gr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fltVal val="0"/>
                                          </p:val>
                                        </p:tav>
                                        <p:tav tm="100000">
                                          <p:val>
                                            <p:strVal val="#ppt_w"/>
                                          </p:val>
                                        </p:tav>
                                      </p:tavLst>
                                    </p:anim>
                                    <p:anim calcmode="lin" valueType="num">
                                      <p:cBhvr>
                                        <p:cTn id="8" dur="1000" fill="hold"/>
                                        <p:tgtEl>
                                          <p:spTgt spid="8"/>
                                        </p:tgtEl>
                                        <p:attrNameLst>
                                          <p:attrName>ppt_h</p:attrName>
                                        </p:attrNameLst>
                                      </p:cBhvr>
                                      <p:tavLst>
                                        <p:tav tm="0">
                                          <p:val>
                                            <p:fltVal val="0"/>
                                          </p:val>
                                        </p:tav>
                                        <p:tav tm="100000">
                                          <p:val>
                                            <p:strVal val="#ppt_h"/>
                                          </p:val>
                                        </p:tav>
                                      </p:tavLst>
                                    </p:anim>
                                    <p:animEffect transition="in" filter="fade">
                                      <p:cBhvr>
                                        <p:cTn id="9" dur="1000"/>
                                        <p:tgtEl>
                                          <p:spTgt spid="8"/>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p:cTn id="12" dur="1000" fill="hold"/>
                                        <p:tgtEl>
                                          <p:spTgt spid="11"/>
                                        </p:tgtEl>
                                        <p:attrNameLst>
                                          <p:attrName>ppt_w</p:attrName>
                                        </p:attrNameLst>
                                      </p:cBhvr>
                                      <p:tavLst>
                                        <p:tav tm="0">
                                          <p:val>
                                            <p:fltVal val="0"/>
                                          </p:val>
                                        </p:tav>
                                        <p:tav tm="100000">
                                          <p:val>
                                            <p:strVal val="#ppt_w"/>
                                          </p:val>
                                        </p:tav>
                                      </p:tavLst>
                                    </p:anim>
                                    <p:anim calcmode="lin" valueType="num">
                                      <p:cBhvr>
                                        <p:cTn id="13" dur="1000" fill="hold"/>
                                        <p:tgtEl>
                                          <p:spTgt spid="11"/>
                                        </p:tgtEl>
                                        <p:attrNameLst>
                                          <p:attrName>ppt_h</p:attrName>
                                        </p:attrNameLst>
                                      </p:cBhvr>
                                      <p:tavLst>
                                        <p:tav tm="0">
                                          <p:val>
                                            <p:fltVal val="0"/>
                                          </p:val>
                                        </p:tav>
                                        <p:tav tm="100000">
                                          <p:val>
                                            <p:strVal val="#ppt_h"/>
                                          </p:val>
                                        </p:tav>
                                      </p:tavLst>
                                    </p:anim>
                                    <p:animEffect transition="in" filter="fade">
                                      <p:cBhvr>
                                        <p:cTn id="14"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0" y="100584"/>
            <a:ext cx="3190240" cy="310896"/>
          </a:xfrm>
          <a:prstGeom prst="roundRect">
            <a:avLst/>
          </a:prstGeom>
          <a:solidFill>
            <a:srgbClr val="EFF6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1000" b="1">
                <a:solidFill>
                  <a:srgbClr val="1E40AF"/>
                </a:solidFill>
              </a:defRPr>
            </a:pPr>
            <a:r>
              <a:t>CHƯƠNG 5: THIẾT KẾ HƯỚNG ĐỐI TƯỢNG</a:t>
            </a:r>
          </a:p>
        </p:txBody>
      </p:sp>
      <p:sp>
        <p:nvSpPr>
          <p:cNvPr id="5" name="TextBox 4"/>
          <p:cNvSpPr txBox="1"/>
          <p:nvPr/>
        </p:nvSpPr>
        <p:spPr>
          <a:xfrm>
            <a:off x="749552" y="713232"/>
            <a:ext cx="10728655" cy="548640"/>
          </a:xfrm>
          <a:prstGeom prst="rect">
            <a:avLst/>
          </a:prstGeom>
          <a:noFill/>
        </p:spPr>
        <p:txBody>
          <a:bodyPr wrap="square" lIns="0" tIns="0" rIns="0" bIns="0" anchor="t">
            <a:spAutoFit/>
          </a:bodyPr>
          <a:lstStyle/>
          <a:p>
            <a:pPr>
              <a:defRPr sz="2500" b="1">
                <a:solidFill>
                  <a:srgbClr val="0F172A"/>
                </a:solidFill>
                <a:latin typeface="Segoe UI"/>
              </a:defRPr>
            </a:pPr>
            <a:r>
              <a:t>Biểu Đồ Lớp (Class Diagram) Chuẩn OOP</a:t>
            </a:r>
          </a:p>
        </p:txBody>
      </p:sp>
      <p:sp>
        <p:nvSpPr>
          <p:cNvPr id="6" name="TextBox 5"/>
          <p:cNvSpPr txBox="1"/>
          <p:nvPr/>
        </p:nvSpPr>
        <p:spPr>
          <a:xfrm>
            <a:off x="731520" y="1261872"/>
            <a:ext cx="10728655" cy="215444"/>
          </a:xfrm>
          <a:prstGeom prst="rect">
            <a:avLst/>
          </a:prstGeom>
          <a:noFill/>
        </p:spPr>
        <p:txBody>
          <a:bodyPr wrap="square" lIns="0" tIns="0" rIns="0" bIns="0" anchor="t">
            <a:spAutoFit/>
          </a:bodyPr>
          <a:lstStyle/>
          <a:p>
            <a:pPr>
              <a:defRPr sz="1300">
                <a:solidFill>
                  <a:srgbClr val="475569"/>
                </a:solidFill>
                <a:latin typeface="Segoe UI"/>
              </a:defRPr>
            </a:pPr>
            <a:r>
              <a:rPr sz="1400"/>
              <a:t>Cấu trúc thực thể chuẩn hóa, loại bỏ trùng lặp kế thừa và tích hợp giám sát AI</a:t>
            </a:r>
          </a:p>
        </p:txBody>
      </p:sp>
      <p:sp>
        <p:nvSpPr>
          <p:cNvPr id="7" name="Rectangle 6"/>
          <p:cNvSpPr/>
          <p:nvPr/>
        </p:nvSpPr>
        <p:spPr>
          <a:xfrm>
            <a:off x="731520" y="6327648"/>
            <a:ext cx="10728655" cy="1524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31520" y="1691640"/>
            <a:ext cx="3401568" cy="4526280"/>
          </a:xfrm>
          <a:prstGeom prst="roundRect">
            <a:avLst/>
          </a:prstGeom>
          <a:solidFill>
            <a:srgbClr val="FFFF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wrap="square" lIns="219456" tIns="219456" rIns="219456" rtlCol="0" anchor="t"/>
          <a:lstStyle/>
          <a:p>
            <a:pPr algn="ctr">
              <a:spcBef>
                <a:spcPts val="300"/>
              </a:spcBef>
              <a:defRPr sz="1650" b="1">
                <a:solidFill>
                  <a:srgbClr val="1E40AF"/>
                </a:solidFill>
                <a:latin typeface="Segoe UI"/>
              </a:defRPr>
            </a:pPr>
            <a:r>
              <a:t>Lớp Cha NguoiDung &amp; Kế Thừa</a:t>
            </a:r>
          </a:p>
          <a:p>
            <a:pPr>
              <a:spcBef>
                <a:spcPts val="700"/>
              </a:spcBef>
              <a:defRPr sz="1200">
                <a:solidFill>
                  <a:srgbClr val="1E293B"/>
                </a:solidFill>
              </a:defRPr>
            </a:pPr>
            <a:r>
              <a:rPr sz="1400"/>
              <a:t>NguoiDung:Quản lý id, tenDangNhap, matKhauMaHoa (Argon2), vaiTro, email, dangHoatDong.</a:t>
            </a:r>
          </a:p>
          <a:p>
            <a:pPr>
              <a:spcBef>
                <a:spcPts val="700"/>
              </a:spcBef>
              <a:defRPr sz="1100">
                <a:solidFill>
                  <a:srgbClr val="1E40AF"/>
                </a:solidFill>
              </a:defRPr>
            </a:pPr>
            <a:r>
              <a:rPr sz="1400"/>
              <a:t>► 4 Lớp con kế thừa:QuanLy:Tham chiếu khóa học, thống kê.GiaoVien:Chuyên môn, bằng cấp, lịch dạy.HocVien:Trình độ CEFR, mảng lịch rảnh.TuVanVien:Mã NV, ca trực, nghiệp vụ thu phí.</a:t>
            </a:r>
          </a:p>
        </p:txBody>
      </p:sp>
      <p:sp>
        <p:nvSpPr>
          <p:cNvPr id="11" name="Rounded Rectangle 10"/>
          <p:cNvSpPr/>
          <p:nvPr/>
        </p:nvSpPr>
        <p:spPr>
          <a:xfrm>
            <a:off x="4389120" y="1691640"/>
            <a:ext cx="3401568" cy="4526280"/>
          </a:xfrm>
          <a:prstGeom prst="roundRect">
            <a:avLst/>
          </a:prstGeom>
          <a:solidFill>
            <a:srgbClr val="FFFF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wrap="square" lIns="219456" tIns="219456" rIns="219456" rtlCol="0" anchor="t"/>
          <a:lstStyle/>
          <a:p>
            <a:pPr algn="ctr">
              <a:spcBef>
                <a:spcPts val="300"/>
              </a:spcBef>
              <a:defRPr sz="1650" b="1">
                <a:solidFill>
                  <a:srgbClr val="1E40AF"/>
                </a:solidFill>
                <a:latin typeface="Segoe UI"/>
              </a:defRPr>
            </a:pPr>
            <a:r>
              <a:t>Khóa Học, Lớp &amp; Tài Chính</a:t>
            </a:r>
          </a:p>
          <a:p>
            <a:pPr>
              <a:spcBef>
                <a:spcPts val="700"/>
              </a:spcBef>
              <a:defRPr sz="1200">
                <a:solidFill>
                  <a:srgbClr val="1E293B"/>
                </a:solidFill>
              </a:defRPr>
            </a:pPr>
            <a:r>
              <a:rPr sz="1400"/>
              <a:t>KhoaHoc (1) — (N) LopHoc:</a:t>
            </a:r>
          </a:p>
          <a:p>
            <a:pPr>
              <a:spcBef>
                <a:spcPts val="500"/>
              </a:spcBef>
              <a:defRPr sz="1150">
                <a:solidFill>
                  <a:srgbClr val="1E293B"/>
                </a:solidFill>
              </a:defRPr>
            </a:pPr>
            <a:r>
              <a:rPr sz="1400"/>
              <a:t>• Mỗi lớp cóLichHoc(thứ, giờ, phòng).</a:t>
            </a:r>
          </a:p>
          <a:p>
            <a:pPr>
              <a:spcBef>
                <a:spcPts val="500"/>
              </a:spcBef>
              <a:defRPr sz="1150">
                <a:solidFill>
                  <a:srgbClr val="1E293B"/>
                </a:solidFill>
              </a:defRPr>
            </a:pPr>
            <a:r>
              <a:rPr sz="1400"/>
              <a:t>• Liên kếtPhanCongGiaoVien(chống trùng giờ).</a:t>
            </a:r>
          </a:p>
          <a:p>
            <a:pPr>
              <a:spcBef>
                <a:spcPts val="700"/>
              </a:spcBef>
              <a:defRPr sz="1200">
                <a:solidFill>
                  <a:srgbClr val="1E293B"/>
                </a:solidFill>
              </a:defRPr>
            </a:pPr>
            <a:r>
              <a:rPr sz="1400"/>
              <a:t>DangKyHoc (1) — (1) HoaDon:</a:t>
            </a:r>
          </a:p>
          <a:p>
            <a:pPr>
              <a:spcBef>
                <a:spcPts val="500"/>
              </a:spcBef>
              <a:defRPr sz="1150">
                <a:solidFill>
                  <a:srgbClr val="1E293B"/>
                </a:solidFill>
              </a:defRPr>
            </a:pPr>
            <a:r>
              <a:rPr sz="1400"/>
              <a:t>• Hóa đơn gắn liền với đăng ký của học viên.</a:t>
            </a:r>
          </a:p>
          <a:p>
            <a:pPr>
              <a:spcBef>
                <a:spcPts val="500"/>
              </a:spcBef>
              <a:defRPr sz="1150">
                <a:solidFill>
                  <a:srgbClr val="1E293B"/>
                </a:solidFill>
              </a:defRPr>
            </a:pPr>
            <a:r>
              <a:rPr sz="1400"/>
              <a:t>• Hóa đơn (1) — (N)ThanhToan(cho phép trả nhiều đợt).</a:t>
            </a:r>
          </a:p>
        </p:txBody>
      </p:sp>
      <p:sp>
        <p:nvSpPr>
          <p:cNvPr id="12" name="Rounded Rectangle 11"/>
          <p:cNvSpPr/>
          <p:nvPr/>
        </p:nvSpPr>
        <p:spPr>
          <a:xfrm>
            <a:off x="8046720" y="1691640"/>
            <a:ext cx="3401568" cy="4526280"/>
          </a:xfrm>
          <a:prstGeom prst="roundRect">
            <a:avLst/>
          </a:prstGeom>
          <a:solidFill>
            <a:srgbClr val="FFFF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wrap="square" lIns="219456" tIns="219456" rIns="219456" rtlCol="0" anchor="t"/>
          <a:lstStyle/>
          <a:p>
            <a:pPr algn="ctr">
              <a:spcBef>
                <a:spcPts val="300"/>
              </a:spcBef>
              <a:defRPr sz="1650" b="1">
                <a:solidFill>
                  <a:srgbClr val="1E40AF"/>
                </a:solidFill>
                <a:latin typeface="Segoe UI"/>
              </a:defRPr>
            </a:pPr>
            <a:r>
              <a:t>Điểm Danh, Kết Quả &amp; AI</a:t>
            </a:r>
          </a:p>
          <a:p>
            <a:pPr>
              <a:spcBef>
                <a:spcPts val="700"/>
              </a:spcBef>
              <a:defRPr sz="1200">
                <a:solidFill>
                  <a:srgbClr val="1E293B"/>
                </a:solidFill>
              </a:defRPr>
            </a:pPr>
            <a:r>
              <a:rPr sz="1400"/>
              <a:t>BuoiHoc (1) — (N) BanGhiDiemDanh:</a:t>
            </a:r>
          </a:p>
          <a:p>
            <a:pPr>
              <a:spcBef>
                <a:spcPts val="500"/>
              </a:spcBef>
              <a:defRPr sz="1150">
                <a:solidFill>
                  <a:srgbClr val="1E293B"/>
                </a:solidFill>
              </a:defRPr>
            </a:pPr>
            <a:r>
              <a:rPr sz="1400"/>
              <a:t>• Quản lý chính xác từng buổi học và 4 trạng thái chuyên cần.</a:t>
            </a:r>
          </a:p>
          <a:p>
            <a:pPr>
              <a:spcBef>
                <a:spcPts val="700"/>
              </a:spcBef>
              <a:defRPr sz="1200">
                <a:solidFill>
                  <a:srgbClr val="1E293B"/>
                </a:solidFill>
              </a:defRPr>
            </a:pPr>
            <a:r>
              <a:rPr sz="1400"/>
              <a:t>KetQuaHocTap:Tính điểm tổng kết 20/30/50 và xếp loại ĐẠT.</a:t>
            </a:r>
          </a:p>
          <a:p>
            <a:pPr>
              <a:spcBef>
                <a:spcPts val="700"/>
              </a:spcBef>
              <a:defRPr sz="1200">
                <a:solidFill>
                  <a:srgbClr val="1E293B"/>
                </a:solidFill>
              </a:defRPr>
            </a:pPr>
            <a:r>
              <a:rPr sz="1400"/>
              <a:t>YeuCauAI:Lưu vết toàn bộ lượt gọi Google Gemini (Prompt, response, latencyMs, trạng thái Fallback).</a:t>
            </a:r>
          </a:p>
        </p:txBody>
      </p:sp>
      <p:pic>
        <p:nvPicPr>
          <p:cNvPr id="9" name="Đồ họa 8">
            <a:extLst>
              <a:ext uri="{FF2B5EF4-FFF2-40B4-BE49-F238E27FC236}">
                <a16:creationId xmlns:a16="http://schemas.microsoft.com/office/drawing/2014/main" id="{FD2C06EB-DF84-89BB-4FA9-BDCA5F904C8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363037" y="1261872"/>
            <a:ext cx="7465925" cy="4968436"/>
          </a:xfrm>
          <a:prstGeom prst="roundRect">
            <a:avLst/>
          </a:prstGeom>
        </p:spPr>
      </p:pic>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1000"/>
                                        <p:tgtEl>
                                          <p:spTgt spid="11"/>
                                        </p:tgtEl>
                                      </p:cBhvr>
                                    </p:animEffect>
                                    <p:anim calcmode="lin" valueType="num">
                                      <p:cBhvr>
                                        <p:cTn id="13" dur="1000" fill="hold"/>
                                        <p:tgtEl>
                                          <p:spTgt spid="11"/>
                                        </p:tgtEl>
                                        <p:attrNameLst>
                                          <p:attrName>ppt_x</p:attrName>
                                        </p:attrNameLst>
                                      </p:cBhvr>
                                      <p:tavLst>
                                        <p:tav tm="0">
                                          <p:val>
                                            <p:strVal val="#ppt_x"/>
                                          </p:val>
                                        </p:tav>
                                        <p:tav tm="100000">
                                          <p:val>
                                            <p:strVal val="#ppt_x"/>
                                          </p:val>
                                        </p:tav>
                                      </p:tavLst>
                                    </p:anim>
                                    <p:anim calcmode="lin" valueType="num">
                                      <p:cBhvr>
                                        <p:cTn id="14" dur="1000" fill="hold"/>
                                        <p:tgtEl>
                                          <p:spTgt spid="11"/>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1000"/>
                                        <p:tgtEl>
                                          <p:spTgt spid="12"/>
                                        </p:tgtEl>
                                      </p:cBhvr>
                                    </p:animEffect>
                                    <p:anim calcmode="lin" valueType="num">
                                      <p:cBhvr>
                                        <p:cTn id="18" dur="1000" fill="hold"/>
                                        <p:tgtEl>
                                          <p:spTgt spid="12"/>
                                        </p:tgtEl>
                                        <p:attrNameLst>
                                          <p:attrName>ppt_x</p:attrName>
                                        </p:attrNameLst>
                                      </p:cBhvr>
                                      <p:tavLst>
                                        <p:tav tm="0">
                                          <p:val>
                                            <p:strVal val="#ppt_x"/>
                                          </p:val>
                                        </p:tav>
                                        <p:tav tm="100000">
                                          <p:val>
                                            <p:strVal val="#ppt_x"/>
                                          </p:val>
                                        </p:tav>
                                      </p:tavLst>
                                    </p:anim>
                                    <p:anim calcmode="lin" valueType="num">
                                      <p:cBhvr>
                                        <p:cTn id="1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xit" presetSubtype="0" fill="hold" grpId="1" nodeType="clickEffect">
                                  <p:stCondLst>
                                    <p:cond delay="0"/>
                                  </p:stCondLst>
                                  <p:childTnLst>
                                    <p:animEffect transition="out" filter="fade">
                                      <p:cBhvr>
                                        <p:cTn id="23" dur="500"/>
                                        <p:tgtEl>
                                          <p:spTgt spid="10"/>
                                        </p:tgtEl>
                                      </p:cBhvr>
                                    </p:animEffect>
                                    <p:anim calcmode="lin" valueType="num">
                                      <p:cBhvr>
                                        <p:cTn id="24" dur="500"/>
                                        <p:tgtEl>
                                          <p:spTgt spid="10"/>
                                        </p:tgtEl>
                                        <p:attrNameLst>
                                          <p:attrName>ppt_x</p:attrName>
                                        </p:attrNameLst>
                                      </p:cBhvr>
                                      <p:tavLst>
                                        <p:tav tm="0">
                                          <p:val>
                                            <p:strVal val="ppt_x"/>
                                          </p:val>
                                        </p:tav>
                                        <p:tav tm="100000">
                                          <p:val>
                                            <p:strVal val="ppt_x"/>
                                          </p:val>
                                        </p:tav>
                                      </p:tavLst>
                                    </p:anim>
                                    <p:anim calcmode="lin" valueType="num">
                                      <p:cBhvr>
                                        <p:cTn id="25" dur="500"/>
                                        <p:tgtEl>
                                          <p:spTgt spid="10"/>
                                        </p:tgtEl>
                                        <p:attrNameLst>
                                          <p:attrName>ppt_y</p:attrName>
                                        </p:attrNameLst>
                                      </p:cBhvr>
                                      <p:tavLst>
                                        <p:tav tm="0">
                                          <p:val>
                                            <p:strVal val="ppt_y"/>
                                          </p:val>
                                        </p:tav>
                                        <p:tav tm="100000">
                                          <p:val>
                                            <p:strVal val="ppt_y+.1"/>
                                          </p:val>
                                        </p:tav>
                                      </p:tavLst>
                                    </p:anim>
                                    <p:set>
                                      <p:cBhvr>
                                        <p:cTn id="26" dur="1" fill="hold">
                                          <p:stCondLst>
                                            <p:cond delay="499"/>
                                          </p:stCondLst>
                                        </p:cTn>
                                        <p:tgtEl>
                                          <p:spTgt spid="10"/>
                                        </p:tgtEl>
                                        <p:attrNameLst>
                                          <p:attrName>style.visibility</p:attrName>
                                        </p:attrNameLst>
                                      </p:cBhvr>
                                      <p:to>
                                        <p:strVal val="hidden"/>
                                      </p:to>
                                    </p:set>
                                  </p:childTnLst>
                                </p:cTn>
                              </p:par>
                              <p:par>
                                <p:cTn id="27" presetID="42" presetClass="exit" presetSubtype="0" fill="hold" grpId="1" nodeType="withEffect">
                                  <p:stCondLst>
                                    <p:cond delay="0"/>
                                  </p:stCondLst>
                                  <p:childTnLst>
                                    <p:animEffect transition="out" filter="fade">
                                      <p:cBhvr>
                                        <p:cTn id="28" dur="500"/>
                                        <p:tgtEl>
                                          <p:spTgt spid="11"/>
                                        </p:tgtEl>
                                      </p:cBhvr>
                                    </p:animEffect>
                                    <p:anim calcmode="lin" valueType="num">
                                      <p:cBhvr>
                                        <p:cTn id="29" dur="500"/>
                                        <p:tgtEl>
                                          <p:spTgt spid="11"/>
                                        </p:tgtEl>
                                        <p:attrNameLst>
                                          <p:attrName>ppt_x</p:attrName>
                                        </p:attrNameLst>
                                      </p:cBhvr>
                                      <p:tavLst>
                                        <p:tav tm="0">
                                          <p:val>
                                            <p:strVal val="ppt_x"/>
                                          </p:val>
                                        </p:tav>
                                        <p:tav tm="100000">
                                          <p:val>
                                            <p:strVal val="ppt_x"/>
                                          </p:val>
                                        </p:tav>
                                      </p:tavLst>
                                    </p:anim>
                                    <p:anim calcmode="lin" valueType="num">
                                      <p:cBhvr>
                                        <p:cTn id="30" dur="500"/>
                                        <p:tgtEl>
                                          <p:spTgt spid="11"/>
                                        </p:tgtEl>
                                        <p:attrNameLst>
                                          <p:attrName>ppt_y</p:attrName>
                                        </p:attrNameLst>
                                      </p:cBhvr>
                                      <p:tavLst>
                                        <p:tav tm="0">
                                          <p:val>
                                            <p:strVal val="ppt_y"/>
                                          </p:val>
                                        </p:tav>
                                        <p:tav tm="100000">
                                          <p:val>
                                            <p:strVal val="ppt_y+.1"/>
                                          </p:val>
                                        </p:tav>
                                      </p:tavLst>
                                    </p:anim>
                                    <p:set>
                                      <p:cBhvr>
                                        <p:cTn id="31" dur="1" fill="hold">
                                          <p:stCondLst>
                                            <p:cond delay="499"/>
                                          </p:stCondLst>
                                        </p:cTn>
                                        <p:tgtEl>
                                          <p:spTgt spid="11"/>
                                        </p:tgtEl>
                                        <p:attrNameLst>
                                          <p:attrName>style.visibility</p:attrName>
                                        </p:attrNameLst>
                                      </p:cBhvr>
                                      <p:to>
                                        <p:strVal val="hidden"/>
                                      </p:to>
                                    </p:set>
                                  </p:childTnLst>
                                </p:cTn>
                              </p:par>
                              <p:par>
                                <p:cTn id="32" presetID="42" presetClass="exit" presetSubtype="0" fill="hold" grpId="1" nodeType="withEffect">
                                  <p:stCondLst>
                                    <p:cond delay="0"/>
                                  </p:stCondLst>
                                  <p:childTnLst>
                                    <p:animEffect transition="out" filter="fade">
                                      <p:cBhvr>
                                        <p:cTn id="33" dur="500"/>
                                        <p:tgtEl>
                                          <p:spTgt spid="12"/>
                                        </p:tgtEl>
                                      </p:cBhvr>
                                    </p:animEffect>
                                    <p:anim calcmode="lin" valueType="num">
                                      <p:cBhvr>
                                        <p:cTn id="34" dur="500"/>
                                        <p:tgtEl>
                                          <p:spTgt spid="12"/>
                                        </p:tgtEl>
                                        <p:attrNameLst>
                                          <p:attrName>ppt_x</p:attrName>
                                        </p:attrNameLst>
                                      </p:cBhvr>
                                      <p:tavLst>
                                        <p:tav tm="0">
                                          <p:val>
                                            <p:strVal val="ppt_x"/>
                                          </p:val>
                                        </p:tav>
                                        <p:tav tm="100000">
                                          <p:val>
                                            <p:strVal val="ppt_x"/>
                                          </p:val>
                                        </p:tav>
                                      </p:tavLst>
                                    </p:anim>
                                    <p:anim calcmode="lin" valueType="num">
                                      <p:cBhvr>
                                        <p:cTn id="35" dur="500"/>
                                        <p:tgtEl>
                                          <p:spTgt spid="12"/>
                                        </p:tgtEl>
                                        <p:attrNameLst>
                                          <p:attrName>ppt_y</p:attrName>
                                        </p:attrNameLst>
                                      </p:cBhvr>
                                      <p:tavLst>
                                        <p:tav tm="0">
                                          <p:val>
                                            <p:strVal val="ppt_y"/>
                                          </p:val>
                                        </p:tav>
                                        <p:tav tm="100000">
                                          <p:val>
                                            <p:strVal val="ppt_y+.1"/>
                                          </p:val>
                                        </p:tav>
                                      </p:tavLst>
                                    </p:anim>
                                    <p:set>
                                      <p:cBhvr>
                                        <p:cTn id="36" dur="1" fill="hold">
                                          <p:stCondLst>
                                            <p:cond delay="499"/>
                                          </p:stCondLst>
                                        </p:cTn>
                                        <p:tgtEl>
                                          <p:spTgt spid="12"/>
                                        </p:tgtEl>
                                        <p:attrNameLst>
                                          <p:attrName>style.visibility</p:attrName>
                                        </p:attrNameLst>
                                      </p:cBhvr>
                                      <p:to>
                                        <p:strVal val="hidden"/>
                                      </p:to>
                                    </p:set>
                                  </p:childTnLst>
                                </p:cTn>
                              </p:par>
                              <p:par>
                                <p:cTn id="37" presetID="16" presetClass="exit" presetSubtype="21" fill="hold" grpId="0" nodeType="withEffect">
                                  <p:stCondLst>
                                    <p:cond delay="0"/>
                                  </p:stCondLst>
                                  <p:childTnLst>
                                    <p:animEffect transition="out" filter="barn(inVertical)">
                                      <p:cBhvr>
                                        <p:cTn id="38" dur="500"/>
                                        <p:tgtEl>
                                          <p:spTgt spid="6"/>
                                        </p:tgtEl>
                                      </p:cBhvr>
                                    </p:animEffect>
                                    <p:set>
                                      <p:cBhvr>
                                        <p:cTn id="39" dur="1" fill="hold">
                                          <p:stCondLst>
                                            <p:cond delay="499"/>
                                          </p:stCondLst>
                                        </p:cTn>
                                        <p:tgtEl>
                                          <p:spTgt spid="6"/>
                                        </p:tgtEl>
                                        <p:attrNameLst>
                                          <p:attrName>style.visibility</p:attrName>
                                        </p:attrNameLst>
                                      </p:cBhvr>
                                      <p:to>
                                        <p:strVal val="hidden"/>
                                      </p:to>
                                    </p:set>
                                  </p:childTnLst>
                                </p:cTn>
                              </p:par>
                              <p:par>
                                <p:cTn id="40" presetID="50" presetClass="entr" presetSubtype="0" decel="100000" fill="hold" nodeType="withEffect">
                                  <p:stCondLst>
                                    <p:cond delay="500"/>
                                  </p:stCondLst>
                                  <p:childTnLst>
                                    <p:set>
                                      <p:cBhvr>
                                        <p:cTn id="41" dur="1" fill="hold">
                                          <p:stCondLst>
                                            <p:cond delay="0"/>
                                          </p:stCondLst>
                                        </p:cTn>
                                        <p:tgtEl>
                                          <p:spTgt spid="9"/>
                                        </p:tgtEl>
                                        <p:attrNameLst>
                                          <p:attrName>style.visibility</p:attrName>
                                        </p:attrNameLst>
                                      </p:cBhvr>
                                      <p:to>
                                        <p:strVal val="visible"/>
                                      </p:to>
                                    </p:set>
                                    <p:anim calcmode="lin" valueType="num">
                                      <p:cBhvr>
                                        <p:cTn id="42" dur="1000" fill="hold"/>
                                        <p:tgtEl>
                                          <p:spTgt spid="9"/>
                                        </p:tgtEl>
                                        <p:attrNameLst>
                                          <p:attrName>ppt_w</p:attrName>
                                        </p:attrNameLst>
                                      </p:cBhvr>
                                      <p:tavLst>
                                        <p:tav tm="0">
                                          <p:val>
                                            <p:strVal val="#ppt_w+.3"/>
                                          </p:val>
                                        </p:tav>
                                        <p:tav tm="100000">
                                          <p:val>
                                            <p:strVal val="#ppt_w"/>
                                          </p:val>
                                        </p:tav>
                                      </p:tavLst>
                                    </p:anim>
                                    <p:anim calcmode="lin" valueType="num">
                                      <p:cBhvr>
                                        <p:cTn id="43" dur="1000" fill="hold"/>
                                        <p:tgtEl>
                                          <p:spTgt spid="9"/>
                                        </p:tgtEl>
                                        <p:attrNameLst>
                                          <p:attrName>ppt_h</p:attrName>
                                        </p:attrNameLst>
                                      </p:cBhvr>
                                      <p:tavLst>
                                        <p:tav tm="0">
                                          <p:val>
                                            <p:strVal val="#ppt_h"/>
                                          </p:val>
                                        </p:tav>
                                        <p:tav tm="100000">
                                          <p:val>
                                            <p:strVal val="#ppt_h"/>
                                          </p:val>
                                        </p:tav>
                                      </p:tavLst>
                                    </p:anim>
                                    <p:animEffect transition="in" filter="fade">
                                      <p:cBhvr>
                                        <p:cTn id="44"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0" grpId="0" animBg="1"/>
      <p:bldP spid="10" grpId="1" animBg="1"/>
      <p:bldP spid="11" grpId="0" animBg="1"/>
      <p:bldP spid="11" grpId="1" animBg="1"/>
      <p:bldP spid="12" grpId="0" animBg="1"/>
      <p:bldP spid="12" grpId="1"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36576"/>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0" y="100584"/>
            <a:ext cx="2926080" cy="280416"/>
          </a:xfrm>
          <a:prstGeom prst="roundRect">
            <a:avLst/>
          </a:prstGeom>
          <a:solidFill>
            <a:srgbClr val="EFF6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1000" b="1">
                <a:solidFill>
                  <a:srgbClr val="1E40AF"/>
                </a:solidFill>
              </a:defRPr>
            </a:pPr>
            <a:r>
              <a:t>CHƯƠNG 6: CƠ SỞ DỮ LIỆU</a:t>
            </a:r>
          </a:p>
        </p:txBody>
      </p:sp>
      <p:sp>
        <p:nvSpPr>
          <p:cNvPr id="5" name="TextBox 4"/>
          <p:cNvSpPr txBox="1"/>
          <p:nvPr/>
        </p:nvSpPr>
        <p:spPr>
          <a:xfrm>
            <a:off x="731520" y="713232"/>
            <a:ext cx="10728655" cy="548640"/>
          </a:xfrm>
          <a:prstGeom prst="rect">
            <a:avLst/>
          </a:prstGeom>
          <a:noFill/>
        </p:spPr>
        <p:txBody>
          <a:bodyPr wrap="square" lIns="0" tIns="0" rIns="0" bIns="0" anchor="t">
            <a:spAutoFit/>
          </a:bodyPr>
          <a:lstStyle/>
          <a:p>
            <a:pPr>
              <a:defRPr sz="2500" b="1">
                <a:solidFill>
                  <a:srgbClr val="0F172A"/>
                </a:solidFill>
                <a:latin typeface="Segoe UI"/>
              </a:defRPr>
            </a:pPr>
            <a:r>
              <a:t>Mô Hình Dữ Liệu Quan Hệ 14 Bảng Chuẩn 3NF</a:t>
            </a:r>
          </a:p>
        </p:txBody>
      </p:sp>
      <p:sp>
        <p:nvSpPr>
          <p:cNvPr id="6" name="TextBox 5"/>
          <p:cNvSpPr txBox="1"/>
          <p:nvPr/>
        </p:nvSpPr>
        <p:spPr>
          <a:xfrm>
            <a:off x="731520" y="1261872"/>
            <a:ext cx="10728655" cy="215444"/>
          </a:xfrm>
          <a:prstGeom prst="rect">
            <a:avLst/>
          </a:prstGeom>
          <a:noFill/>
        </p:spPr>
        <p:txBody>
          <a:bodyPr wrap="square" lIns="0" tIns="0" rIns="0" bIns="0" anchor="t">
            <a:spAutoFit/>
          </a:bodyPr>
          <a:lstStyle/>
          <a:p>
            <a:pPr>
              <a:defRPr sz="1300">
                <a:solidFill>
                  <a:srgbClr val="475569"/>
                </a:solidFill>
                <a:latin typeface="Segoe UI"/>
              </a:defRPr>
            </a:pPr>
            <a:r>
              <a:rPr sz="1400"/>
              <a:t>Đảm bảo toàn vẹn tham chiếu PK/FK, chuẩn hóa 3NF và hỗ trợ kiểu dữ liệu JSONB</a:t>
            </a:r>
          </a:p>
        </p:txBody>
      </p:sp>
      <p:sp>
        <p:nvSpPr>
          <p:cNvPr id="7" name="Rectangle 6"/>
          <p:cNvSpPr/>
          <p:nvPr/>
        </p:nvSpPr>
        <p:spPr>
          <a:xfrm>
            <a:off x="731520" y="6327648"/>
            <a:ext cx="10728655" cy="1524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0" name="Table 9"/>
          <p:cNvGraphicFramePr>
            <a:graphicFrameLocks noGrp="1"/>
          </p:cNvGraphicFramePr>
          <p:nvPr>
            <p:extLst>
              <p:ext uri="{D42A27DB-BD31-4B8C-83A1-F6EECF244321}">
                <p14:modId xmlns:p14="http://schemas.microsoft.com/office/powerpoint/2010/main" val="2566535072"/>
              </p:ext>
            </p:extLst>
          </p:nvPr>
        </p:nvGraphicFramePr>
        <p:xfrm>
          <a:off x="731520" y="1691640"/>
          <a:ext cx="6675120" cy="4526280"/>
        </p:xfrm>
        <a:graphic>
          <a:graphicData uri="http://schemas.openxmlformats.org/drawingml/2006/table">
            <a:tbl>
              <a:tblPr firstRow="1" bandRow="1">
                <a:tableStyleId>{5C22544A-7EE6-4342-B048-85BDC9FD1C3A}</a:tableStyleId>
              </a:tblPr>
              <a:tblGrid>
                <a:gridCol w="2225040">
                  <a:extLst>
                    <a:ext uri="{9D8B030D-6E8A-4147-A177-3AD203B41FA5}">
                      <a16:colId xmlns:a16="http://schemas.microsoft.com/office/drawing/2014/main" val="20000"/>
                    </a:ext>
                  </a:extLst>
                </a:gridCol>
                <a:gridCol w="2225040">
                  <a:extLst>
                    <a:ext uri="{9D8B030D-6E8A-4147-A177-3AD203B41FA5}">
                      <a16:colId xmlns:a16="http://schemas.microsoft.com/office/drawing/2014/main" val="20001"/>
                    </a:ext>
                  </a:extLst>
                </a:gridCol>
                <a:gridCol w="2225040">
                  <a:extLst>
                    <a:ext uri="{9D8B030D-6E8A-4147-A177-3AD203B41FA5}">
                      <a16:colId xmlns:a16="http://schemas.microsoft.com/office/drawing/2014/main" val="20002"/>
                    </a:ext>
                  </a:extLst>
                </a:gridCol>
              </a:tblGrid>
              <a:tr h="754380">
                <a:tc>
                  <a:txBody>
                    <a:bodyPr/>
                    <a:lstStyle/>
                    <a:p>
                      <a:pPr>
                        <a:defRPr sz="1150" b="1">
                          <a:solidFill>
                            <a:srgbClr val="FFFFFF"/>
                          </a:solidFill>
                          <a:latin typeface="Segoe UI"/>
                        </a:defRPr>
                      </a:pPr>
                      <a:r>
                        <a:rPr sz="1400"/>
                        <a:t>Phân Hệ Dữ Liệu</a:t>
                      </a:r>
                    </a:p>
                  </a:txBody>
                  <a:tcPr marL="109728" marR="109728" marT="54864" marB="54864">
                    <a:solidFill>
                      <a:srgbClr val="1E40AF"/>
                    </a:solidFill>
                  </a:tcPr>
                </a:tc>
                <a:tc>
                  <a:txBody>
                    <a:bodyPr/>
                    <a:lstStyle/>
                    <a:p>
                      <a:pPr>
                        <a:defRPr sz="1150" b="1">
                          <a:solidFill>
                            <a:srgbClr val="FFFFFF"/>
                          </a:solidFill>
                          <a:latin typeface="Segoe UI"/>
                        </a:defRPr>
                      </a:pPr>
                      <a:r>
                        <a:rPr sz="1400"/>
                        <a:t>Danh Sách Các Bảng CSDL</a:t>
                      </a:r>
                    </a:p>
                  </a:txBody>
                  <a:tcPr marL="109728" marR="109728" marT="54864" marB="54864">
                    <a:solidFill>
                      <a:srgbClr val="1E40AF"/>
                    </a:solidFill>
                  </a:tcPr>
                </a:tc>
                <a:tc>
                  <a:txBody>
                    <a:bodyPr/>
                    <a:lstStyle/>
                    <a:p>
                      <a:pPr>
                        <a:defRPr sz="1150" b="1">
                          <a:solidFill>
                            <a:srgbClr val="FFFFFF"/>
                          </a:solidFill>
                          <a:latin typeface="Segoe UI"/>
                        </a:defRPr>
                      </a:pPr>
                      <a:r>
                        <a:rPr sz="1400"/>
                        <a:t>Ràng Buộc Chính</a:t>
                      </a:r>
                    </a:p>
                  </a:txBody>
                  <a:tcPr marL="109728" marR="109728" marT="54864" marB="54864">
                    <a:solidFill>
                      <a:srgbClr val="1E40AF"/>
                    </a:solidFill>
                  </a:tcPr>
                </a:tc>
                <a:extLst>
                  <a:ext uri="{0D108BD9-81ED-4DB2-BD59-A6C34878D82A}">
                    <a16:rowId xmlns:a16="http://schemas.microsoft.com/office/drawing/2014/main" val="10000"/>
                  </a:ext>
                </a:extLst>
              </a:tr>
              <a:tr h="754380">
                <a:tc>
                  <a:txBody>
                    <a:bodyPr/>
                    <a:lstStyle/>
                    <a:p>
                      <a:pPr>
                        <a:defRPr sz="1050" b="1">
                          <a:solidFill>
                            <a:srgbClr val="1E40AF"/>
                          </a:solidFill>
                          <a:latin typeface="Segoe UI"/>
                        </a:defRPr>
                      </a:pPr>
                      <a:r>
                        <a:rPr sz="1400"/>
                        <a:t>1. Tài khoản &amp; Quyền</a:t>
                      </a:r>
                    </a:p>
                  </a:txBody>
                  <a:tcPr marL="109728" marR="109728" marT="54864" marB="54864">
                    <a:solidFill>
                      <a:srgbClr val="FFFFFF"/>
                    </a:solidFill>
                  </a:tcPr>
                </a:tc>
                <a:tc>
                  <a:txBody>
                    <a:bodyPr/>
                    <a:lstStyle/>
                    <a:p>
                      <a:pPr>
                        <a:defRPr sz="1050" b="0">
                          <a:solidFill>
                            <a:srgbClr val="1E293B"/>
                          </a:solidFill>
                          <a:latin typeface="Segoe UI"/>
                        </a:defRPr>
                      </a:pPr>
                      <a:r>
                        <a:rPr sz="1400"/>
                        <a:t>NguoiDung, HoSoHocVien, HoSoGiaoVien</a:t>
                      </a:r>
                    </a:p>
                  </a:txBody>
                  <a:tcPr marL="109728" marR="109728" marT="54864" marB="54864">
                    <a:solidFill>
                      <a:srgbClr val="FFFFFF"/>
                    </a:solidFill>
                  </a:tcPr>
                </a:tc>
                <a:tc>
                  <a:txBody>
                    <a:bodyPr/>
                    <a:lstStyle/>
                    <a:p>
                      <a:pPr>
                        <a:defRPr sz="1050" b="0">
                          <a:solidFill>
                            <a:srgbClr val="1E293B"/>
                          </a:solidFill>
                          <a:latin typeface="Segoe UI"/>
                        </a:defRPr>
                      </a:pPr>
                      <a:r>
                        <a:rPr sz="1400"/>
                        <a:t>PK Bigint, UQ Username/Email, FK 1-1</a:t>
                      </a:r>
                    </a:p>
                  </a:txBody>
                  <a:tcPr marL="109728" marR="109728" marT="54864" marB="54864">
                    <a:solidFill>
                      <a:srgbClr val="FFFFFF"/>
                    </a:solidFill>
                  </a:tcPr>
                </a:tc>
                <a:extLst>
                  <a:ext uri="{0D108BD9-81ED-4DB2-BD59-A6C34878D82A}">
                    <a16:rowId xmlns:a16="http://schemas.microsoft.com/office/drawing/2014/main" val="10001"/>
                  </a:ext>
                </a:extLst>
              </a:tr>
              <a:tr h="754380">
                <a:tc>
                  <a:txBody>
                    <a:bodyPr/>
                    <a:lstStyle/>
                    <a:p>
                      <a:pPr>
                        <a:defRPr sz="1050" b="1">
                          <a:solidFill>
                            <a:srgbClr val="1E40AF"/>
                          </a:solidFill>
                          <a:latin typeface="Segoe UI"/>
                        </a:defRPr>
                      </a:pPr>
                      <a:r>
                        <a:rPr sz="1400"/>
                        <a:t>2. Đào tạo &amp; Lớp học</a:t>
                      </a:r>
                    </a:p>
                  </a:txBody>
                  <a:tcPr marL="109728" marR="109728" marT="54864" marB="54864">
                    <a:solidFill>
                      <a:srgbClr val="F0F7FF"/>
                    </a:solidFill>
                  </a:tcPr>
                </a:tc>
                <a:tc>
                  <a:txBody>
                    <a:bodyPr/>
                    <a:lstStyle/>
                    <a:p>
                      <a:pPr>
                        <a:defRPr sz="1050" b="0">
                          <a:solidFill>
                            <a:srgbClr val="1E293B"/>
                          </a:solidFill>
                          <a:latin typeface="Segoe UI"/>
                        </a:defRPr>
                      </a:pPr>
                      <a:r>
                        <a:rPr sz="1400"/>
                        <a:t>KhoaHoc, LopHoc, LichHoc, PhanCongGiaoVien</a:t>
                      </a:r>
                    </a:p>
                  </a:txBody>
                  <a:tcPr marL="109728" marR="109728" marT="54864" marB="54864">
                    <a:solidFill>
                      <a:srgbClr val="F0F7FF"/>
                    </a:solidFill>
                  </a:tcPr>
                </a:tc>
                <a:tc>
                  <a:txBody>
                    <a:bodyPr/>
                    <a:lstStyle/>
                    <a:p>
                      <a:pPr>
                        <a:defRPr sz="1050" b="0">
                          <a:solidFill>
                            <a:srgbClr val="1E293B"/>
                          </a:solidFill>
                          <a:latin typeface="Segoe UI"/>
                        </a:defRPr>
                      </a:pPr>
                      <a:r>
                        <a:rPr sz="1400"/>
                        <a:t>SiSoToiDa ≤ 25, Chống trùng phòng/giờ</a:t>
                      </a:r>
                    </a:p>
                  </a:txBody>
                  <a:tcPr marL="109728" marR="109728" marT="54864" marB="54864">
                    <a:solidFill>
                      <a:srgbClr val="F0F7FF"/>
                    </a:solidFill>
                  </a:tcPr>
                </a:tc>
                <a:extLst>
                  <a:ext uri="{0D108BD9-81ED-4DB2-BD59-A6C34878D82A}">
                    <a16:rowId xmlns:a16="http://schemas.microsoft.com/office/drawing/2014/main" val="10002"/>
                  </a:ext>
                </a:extLst>
              </a:tr>
              <a:tr h="754380">
                <a:tc>
                  <a:txBody>
                    <a:bodyPr/>
                    <a:lstStyle/>
                    <a:p>
                      <a:pPr>
                        <a:defRPr sz="1050" b="1">
                          <a:solidFill>
                            <a:srgbClr val="1E40AF"/>
                          </a:solidFill>
                          <a:latin typeface="Segoe UI"/>
                        </a:defRPr>
                      </a:pPr>
                      <a:r>
                        <a:rPr sz="1400"/>
                        <a:t>3. Ghi danh &amp; Học phí</a:t>
                      </a:r>
                    </a:p>
                  </a:txBody>
                  <a:tcPr marL="109728" marR="109728" marT="54864" marB="54864">
                    <a:solidFill>
                      <a:srgbClr val="FFFFFF"/>
                    </a:solidFill>
                  </a:tcPr>
                </a:tc>
                <a:tc>
                  <a:txBody>
                    <a:bodyPr/>
                    <a:lstStyle/>
                    <a:p>
                      <a:pPr>
                        <a:defRPr sz="1050" b="0">
                          <a:solidFill>
                            <a:srgbClr val="1E293B"/>
                          </a:solidFill>
                          <a:latin typeface="Segoe UI"/>
                        </a:defRPr>
                      </a:pPr>
                      <a:r>
                        <a:rPr sz="1400"/>
                        <a:t>DangKyHoc, HoaDon, ThanhToan</a:t>
                      </a:r>
                    </a:p>
                  </a:txBody>
                  <a:tcPr marL="109728" marR="109728" marT="54864" marB="54864">
                    <a:solidFill>
                      <a:srgbClr val="FFFFFF"/>
                    </a:solidFill>
                  </a:tcPr>
                </a:tc>
                <a:tc>
                  <a:txBody>
                    <a:bodyPr/>
                    <a:lstStyle/>
                    <a:p>
                      <a:pPr>
                        <a:defRPr sz="1050" b="0">
                          <a:solidFill>
                            <a:srgbClr val="1E293B"/>
                          </a:solidFill>
                          <a:latin typeface="Segoe UI"/>
                        </a:defRPr>
                      </a:pPr>
                      <a:r>
                        <a:rPr sz="1400"/>
                        <a:t>UQ(Lop, HV), 1-1 HoaDon, 1-N ThanhToan</a:t>
                      </a:r>
                    </a:p>
                  </a:txBody>
                  <a:tcPr marL="109728" marR="109728" marT="54864" marB="54864">
                    <a:solidFill>
                      <a:srgbClr val="FFFFFF"/>
                    </a:solidFill>
                  </a:tcPr>
                </a:tc>
                <a:extLst>
                  <a:ext uri="{0D108BD9-81ED-4DB2-BD59-A6C34878D82A}">
                    <a16:rowId xmlns:a16="http://schemas.microsoft.com/office/drawing/2014/main" val="10003"/>
                  </a:ext>
                </a:extLst>
              </a:tr>
              <a:tr h="754380">
                <a:tc>
                  <a:txBody>
                    <a:bodyPr/>
                    <a:lstStyle/>
                    <a:p>
                      <a:pPr>
                        <a:defRPr sz="1050" b="1">
                          <a:solidFill>
                            <a:srgbClr val="1E40AF"/>
                          </a:solidFill>
                          <a:latin typeface="Segoe UI"/>
                        </a:defRPr>
                      </a:pPr>
                      <a:r>
                        <a:rPr sz="1400"/>
                        <a:t>4. Điểm danh &amp; Bảng điểm</a:t>
                      </a:r>
                    </a:p>
                  </a:txBody>
                  <a:tcPr marL="109728" marR="109728" marT="54864" marB="54864">
                    <a:solidFill>
                      <a:srgbClr val="F0F7FF"/>
                    </a:solidFill>
                  </a:tcPr>
                </a:tc>
                <a:tc>
                  <a:txBody>
                    <a:bodyPr/>
                    <a:lstStyle/>
                    <a:p>
                      <a:pPr>
                        <a:defRPr sz="1050" b="0">
                          <a:solidFill>
                            <a:srgbClr val="1E293B"/>
                          </a:solidFill>
                          <a:latin typeface="Segoe UI"/>
                        </a:defRPr>
                      </a:pPr>
                      <a:r>
                        <a:rPr sz="1400"/>
                        <a:t>BuoiHoc, BanGhiDiemDanh, KetQuaHocTap</a:t>
                      </a:r>
                    </a:p>
                  </a:txBody>
                  <a:tcPr marL="109728" marR="109728" marT="54864" marB="54864">
                    <a:solidFill>
                      <a:srgbClr val="F0F7FF"/>
                    </a:solidFill>
                  </a:tcPr>
                </a:tc>
                <a:tc>
                  <a:txBody>
                    <a:bodyPr/>
                    <a:lstStyle/>
                    <a:p>
                      <a:pPr>
                        <a:defRPr sz="1050" b="0">
                          <a:solidFill>
                            <a:srgbClr val="1E293B"/>
                          </a:solidFill>
                          <a:latin typeface="Segoe UI"/>
                        </a:defRPr>
                      </a:pPr>
                      <a:r>
                        <a:rPr sz="1400"/>
                        <a:t>4 trạng thái điểm danh, Thang điểm 0-100</a:t>
                      </a:r>
                    </a:p>
                  </a:txBody>
                  <a:tcPr marL="109728" marR="109728" marT="54864" marB="54864">
                    <a:solidFill>
                      <a:srgbClr val="F0F7FF"/>
                    </a:solidFill>
                  </a:tcPr>
                </a:tc>
                <a:extLst>
                  <a:ext uri="{0D108BD9-81ED-4DB2-BD59-A6C34878D82A}">
                    <a16:rowId xmlns:a16="http://schemas.microsoft.com/office/drawing/2014/main" val="10004"/>
                  </a:ext>
                </a:extLst>
              </a:tr>
              <a:tr h="754380">
                <a:tc>
                  <a:txBody>
                    <a:bodyPr/>
                    <a:lstStyle/>
                    <a:p>
                      <a:pPr>
                        <a:defRPr sz="1050" b="1">
                          <a:solidFill>
                            <a:srgbClr val="1E40AF"/>
                          </a:solidFill>
                          <a:latin typeface="Segoe UI"/>
                        </a:defRPr>
                      </a:pPr>
                      <a:r>
                        <a:rPr sz="1400"/>
                        <a:t>5. Giám sát GenAI</a:t>
                      </a:r>
                    </a:p>
                  </a:txBody>
                  <a:tcPr marL="109728" marR="109728" marT="54864" marB="54864">
                    <a:solidFill>
                      <a:srgbClr val="FFFFFF"/>
                    </a:solidFill>
                  </a:tcPr>
                </a:tc>
                <a:tc>
                  <a:txBody>
                    <a:bodyPr/>
                    <a:lstStyle/>
                    <a:p>
                      <a:pPr>
                        <a:defRPr sz="1050" b="0">
                          <a:solidFill>
                            <a:srgbClr val="1E293B"/>
                          </a:solidFill>
                          <a:latin typeface="Segoe UI"/>
                        </a:defRPr>
                      </a:pPr>
                      <a:r>
                        <a:rPr sz="1400"/>
                        <a:t>YeuCauAI</a:t>
                      </a:r>
                    </a:p>
                  </a:txBody>
                  <a:tcPr marL="109728" marR="109728" marT="54864" marB="54864">
                    <a:solidFill>
                      <a:srgbClr val="FFFFFF"/>
                    </a:solidFill>
                  </a:tcPr>
                </a:tc>
                <a:tc>
                  <a:txBody>
                    <a:bodyPr/>
                    <a:lstStyle/>
                    <a:p>
                      <a:pPr>
                        <a:defRPr sz="1050" b="0">
                          <a:solidFill>
                            <a:srgbClr val="1E293B"/>
                          </a:solidFill>
                          <a:latin typeface="Segoe UI"/>
                        </a:defRPr>
                      </a:pPr>
                      <a:r>
                        <a:rPr sz="1400"/>
                        <a:t>Audit prompt, latencyMs, fallback_applied</a:t>
                      </a:r>
                    </a:p>
                  </a:txBody>
                  <a:tcPr marL="109728" marR="109728" marT="54864" marB="54864">
                    <a:solidFill>
                      <a:srgbClr val="FFFFFF"/>
                    </a:solidFill>
                  </a:tcPr>
                </a:tc>
                <a:extLst>
                  <a:ext uri="{0D108BD9-81ED-4DB2-BD59-A6C34878D82A}">
                    <a16:rowId xmlns:a16="http://schemas.microsoft.com/office/drawing/2014/main" val="10005"/>
                  </a:ext>
                </a:extLst>
              </a:tr>
            </a:tbl>
          </a:graphicData>
        </a:graphic>
      </p:graphicFrame>
      <p:sp>
        <p:nvSpPr>
          <p:cNvPr id="11" name="Rounded Rectangle 10"/>
          <p:cNvSpPr/>
          <p:nvPr/>
        </p:nvSpPr>
        <p:spPr>
          <a:xfrm>
            <a:off x="7711136" y="1691640"/>
            <a:ext cx="3983024" cy="4526280"/>
          </a:xfrm>
          <a:prstGeom prst="roundRect">
            <a:avLst/>
          </a:prstGeom>
          <a:solidFill>
            <a:srgbClr val="FFFF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wrap="square" lIns="219456" tIns="219456" rIns="219456" rtlCol="0" anchor="t"/>
          <a:lstStyle/>
          <a:p>
            <a:pPr algn="ctr">
              <a:spcBef>
                <a:spcPts val="300"/>
              </a:spcBef>
              <a:defRPr sz="1650" b="1">
                <a:solidFill>
                  <a:srgbClr val="1E40AF"/>
                </a:solidFill>
                <a:latin typeface="Segoe UI"/>
              </a:defRPr>
            </a:pPr>
            <a:r>
              <a:rPr sz="1600"/>
              <a:t>4 Cấp Độ Ràng Buộc Toàn Vẹn CSDL</a:t>
            </a:r>
          </a:p>
          <a:p>
            <a:pPr>
              <a:spcBef>
                <a:spcPts val="700"/>
              </a:spcBef>
              <a:defRPr sz="1100">
                <a:solidFill>
                  <a:srgbClr val="1E40AF"/>
                </a:solidFill>
              </a:defRPr>
            </a:pPr>
            <a:r>
              <a:rPr sz="1400"/>
              <a:t>1. Khóa chính &amp; Ngoại (PK/FK):100% các bảng dùng ID BIGINT tự tăng. ON DELETE RESTRICT bảo vệ khóa học và hóa đơn; ON DELETE CASCADE tự động dọn lịch học theo lớp.2. Ràng buộc duy nhất (UNIQUE):Chặn đăng ký trùngUNIQUE(lop_hoc_id, hoc_vien_id); Chặn điểm danh trùngUNIQUE(buoi_hoc_id, hoc_vien_id).3. Ràng buộc miền giá trị (CHECK):si_so_toi_da BETWEEN 1 AND 25; điểm sốBETWEEN 0 AND 100; vai trò thuộc 4 role định sẵn.4. Ràng buộc nghiệp vụ (ACID):Ghi danh và sinh hóa đơn thực hiện trong 1 giao dịch cơ sở dữ liệu khép kín.</a:t>
            </a:r>
          </a:p>
        </p:txBody>
      </p:sp>
      <p:pic>
        <p:nvPicPr>
          <p:cNvPr id="8" name="Graphic 1">
            <a:extLst>
              <a:ext uri="{FF2B5EF4-FFF2-40B4-BE49-F238E27FC236}">
                <a16:creationId xmlns:a16="http://schemas.microsoft.com/office/drawing/2014/main" id="{AC6496C8-2486-37F8-7C4D-15B676D2F44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311121" y="1261872"/>
            <a:ext cx="7616650" cy="4940809"/>
          </a:xfrm>
          <a:prstGeom prst="rect">
            <a:avLst/>
          </a:prstGeom>
        </p:spPr>
      </p:pic>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8" fill="hold" nodeType="clickEffect">
                                  <p:stCondLst>
                                    <p:cond delay="0"/>
                                  </p:stCondLst>
                                  <p:childTnLst>
                                    <p:anim calcmode="lin" valueType="num">
                                      <p:cBhvr additive="base">
                                        <p:cTn id="6" dur="500"/>
                                        <p:tgtEl>
                                          <p:spTgt spid="10"/>
                                        </p:tgtEl>
                                        <p:attrNameLst>
                                          <p:attrName>ppt_x</p:attrName>
                                        </p:attrNameLst>
                                      </p:cBhvr>
                                      <p:tavLst>
                                        <p:tav tm="0">
                                          <p:val>
                                            <p:strVal val="ppt_x"/>
                                          </p:val>
                                        </p:tav>
                                        <p:tav tm="100000">
                                          <p:val>
                                            <p:strVal val="0-ppt_w/2"/>
                                          </p:val>
                                        </p:tav>
                                      </p:tavLst>
                                    </p:anim>
                                    <p:anim calcmode="lin" valueType="num">
                                      <p:cBhvr additive="base">
                                        <p:cTn id="7" dur="500"/>
                                        <p:tgtEl>
                                          <p:spTgt spid="10"/>
                                        </p:tgtEl>
                                        <p:attrNameLst>
                                          <p:attrName>ppt_y</p:attrName>
                                        </p:attrNameLst>
                                      </p:cBhvr>
                                      <p:tavLst>
                                        <p:tav tm="0">
                                          <p:val>
                                            <p:strVal val="ppt_y"/>
                                          </p:val>
                                        </p:tav>
                                        <p:tav tm="100000">
                                          <p:val>
                                            <p:strVal val="ppt_y"/>
                                          </p:val>
                                        </p:tav>
                                      </p:tavLst>
                                    </p:anim>
                                    <p:set>
                                      <p:cBhvr>
                                        <p:cTn id="8" dur="1" fill="hold">
                                          <p:stCondLst>
                                            <p:cond delay="499"/>
                                          </p:stCondLst>
                                        </p:cTn>
                                        <p:tgtEl>
                                          <p:spTgt spid="10"/>
                                        </p:tgtEl>
                                        <p:attrNameLst>
                                          <p:attrName>style.visibility</p:attrName>
                                        </p:attrNameLst>
                                      </p:cBhvr>
                                      <p:to>
                                        <p:strVal val="hidden"/>
                                      </p:to>
                                    </p:set>
                                  </p:childTnLst>
                                </p:cTn>
                              </p:par>
                              <p:par>
                                <p:cTn id="9" presetID="2" presetClass="exit" presetSubtype="2" fill="hold" grpId="0" nodeType="withEffect">
                                  <p:stCondLst>
                                    <p:cond delay="0"/>
                                  </p:stCondLst>
                                  <p:childTnLst>
                                    <p:anim calcmode="lin" valueType="num">
                                      <p:cBhvr additive="base">
                                        <p:cTn id="10" dur="500"/>
                                        <p:tgtEl>
                                          <p:spTgt spid="11"/>
                                        </p:tgtEl>
                                        <p:attrNameLst>
                                          <p:attrName>ppt_x</p:attrName>
                                        </p:attrNameLst>
                                      </p:cBhvr>
                                      <p:tavLst>
                                        <p:tav tm="0">
                                          <p:val>
                                            <p:strVal val="ppt_x"/>
                                          </p:val>
                                        </p:tav>
                                        <p:tav tm="100000">
                                          <p:val>
                                            <p:strVal val="1+ppt_w/2"/>
                                          </p:val>
                                        </p:tav>
                                      </p:tavLst>
                                    </p:anim>
                                    <p:anim calcmode="lin" valueType="num">
                                      <p:cBhvr additive="base">
                                        <p:cTn id="11" dur="500"/>
                                        <p:tgtEl>
                                          <p:spTgt spid="11"/>
                                        </p:tgtEl>
                                        <p:attrNameLst>
                                          <p:attrName>ppt_y</p:attrName>
                                        </p:attrNameLst>
                                      </p:cBhvr>
                                      <p:tavLst>
                                        <p:tav tm="0">
                                          <p:val>
                                            <p:strVal val="ppt_y"/>
                                          </p:val>
                                        </p:tav>
                                        <p:tav tm="100000">
                                          <p:val>
                                            <p:strVal val="ppt_y"/>
                                          </p:val>
                                        </p:tav>
                                      </p:tavLst>
                                    </p:anim>
                                    <p:set>
                                      <p:cBhvr>
                                        <p:cTn id="12" dur="1" fill="hold">
                                          <p:stCondLst>
                                            <p:cond delay="499"/>
                                          </p:stCondLst>
                                        </p:cTn>
                                        <p:tgtEl>
                                          <p:spTgt spid="11"/>
                                        </p:tgtEl>
                                        <p:attrNameLst>
                                          <p:attrName>style.visibility</p:attrName>
                                        </p:attrNameLst>
                                      </p:cBhvr>
                                      <p:to>
                                        <p:strVal val="hidden"/>
                                      </p:to>
                                    </p:set>
                                  </p:childTnLst>
                                </p:cTn>
                              </p:par>
                              <p:par>
                                <p:cTn id="13" presetID="53" presetClass="exit" presetSubtype="32" fill="hold" grpId="0" nodeType="withEffect">
                                  <p:stCondLst>
                                    <p:cond delay="0"/>
                                  </p:stCondLst>
                                  <p:childTnLst>
                                    <p:anim calcmode="lin" valueType="num">
                                      <p:cBhvr>
                                        <p:cTn id="14" dur="500"/>
                                        <p:tgtEl>
                                          <p:spTgt spid="6"/>
                                        </p:tgtEl>
                                        <p:attrNameLst>
                                          <p:attrName>ppt_w</p:attrName>
                                        </p:attrNameLst>
                                      </p:cBhvr>
                                      <p:tavLst>
                                        <p:tav tm="0">
                                          <p:val>
                                            <p:strVal val="ppt_w"/>
                                          </p:val>
                                        </p:tav>
                                        <p:tav tm="100000">
                                          <p:val>
                                            <p:fltVal val="0"/>
                                          </p:val>
                                        </p:tav>
                                      </p:tavLst>
                                    </p:anim>
                                    <p:anim calcmode="lin" valueType="num">
                                      <p:cBhvr>
                                        <p:cTn id="15" dur="500"/>
                                        <p:tgtEl>
                                          <p:spTgt spid="6"/>
                                        </p:tgtEl>
                                        <p:attrNameLst>
                                          <p:attrName>ppt_h</p:attrName>
                                        </p:attrNameLst>
                                      </p:cBhvr>
                                      <p:tavLst>
                                        <p:tav tm="0">
                                          <p:val>
                                            <p:strVal val="ppt_h"/>
                                          </p:val>
                                        </p:tav>
                                        <p:tav tm="100000">
                                          <p:val>
                                            <p:fltVal val="0"/>
                                          </p:val>
                                        </p:tav>
                                      </p:tavLst>
                                    </p:anim>
                                    <p:animEffect transition="out" filter="fade">
                                      <p:cBhvr>
                                        <p:cTn id="16" dur="500"/>
                                        <p:tgtEl>
                                          <p:spTgt spid="6"/>
                                        </p:tgtEl>
                                      </p:cBhvr>
                                    </p:animEffect>
                                    <p:set>
                                      <p:cBhvr>
                                        <p:cTn id="17" dur="1" fill="hold">
                                          <p:stCondLst>
                                            <p:cond delay="499"/>
                                          </p:stCondLst>
                                        </p:cTn>
                                        <p:tgtEl>
                                          <p:spTgt spid="6"/>
                                        </p:tgtEl>
                                        <p:attrNameLst>
                                          <p:attrName>style.visibility</p:attrName>
                                        </p:attrNameLst>
                                      </p:cBhvr>
                                      <p:to>
                                        <p:strVal val="hidden"/>
                                      </p:to>
                                    </p:set>
                                  </p:childTnLst>
                                </p:cTn>
                              </p:par>
                              <p:par>
                                <p:cTn id="18" presetID="10" presetClass="entr" presetSubtype="0" fill="hold" nodeType="withEffect">
                                  <p:stCondLst>
                                    <p:cond delay="50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 y="100584"/>
            <a:ext cx="2915919" cy="320040"/>
          </a:xfrm>
          <a:prstGeom prst="roundRect">
            <a:avLst/>
          </a:prstGeom>
          <a:solidFill>
            <a:srgbClr val="EFF6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1000" b="1">
                <a:solidFill>
                  <a:srgbClr val="1E40AF"/>
                </a:solidFill>
              </a:defRPr>
            </a:pPr>
            <a:r>
              <a:t>CHƯƠNG 7: KIẾN TRÚC KỸ THUẬT</a:t>
            </a:r>
          </a:p>
        </p:txBody>
      </p:sp>
      <p:sp>
        <p:nvSpPr>
          <p:cNvPr id="5" name="TextBox 4"/>
          <p:cNvSpPr txBox="1"/>
          <p:nvPr/>
        </p:nvSpPr>
        <p:spPr>
          <a:xfrm>
            <a:off x="731520" y="713232"/>
            <a:ext cx="10728655" cy="548640"/>
          </a:xfrm>
          <a:prstGeom prst="rect">
            <a:avLst/>
          </a:prstGeom>
          <a:noFill/>
        </p:spPr>
        <p:txBody>
          <a:bodyPr wrap="square" lIns="0" tIns="0" rIns="0" bIns="0" anchor="t">
            <a:spAutoFit/>
          </a:bodyPr>
          <a:lstStyle/>
          <a:p>
            <a:pPr>
              <a:defRPr sz="2500" b="1">
                <a:solidFill>
                  <a:srgbClr val="0F172A"/>
                </a:solidFill>
                <a:latin typeface="Segoe UI"/>
              </a:defRPr>
            </a:pPr>
            <a:r>
              <a:t>Kiến Trúc Phân Tầng Tổng Thể (4-Tier Architecture)</a:t>
            </a:r>
          </a:p>
        </p:txBody>
      </p:sp>
      <p:sp>
        <p:nvSpPr>
          <p:cNvPr id="6" name="TextBox 5"/>
          <p:cNvSpPr txBox="1"/>
          <p:nvPr/>
        </p:nvSpPr>
        <p:spPr>
          <a:xfrm>
            <a:off x="731520" y="1261872"/>
            <a:ext cx="10728655" cy="215444"/>
          </a:xfrm>
          <a:prstGeom prst="rect">
            <a:avLst/>
          </a:prstGeom>
          <a:noFill/>
        </p:spPr>
        <p:txBody>
          <a:bodyPr wrap="square" lIns="0" tIns="0" rIns="0" bIns="0" anchor="t">
            <a:spAutoFit/>
          </a:bodyPr>
          <a:lstStyle/>
          <a:p>
            <a:pPr>
              <a:defRPr sz="1300">
                <a:solidFill>
                  <a:srgbClr val="475569"/>
                </a:solidFill>
                <a:latin typeface="Segoe UI"/>
              </a:defRPr>
            </a:pPr>
            <a:r>
              <a:rPr sz="1400"/>
              <a:t>Phân định trách nhiệm rõ ràng giữa Giao diện, Xử lý nghiệp vụ, Dịch vụ AI và Lưu trữ</a:t>
            </a:r>
          </a:p>
        </p:txBody>
      </p:sp>
      <p:sp>
        <p:nvSpPr>
          <p:cNvPr id="7" name="Rectangle 6"/>
          <p:cNvSpPr/>
          <p:nvPr/>
        </p:nvSpPr>
        <p:spPr>
          <a:xfrm>
            <a:off x="731520" y="6327648"/>
            <a:ext cx="10728655" cy="1524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31520" y="1691640"/>
            <a:ext cx="2542032" cy="4526280"/>
          </a:xfrm>
          <a:prstGeom prst="roundRect">
            <a:avLst/>
          </a:prstGeom>
          <a:solidFill>
            <a:srgbClr val="FFFF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wrap="square" lIns="219456" tIns="219456" rIns="219456" rtlCol="0" anchor="t"/>
          <a:lstStyle/>
          <a:p>
            <a:pPr algn="ctr">
              <a:spcBef>
                <a:spcPts val="300"/>
              </a:spcBef>
              <a:defRPr sz="1650" b="1">
                <a:solidFill>
                  <a:srgbClr val="1E40AF"/>
                </a:solidFill>
                <a:latin typeface="Segoe UI"/>
              </a:defRPr>
            </a:pPr>
            <a:r>
              <a:t>Presentation Tier</a:t>
            </a:r>
          </a:p>
          <a:p>
            <a:pPr>
              <a:spcBef>
                <a:spcPts val="700"/>
              </a:spcBef>
              <a:defRPr sz="1200">
                <a:solidFill>
                  <a:srgbClr val="1E293B"/>
                </a:solidFill>
              </a:defRPr>
            </a:pPr>
            <a:r>
              <a:rPr sz="1400"/>
              <a:t>Next.js SPA (React 19, TS):</a:t>
            </a:r>
          </a:p>
          <a:p>
            <a:pPr>
              <a:spcBef>
                <a:spcPts val="500"/>
              </a:spcBef>
              <a:defRPr sz="1150">
                <a:solidFill>
                  <a:srgbClr val="1E293B"/>
                </a:solidFill>
              </a:defRPr>
            </a:pPr>
            <a:r>
              <a:rPr sz="1400"/>
              <a:t>• 4 Portal chuyên biệt cho 4 vai trò.</a:t>
            </a:r>
          </a:p>
          <a:p>
            <a:pPr>
              <a:spcBef>
                <a:spcPts val="500"/>
              </a:spcBef>
              <a:defRPr sz="1150">
                <a:solidFill>
                  <a:srgbClr val="1E293B"/>
                </a:solidFill>
              </a:defRPr>
            </a:pPr>
            <a:r>
              <a:rPr sz="1400"/>
              <a:t>• TailwindCSS tối ưu giao diện.</a:t>
            </a:r>
          </a:p>
          <a:p>
            <a:pPr>
              <a:spcBef>
                <a:spcPts val="500"/>
              </a:spcBef>
              <a:defRPr sz="1150">
                <a:solidFill>
                  <a:srgbClr val="1E293B"/>
                </a:solidFill>
              </a:defRPr>
            </a:pPr>
            <a:r>
              <a:rPr sz="1400"/>
              <a:t>• Lưu trữ JWT Token an toàn tại LocalStorage.</a:t>
            </a:r>
          </a:p>
          <a:p>
            <a:pPr>
              <a:spcBef>
                <a:spcPts val="500"/>
              </a:spcBef>
              <a:defRPr sz="1150">
                <a:solidFill>
                  <a:srgbClr val="1E293B"/>
                </a:solidFill>
              </a:defRPr>
            </a:pPr>
            <a:r>
              <a:rPr sz="1400"/>
              <a:t>• Gọi RESTful API qua Axios/Fetch.</a:t>
            </a:r>
          </a:p>
        </p:txBody>
      </p:sp>
      <p:sp>
        <p:nvSpPr>
          <p:cNvPr id="11" name="Rounded Rectangle 10"/>
          <p:cNvSpPr/>
          <p:nvPr/>
        </p:nvSpPr>
        <p:spPr>
          <a:xfrm>
            <a:off x="3456432" y="1691640"/>
            <a:ext cx="2542032" cy="4526280"/>
          </a:xfrm>
          <a:prstGeom prst="roundRect">
            <a:avLst/>
          </a:prstGeom>
          <a:solidFill>
            <a:srgbClr val="FFFF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wrap="square" lIns="219456" tIns="219456" rIns="219456" rtlCol="0" anchor="t"/>
          <a:lstStyle/>
          <a:p>
            <a:pPr algn="ctr">
              <a:spcBef>
                <a:spcPts val="300"/>
              </a:spcBef>
              <a:defRPr sz="1650" b="1">
                <a:solidFill>
                  <a:srgbClr val="1E40AF"/>
                </a:solidFill>
                <a:latin typeface="Segoe UI"/>
              </a:defRPr>
            </a:pPr>
            <a:r>
              <a:t>Application Tier</a:t>
            </a:r>
          </a:p>
          <a:p>
            <a:pPr>
              <a:spcBef>
                <a:spcPts val="700"/>
              </a:spcBef>
              <a:defRPr sz="1200">
                <a:solidFill>
                  <a:srgbClr val="1E293B"/>
                </a:solidFill>
              </a:defRPr>
            </a:pPr>
            <a:r>
              <a:rPr sz="1400"/>
              <a:t>NestJS Backend Engine:</a:t>
            </a:r>
          </a:p>
          <a:p>
            <a:pPr>
              <a:spcBef>
                <a:spcPts val="500"/>
              </a:spcBef>
              <a:defRPr sz="1150">
                <a:solidFill>
                  <a:srgbClr val="1E293B"/>
                </a:solidFill>
              </a:defRPr>
            </a:pPr>
            <a:r>
              <a:rPr sz="1400"/>
              <a:t>• API Gateway &amp; RBAC Guards.</a:t>
            </a:r>
          </a:p>
          <a:p>
            <a:pPr>
              <a:spcBef>
                <a:spcPts val="500"/>
              </a:spcBef>
              <a:defRPr sz="1150">
                <a:solidFill>
                  <a:srgbClr val="1E293B"/>
                </a:solidFill>
              </a:defRPr>
            </a:pPr>
            <a:r>
              <a:rPr sz="1400"/>
              <a:t>• Xử lý toàn bộ logic 14 Use Cases.</a:t>
            </a:r>
          </a:p>
          <a:p>
            <a:pPr>
              <a:spcBef>
                <a:spcPts val="500"/>
              </a:spcBef>
              <a:defRPr sz="1150">
                <a:solidFill>
                  <a:srgbClr val="1E293B"/>
                </a:solidFill>
              </a:defRPr>
            </a:pPr>
            <a:r>
              <a:rPr sz="1400"/>
              <a:t>• DTO Validation Pipe chặn dữ liệu lỗi.</a:t>
            </a:r>
          </a:p>
          <a:p>
            <a:pPr>
              <a:spcBef>
                <a:spcPts val="500"/>
              </a:spcBef>
              <a:defRPr sz="1150">
                <a:solidFill>
                  <a:srgbClr val="1E293B"/>
                </a:solidFill>
              </a:defRPr>
            </a:pPr>
            <a:r>
              <a:rPr sz="1400"/>
              <a:t>• Điều phối giao dịch Prisma ORM.</a:t>
            </a:r>
          </a:p>
        </p:txBody>
      </p:sp>
      <p:sp>
        <p:nvSpPr>
          <p:cNvPr id="12" name="Rounded Rectangle 11"/>
          <p:cNvSpPr/>
          <p:nvPr/>
        </p:nvSpPr>
        <p:spPr>
          <a:xfrm>
            <a:off x="6181344" y="1691640"/>
            <a:ext cx="2542032" cy="4526280"/>
          </a:xfrm>
          <a:prstGeom prst="roundRect">
            <a:avLst/>
          </a:prstGeom>
          <a:solidFill>
            <a:srgbClr val="FFFF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wrap="square" lIns="219456" tIns="219456" rIns="219456" rtlCol="0" anchor="t"/>
          <a:lstStyle/>
          <a:p>
            <a:pPr algn="ctr">
              <a:spcBef>
                <a:spcPts val="300"/>
              </a:spcBef>
              <a:defRPr sz="1650" b="1">
                <a:solidFill>
                  <a:srgbClr val="1E40AF"/>
                </a:solidFill>
                <a:latin typeface="Segoe UI"/>
              </a:defRPr>
            </a:pPr>
            <a:r>
              <a:t>External AI Tier</a:t>
            </a:r>
          </a:p>
          <a:p>
            <a:pPr>
              <a:spcBef>
                <a:spcPts val="700"/>
              </a:spcBef>
              <a:defRPr sz="1200">
                <a:solidFill>
                  <a:srgbClr val="1E293B"/>
                </a:solidFill>
              </a:defRPr>
            </a:pPr>
            <a:r>
              <a:rPr sz="1400"/>
              <a:t>Google Gemini API:</a:t>
            </a:r>
          </a:p>
          <a:p>
            <a:pPr>
              <a:spcBef>
                <a:spcPts val="500"/>
              </a:spcBef>
              <a:defRPr sz="1150">
                <a:solidFill>
                  <a:srgbClr val="1E293B"/>
                </a:solidFill>
              </a:defRPr>
            </a:pPr>
            <a:r>
              <a:rPr sz="1400"/>
              <a:t>• Gemini 3.1 Flash-Lite (Tư vấn, sinh đề &lt; 0.5s).</a:t>
            </a:r>
          </a:p>
          <a:p>
            <a:pPr>
              <a:spcBef>
                <a:spcPts val="500"/>
              </a:spcBef>
              <a:defRPr sz="1150">
                <a:solidFill>
                  <a:srgbClr val="1E293B"/>
                </a:solidFill>
              </a:defRPr>
            </a:pPr>
            <a:r>
              <a:rPr sz="1400"/>
              <a:t>• Gemini 3.1 Pro (Tóm tắt tiến độ).</a:t>
            </a:r>
          </a:p>
          <a:p>
            <a:pPr>
              <a:spcBef>
                <a:spcPts val="500"/>
              </a:spcBef>
              <a:defRPr sz="1150">
                <a:solidFill>
                  <a:srgbClr val="1E293B"/>
                </a:solidFill>
              </a:defRPr>
            </a:pPr>
            <a:r>
              <a:rPr sz="1400"/>
              <a:t>• Structured JSON Output Mode.</a:t>
            </a:r>
          </a:p>
          <a:p>
            <a:pPr>
              <a:spcBef>
                <a:spcPts val="500"/>
              </a:spcBef>
              <a:defRPr sz="1150">
                <a:solidFill>
                  <a:srgbClr val="1E293B"/>
                </a:solidFill>
              </a:defRPr>
            </a:pPr>
            <a:r>
              <a:rPr sz="1400"/>
              <a:t>• Bộ lọc ảo giác Zero-Trust &amp; Fallback.</a:t>
            </a:r>
          </a:p>
        </p:txBody>
      </p:sp>
      <p:sp>
        <p:nvSpPr>
          <p:cNvPr id="13" name="Rounded Rectangle 12"/>
          <p:cNvSpPr/>
          <p:nvPr/>
        </p:nvSpPr>
        <p:spPr>
          <a:xfrm>
            <a:off x="8906256" y="1691640"/>
            <a:ext cx="2542032" cy="4526280"/>
          </a:xfrm>
          <a:prstGeom prst="roundRect">
            <a:avLst/>
          </a:prstGeom>
          <a:solidFill>
            <a:srgbClr val="FFFF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wrap="square" lIns="219456" tIns="219456" rIns="219456" rtlCol="0" anchor="t"/>
          <a:lstStyle/>
          <a:p>
            <a:pPr algn="ctr">
              <a:spcBef>
                <a:spcPts val="300"/>
              </a:spcBef>
              <a:defRPr sz="1650" b="1">
                <a:solidFill>
                  <a:srgbClr val="1E40AF"/>
                </a:solidFill>
                <a:latin typeface="Segoe UI"/>
              </a:defRPr>
            </a:pPr>
            <a:r>
              <a:t>Data Tier</a:t>
            </a:r>
          </a:p>
          <a:p>
            <a:pPr>
              <a:spcBef>
                <a:spcPts val="700"/>
              </a:spcBef>
              <a:defRPr sz="1200">
                <a:solidFill>
                  <a:srgbClr val="1E293B"/>
                </a:solidFill>
              </a:defRPr>
            </a:pPr>
            <a:r>
              <a:rPr sz="1400"/>
              <a:t>PostgreSQL (Neon Cloud):</a:t>
            </a:r>
          </a:p>
          <a:p>
            <a:pPr>
              <a:spcBef>
                <a:spcPts val="500"/>
              </a:spcBef>
              <a:defRPr sz="1150">
                <a:solidFill>
                  <a:srgbClr val="1E293B"/>
                </a:solidFill>
              </a:defRPr>
            </a:pPr>
            <a:r>
              <a:rPr sz="1400"/>
              <a:t>• 14 bảng quan hệ chuẩn 3NF.</a:t>
            </a:r>
          </a:p>
          <a:p>
            <a:pPr>
              <a:spcBef>
                <a:spcPts val="500"/>
              </a:spcBef>
              <a:defRPr sz="1150">
                <a:solidFill>
                  <a:srgbClr val="1E293B"/>
                </a:solidFill>
              </a:defRPr>
            </a:pPr>
            <a:r>
              <a:rPr sz="1400"/>
              <a:t>• Lưu trữ JSONB cho lịch rảnh &amp; bài tập.</a:t>
            </a:r>
          </a:p>
          <a:p>
            <a:pPr>
              <a:spcBef>
                <a:spcPts val="500"/>
              </a:spcBef>
              <a:defRPr sz="1150">
                <a:solidFill>
                  <a:srgbClr val="1E293B"/>
                </a:solidFill>
              </a:defRPr>
            </a:pPr>
            <a:r>
              <a:rPr sz="1400"/>
              <a:t>• Đảm bảo giao dịch toàn vẹn ACID.</a:t>
            </a:r>
          </a:p>
          <a:p>
            <a:pPr>
              <a:spcBef>
                <a:spcPts val="500"/>
              </a:spcBef>
              <a:defRPr sz="1150">
                <a:solidFill>
                  <a:srgbClr val="1E293B"/>
                </a:solidFill>
              </a:defRPr>
            </a:pPr>
            <a:r>
              <a:rPr sz="1400"/>
              <a:t>• Bảng kiểm toán YeuCauAI lưu log.</a:t>
            </a:r>
          </a:p>
        </p:txBody>
      </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1000"/>
                                        <p:tgtEl>
                                          <p:spTgt spid="12"/>
                                        </p:tgtEl>
                                      </p:cBhvr>
                                    </p:animEffect>
                                    <p:anim calcmode="lin" valueType="num">
                                      <p:cBhvr>
                                        <p:cTn id="13" dur="1000" fill="hold"/>
                                        <p:tgtEl>
                                          <p:spTgt spid="12"/>
                                        </p:tgtEl>
                                        <p:attrNameLst>
                                          <p:attrName>ppt_x</p:attrName>
                                        </p:attrNameLst>
                                      </p:cBhvr>
                                      <p:tavLst>
                                        <p:tav tm="0">
                                          <p:val>
                                            <p:strVal val="#ppt_x"/>
                                          </p:val>
                                        </p:tav>
                                        <p:tav tm="100000">
                                          <p:val>
                                            <p:strVal val="#ppt_x"/>
                                          </p:val>
                                        </p:tav>
                                      </p:tavLst>
                                    </p:anim>
                                    <p:anim calcmode="lin" valueType="num">
                                      <p:cBhvr>
                                        <p:cTn id="14" dur="1000" fill="hold"/>
                                        <p:tgtEl>
                                          <p:spTgt spid="12"/>
                                        </p:tgtEl>
                                        <p:attrNameLst>
                                          <p:attrName>ppt_y</p:attrName>
                                        </p:attrNameLst>
                                      </p:cBhvr>
                                      <p:tavLst>
                                        <p:tav tm="0">
                                          <p:val>
                                            <p:strVal val="#ppt_y+.1"/>
                                          </p:val>
                                        </p:tav>
                                        <p:tav tm="100000">
                                          <p:val>
                                            <p:strVal val="#ppt_y"/>
                                          </p:val>
                                        </p:tav>
                                      </p:tavLst>
                                    </p:anim>
                                  </p:childTnLst>
                                </p:cTn>
                              </p:par>
                              <p:par>
                                <p:cTn id="15" presetID="47"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1000"/>
                                        <p:tgtEl>
                                          <p:spTgt spid="11"/>
                                        </p:tgtEl>
                                      </p:cBhvr>
                                    </p:animEffect>
                                    <p:anim calcmode="lin" valueType="num">
                                      <p:cBhvr>
                                        <p:cTn id="18" dur="1000" fill="hold"/>
                                        <p:tgtEl>
                                          <p:spTgt spid="11"/>
                                        </p:tgtEl>
                                        <p:attrNameLst>
                                          <p:attrName>ppt_x</p:attrName>
                                        </p:attrNameLst>
                                      </p:cBhvr>
                                      <p:tavLst>
                                        <p:tav tm="0">
                                          <p:val>
                                            <p:strVal val="#ppt_x"/>
                                          </p:val>
                                        </p:tav>
                                        <p:tav tm="100000">
                                          <p:val>
                                            <p:strVal val="#ppt_x"/>
                                          </p:val>
                                        </p:tav>
                                      </p:tavLst>
                                    </p:anim>
                                    <p:anim calcmode="lin" valueType="num">
                                      <p:cBhvr>
                                        <p:cTn id="19" dur="1000" fill="hold"/>
                                        <p:tgtEl>
                                          <p:spTgt spid="11"/>
                                        </p:tgtEl>
                                        <p:attrNameLst>
                                          <p:attrName>ppt_y</p:attrName>
                                        </p:attrNameLst>
                                      </p:cBhvr>
                                      <p:tavLst>
                                        <p:tav tm="0">
                                          <p:val>
                                            <p:strVal val="#ppt_y-.1"/>
                                          </p:val>
                                        </p:tav>
                                        <p:tav tm="100000">
                                          <p:val>
                                            <p:strVal val="#ppt_y"/>
                                          </p:val>
                                        </p:tav>
                                      </p:tavLst>
                                    </p:anim>
                                  </p:childTnLst>
                                </p:cTn>
                              </p:par>
                              <p:par>
                                <p:cTn id="20" presetID="47" presetClass="entr" presetSubtype="0"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1000"/>
                                        <p:tgtEl>
                                          <p:spTgt spid="13"/>
                                        </p:tgtEl>
                                      </p:cBhvr>
                                    </p:animEffect>
                                    <p:anim calcmode="lin" valueType="num">
                                      <p:cBhvr>
                                        <p:cTn id="23" dur="1000" fill="hold"/>
                                        <p:tgtEl>
                                          <p:spTgt spid="13"/>
                                        </p:tgtEl>
                                        <p:attrNameLst>
                                          <p:attrName>ppt_x</p:attrName>
                                        </p:attrNameLst>
                                      </p:cBhvr>
                                      <p:tavLst>
                                        <p:tav tm="0">
                                          <p:val>
                                            <p:strVal val="#ppt_x"/>
                                          </p:val>
                                        </p:tav>
                                        <p:tav tm="100000">
                                          <p:val>
                                            <p:strVal val="#ppt_x"/>
                                          </p:val>
                                        </p:tav>
                                      </p:tavLst>
                                    </p:anim>
                                    <p:anim calcmode="lin" valueType="num">
                                      <p:cBhvr>
                                        <p:cTn id="24"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0" y="112776"/>
            <a:ext cx="3190239" cy="320040"/>
          </a:xfrm>
          <a:prstGeom prst="roundRect">
            <a:avLst/>
          </a:prstGeom>
          <a:solidFill>
            <a:srgbClr val="EFF6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1000" b="1">
                <a:solidFill>
                  <a:srgbClr val="1E40AF"/>
                </a:solidFill>
              </a:defRPr>
            </a:pPr>
            <a:r>
              <a:t>CHƯƠNG 7: CÔNG NGHỆ &amp; AN NINH</a:t>
            </a:r>
          </a:p>
        </p:txBody>
      </p:sp>
      <p:sp>
        <p:nvSpPr>
          <p:cNvPr id="5" name="TextBox 4"/>
          <p:cNvSpPr txBox="1"/>
          <p:nvPr/>
        </p:nvSpPr>
        <p:spPr>
          <a:xfrm>
            <a:off x="731520" y="713232"/>
            <a:ext cx="10728655" cy="548640"/>
          </a:xfrm>
          <a:prstGeom prst="rect">
            <a:avLst/>
          </a:prstGeom>
          <a:noFill/>
        </p:spPr>
        <p:txBody>
          <a:bodyPr wrap="square" lIns="0" tIns="0" rIns="0" bIns="0" anchor="t">
            <a:spAutoFit/>
          </a:bodyPr>
          <a:lstStyle/>
          <a:p>
            <a:pPr>
              <a:defRPr sz="2500" b="1">
                <a:solidFill>
                  <a:srgbClr val="0F172A"/>
                </a:solidFill>
                <a:latin typeface="Segoe UI"/>
              </a:defRPr>
            </a:pPr>
            <a:r>
              <a:t>Danh Mục Công Nghệ &amp; Tiêu Chuẩn Bảo Mật</a:t>
            </a:r>
          </a:p>
        </p:txBody>
      </p:sp>
      <p:sp>
        <p:nvSpPr>
          <p:cNvPr id="6" name="TextBox 5"/>
          <p:cNvSpPr txBox="1"/>
          <p:nvPr/>
        </p:nvSpPr>
        <p:spPr>
          <a:xfrm>
            <a:off x="731520" y="1261872"/>
            <a:ext cx="10728655" cy="215444"/>
          </a:xfrm>
          <a:prstGeom prst="rect">
            <a:avLst/>
          </a:prstGeom>
          <a:noFill/>
        </p:spPr>
        <p:txBody>
          <a:bodyPr wrap="square" lIns="0" tIns="0" rIns="0" bIns="0" anchor="t">
            <a:spAutoFit/>
          </a:bodyPr>
          <a:lstStyle/>
          <a:p>
            <a:pPr>
              <a:defRPr sz="1300">
                <a:solidFill>
                  <a:srgbClr val="475569"/>
                </a:solidFill>
                <a:latin typeface="Segoe UI"/>
              </a:defRPr>
            </a:pPr>
            <a:r>
              <a:rPr sz="1400"/>
              <a:t>Lựa chọn công nghệ hiện đại đảm bảo hiệu năng cao, độ trễ thấp và bảo mật dữ liệu</a:t>
            </a:r>
          </a:p>
        </p:txBody>
      </p:sp>
      <p:sp>
        <p:nvSpPr>
          <p:cNvPr id="7" name="Rectangle 6"/>
          <p:cNvSpPr/>
          <p:nvPr/>
        </p:nvSpPr>
        <p:spPr>
          <a:xfrm>
            <a:off x="731520" y="6327648"/>
            <a:ext cx="10728655" cy="1524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0" name="Table 9"/>
          <p:cNvGraphicFramePr>
            <a:graphicFrameLocks noGrp="1"/>
          </p:cNvGraphicFramePr>
          <p:nvPr>
            <p:extLst>
              <p:ext uri="{D42A27DB-BD31-4B8C-83A1-F6EECF244321}">
                <p14:modId xmlns:p14="http://schemas.microsoft.com/office/powerpoint/2010/main" val="3790794801"/>
              </p:ext>
            </p:extLst>
          </p:nvPr>
        </p:nvGraphicFramePr>
        <p:xfrm>
          <a:off x="731520" y="1691640"/>
          <a:ext cx="6675120" cy="4526280"/>
        </p:xfrm>
        <a:graphic>
          <a:graphicData uri="http://schemas.openxmlformats.org/drawingml/2006/table">
            <a:tbl>
              <a:tblPr firstRow="1" bandRow="1">
                <a:tableStyleId>{5C22544A-7EE6-4342-B048-85BDC9FD1C3A}</a:tableStyleId>
              </a:tblPr>
              <a:tblGrid>
                <a:gridCol w="2225040">
                  <a:extLst>
                    <a:ext uri="{9D8B030D-6E8A-4147-A177-3AD203B41FA5}">
                      <a16:colId xmlns:a16="http://schemas.microsoft.com/office/drawing/2014/main" val="20000"/>
                    </a:ext>
                  </a:extLst>
                </a:gridCol>
                <a:gridCol w="2225040">
                  <a:extLst>
                    <a:ext uri="{9D8B030D-6E8A-4147-A177-3AD203B41FA5}">
                      <a16:colId xmlns:a16="http://schemas.microsoft.com/office/drawing/2014/main" val="20001"/>
                    </a:ext>
                  </a:extLst>
                </a:gridCol>
                <a:gridCol w="2225040">
                  <a:extLst>
                    <a:ext uri="{9D8B030D-6E8A-4147-A177-3AD203B41FA5}">
                      <a16:colId xmlns:a16="http://schemas.microsoft.com/office/drawing/2014/main" val="20002"/>
                    </a:ext>
                  </a:extLst>
                </a:gridCol>
              </a:tblGrid>
              <a:tr h="754380">
                <a:tc>
                  <a:txBody>
                    <a:bodyPr/>
                    <a:lstStyle/>
                    <a:p>
                      <a:pPr>
                        <a:defRPr sz="1150" b="1">
                          <a:solidFill>
                            <a:srgbClr val="FFFFFF"/>
                          </a:solidFill>
                          <a:latin typeface="Segoe UI"/>
                        </a:defRPr>
                      </a:pPr>
                      <a:r>
                        <a:rPr sz="1400"/>
                        <a:t>Thành Phần</a:t>
                      </a:r>
                    </a:p>
                  </a:txBody>
                  <a:tcPr marL="109728" marR="109728" marT="54864" marB="54864">
                    <a:solidFill>
                      <a:srgbClr val="1E40AF"/>
                    </a:solidFill>
                  </a:tcPr>
                </a:tc>
                <a:tc>
                  <a:txBody>
                    <a:bodyPr/>
                    <a:lstStyle/>
                    <a:p>
                      <a:pPr>
                        <a:defRPr sz="1150" b="1">
                          <a:solidFill>
                            <a:srgbClr val="FFFFFF"/>
                          </a:solidFill>
                          <a:latin typeface="Segoe UI"/>
                        </a:defRPr>
                      </a:pPr>
                      <a:r>
                        <a:rPr sz="1400"/>
                        <a:t>Công Nghệ Lựa Chọn</a:t>
                      </a:r>
                    </a:p>
                  </a:txBody>
                  <a:tcPr marL="109728" marR="109728" marT="54864" marB="54864">
                    <a:solidFill>
                      <a:srgbClr val="1E40AF"/>
                    </a:solidFill>
                  </a:tcPr>
                </a:tc>
                <a:tc>
                  <a:txBody>
                    <a:bodyPr/>
                    <a:lstStyle/>
                    <a:p>
                      <a:pPr>
                        <a:defRPr sz="1150" b="1">
                          <a:solidFill>
                            <a:srgbClr val="FFFFFF"/>
                          </a:solidFill>
                          <a:latin typeface="Segoe UI"/>
                        </a:defRPr>
                      </a:pPr>
                      <a:r>
                        <a:rPr sz="1400"/>
                        <a:t>Lý Do Kỹ Thuật</a:t>
                      </a:r>
                    </a:p>
                  </a:txBody>
                  <a:tcPr marL="109728" marR="109728" marT="54864" marB="54864">
                    <a:solidFill>
                      <a:srgbClr val="1E40AF"/>
                    </a:solidFill>
                  </a:tcPr>
                </a:tc>
                <a:extLst>
                  <a:ext uri="{0D108BD9-81ED-4DB2-BD59-A6C34878D82A}">
                    <a16:rowId xmlns:a16="http://schemas.microsoft.com/office/drawing/2014/main" val="10000"/>
                  </a:ext>
                </a:extLst>
              </a:tr>
              <a:tr h="754380">
                <a:tc>
                  <a:txBody>
                    <a:bodyPr/>
                    <a:lstStyle/>
                    <a:p>
                      <a:pPr>
                        <a:defRPr sz="1050" b="1">
                          <a:solidFill>
                            <a:srgbClr val="1E40AF"/>
                          </a:solidFill>
                          <a:latin typeface="Segoe UI"/>
                        </a:defRPr>
                      </a:pPr>
                      <a:r>
                        <a:rPr sz="1400"/>
                        <a:t>Frontend</a:t>
                      </a:r>
                    </a:p>
                  </a:txBody>
                  <a:tcPr marL="109728" marR="109728" marT="54864" marB="54864">
                    <a:solidFill>
                      <a:srgbClr val="FFFFFF"/>
                    </a:solidFill>
                  </a:tcPr>
                </a:tc>
                <a:tc>
                  <a:txBody>
                    <a:bodyPr/>
                    <a:lstStyle/>
                    <a:p>
                      <a:pPr>
                        <a:defRPr sz="1050" b="0">
                          <a:solidFill>
                            <a:srgbClr val="1E293B"/>
                          </a:solidFill>
                          <a:latin typeface="Segoe UI"/>
                        </a:defRPr>
                      </a:pPr>
                      <a:r>
                        <a:rPr sz="1400"/>
                        <a:t>Next.js 16+ / React 19 / TS</a:t>
                      </a:r>
                    </a:p>
                  </a:txBody>
                  <a:tcPr marL="109728" marR="109728" marT="54864" marB="54864">
                    <a:solidFill>
                      <a:srgbClr val="FFFFFF"/>
                    </a:solidFill>
                  </a:tcPr>
                </a:tc>
                <a:tc>
                  <a:txBody>
                    <a:bodyPr/>
                    <a:lstStyle/>
                    <a:p>
                      <a:pPr>
                        <a:defRPr sz="1050" b="0">
                          <a:solidFill>
                            <a:srgbClr val="1E293B"/>
                          </a:solidFill>
                          <a:latin typeface="Segoe UI"/>
                        </a:defRPr>
                      </a:pPr>
                      <a:r>
                        <a:rPr sz="1400"/>
                        <a:t>Single Page App hiệu năng cao, tải trang mượt</a:t>
                      </a:r>
                    </a:p>
                  </a:txBody>
                  <a:tcPr marL="109728" marR="109728" marT="54864" marB="54864">
                    <a:solidFill>
                      <a:srgbClr val="FFFFFF"/>
                    </a:solidFill>
                  </a:tcPr>
                </a:tc>
                <a:extLst>
                  <a:ext uri="{0D108BD9-81ED-4DB2-BD59-A6C34878D82A}">
                    <a16:rowId xmlns:a16="http://schemas.microsoft.com/office/drawing/2014/main" val="10001"/>
                  </a:ext>
                </a:extLst>
              </a:tr>
              <a:tr h="754380">
                <a:tc>
                  <a:txBody>
                    <a:bodyPr/>
                    <a:lstStyle/>
                    <a:p>
                      <a:pPr>
                        <a:defRPr sz="1050" b="1">
                          <a:solidFill>
                            <a:srgbClr val="1E40AF"/>
                          </a:solidFill>
                          <a:latin typeface="Segoe UI"/>
                        </a:defRPr>
                      </a:pPr>
                      <a:r>
                        <a:rPr sz="1400"/>
                        <a:t>Backend</a:t>
                      </a:r>
                    </a:p>
                  </a:txBody>
                  <a:tcPr marL="109728" marR="109728" marT="54864" marB="54864">
                    <a:solidFill>
                      <a:srgbClr val="F0F7FF"/>
                    </a:solidFill>
                  </a:tcPr>
                </a:tc>
                <a:tc>
                  <a:txBody>
                    <a:bodyPr/>
                    <a:lstStyle/>
                    <a:p>
                      <a:pPr>
                        <a:defRPr sz="1050" b="0">
                          <a:solidFill>
                            <a:srgbClr val="1E293B"/>
                          </a:solidFill>
                          <a:latin typeface="Segoe UI"/>
                        </a:defRPr>
                      </a:pPr>
                      <a:r>
                        <a:rPr sz="1400"/>
                        <a:t>NestJS 11+ / Node.js 20 LTS</a:t>
                      </a:r>
                    </a:p>
                  </a:txBody>
                  <a:tcPr marL="109728" marR="109728" marT="54864" marB="54864">
                    <a:solidFill>
                      <a:srgbClr val="F0F7FF"/>
                    </a:solidFill>
                  </a:tcPr>
                </a:tc>
                <a:tc>
                  <a:txBody>
                    <a:bodyPr/>
                    <a:lstStyle/>
                    <a:p>
                      <a:pPr>
                        <a:defRPr sz="1050" b="0">
                          <a:solidFill>
                            <a:srgbClr val="1E293B"/>
                          </a:solidFill>
                          <a:latin typeface="Segoe UI"/>
                        </a:defRPr>
                      </a:pPr>
                      <a:r>
                        <a:rPr sz="1400"/>
                        <a:t>Kiến trúc module chuẩn doanh nghiệp, Type-safe</a:t>
                      </a:r>
                    </a:p>
                  </a:txBody>
                  <a:tcPr marL="109728" marR="109728" marT="54864" marB="54864">
                    <a:solidFill>
                      <a:srgbClr val="F0F7FF"/>
                    </a:solidFill>
                  </a:tcPr>
                </a:tc>
                <a:extLst>
                  <a:ext uri="{0D108BD9-81ED-4DB2-BD59-A6C34878D82A}">
                    <a16:rowId xmlns:a16="http://schemas.microsoft.com/office/drawing/2014/main" val="10002"/>
                  </a:ext>
                </a:extLst>
              </a:tr>
              <a:tr h="754380">
                <a:tc>
                  <a:txBody>
                    <a:bodyPr/>
                    <a:lstStyle/>
                    <a:p>
                      <a:pPr>
                        <a:defRPr sz="1050" b="1">
                          <a:solidFill>
                            <a:srgbClr val="1E40AF"/>
                          </a:solidFill>
                          <a:latin typeface="Segoe UI"/>
                        </a:defRPr>
                      </a:pPr>
                      <a:r>
                        <a:rPr sz="1400"/>
                        <a:t>Database</a:t>
                      </a:r>
                    </a:p>
                  </a:txBody>
                  <a:tcPr marL="109728" marR="109728" marT="54864" marB="54864">
                    <a:solidFill>
                      <a:srgbClr val="FFFFFF"/>
                    </a:solidFill>
                  </a:tcPr>
                </a:tc>
                <a:tc>
                  <a:txBody>
                    <a:bodyPr/>
                    <a:lstStyle/>
                    <a:p>
                      <a:pPr>
                        <a:defRPr sz="1050" b="0">
                          <a:solidFill>
                            <a:srgbClr val="1E293B"/>
                          </a:solidFill>
                          <a:latin typeface="Segoe UI"/>
                        </a:defRPr>
                      </a:pPr>
                      <a:r>
                        <a:rPr sz="1400"/>
                        <a:t>PostgreSQL 15+ / Prisma ORM</a:t>
                      </a:r>
                    </a:p>
                  </a:txBody>
                  <a:tcPr marL="109728" marR="109728" marT="54864" marB="54864">
                    <a:solidFill>
                      <a:srgbClr val="FFFFFF"/>
                    </a:solidFill>
                  </a:tcPr>
                </a:tc>
                <a:tc>
                  <a:txBody>
                    <a:bodyPr/>
                    <a:lstStyle/>
                    <a:p>
                      <a:pPr>
                        <a:defRPr sz="1050" b="0">
                          <a:solidFill>
                            <a:srgbClr val="1E293B"/>
                          </a:solidFill>
                          <a:latin typeface="Segoe UI"/>
                        </a:defRPr>
                      </a:pPr>
                      <a:r>
                        <a:rPr sz="1400"/>
                        <a:t>Toàn vẹn ACID tuyệt đối, hỗ trợ JSONB bản địa</a:t>
                      </a:r>
                    </a:p>
                  </a:txBody>
                  <a:tcPr marL="109728" marR="109728" marT="54864" marB="54864">
                    <a:solidFill>
                      <a:srgbClr val="FFFFFF"/>
                    </a:solidFill>
                  </a:tcPr>
                </a:tc>
                <a:extLst>
                  <a:ext uri="{0D108BD9-81ED-4DB2-BD59-A6C34878D82A}">
                    <a16:rowId xmlns:a16="http://schemas.microsoft.com/office/drawing/2014/main" val="10003"/>
                  </a:ext>
                </a:extLst>
              </a:tr>
              <a:tr h="754380">
                <a:tc>
                  <a:txBody>
                    <a:bodyPr/>
                    <a:lstStyle/>
                    <a:p>
                      <a:pPr>
                        <a:defRPr sz="1050" b="1">
                          <a:solidFill>
                            <a:srgbClr val="1E40AF"/>
                          </a:solidFill>
                          <a:latin typeface="Segoe UI"/>
                        </a:defRPr>
                      </a:pPr>
                      <a:r>
                        <a:rPr sz="1400"/>
                        <a:t>GenAI Model</a:t>
                      </a:r>
                    </a:p>
                  </a:txBody>
                  <a:tcPr marL="109728" marR="109728" marT="54864" marB="54864">
                    <a:solidFill>
                      <a:srgbClr val="F0F7FF"/>
                    </a:solidFill>
                  </a:tcPr>
                </a:tc>
                <a:tc>
                  <a:txBody>
                    <a:bodyPr/>
                    <a:lstStyle/>
                    <a:p>
                      <a:pPr>
                        <a:defRPr sz="1050" b="0">
                          <a:solidFill>
                            <a:srgbClr val="1E293B"/>
                          </a:solidFill>
                          <a:latin typeface="Segoe UI"/>
                        </a:defRPr>
                      </a:pPr>
                      <a:r>
                        <a:rPr sz="1400"/>
                        <a:t>Google Gemini 3.1 Flash-Lite</a:t>
                      </a:r>
                    </a:p>
                  </a:txBody>
                  <a:tcPr marL="109728" marR="109728" marT="54864" marB="54864">
                    <a:solidFill>
                      <a:srgbClr val="F0F7FF"/>
                    </a:solidFill>
                  </a:tcPr>
                </a:tc>
                <a:tc>
                  <a:txBody>
                    <a:bodyPr/>
                    <a:lstStyle/>
                    <a:p>
                      <a:pPr>
                        <a:defRPr sz="1050" b="0">
                          <a:solidFill>
                            <a:srgbClr val="1E293B"/>
                          </a:solidFill>
                          <a:latin typeface="Segoe UI"/>
                        </a:defRPr>
                      </a:pPr>
                      <a:r>
                        <a:rPr sz="1400"/>
                        <a:t>Tốc độ phản hồi cực nhanh, chuẩn JSON output</a:t>
                      </a:r>
                    </a:p>
                  </a:txBody>
                  <a:tcPr marL="109728" marR="109728" marT="54864" marB="54864">
                    <a:solidFill>
                      <a:srgbClr val="F0F7FF"/>
                    </a:solidFill>
                  </a:tcPr>
                </a:tc>
                <a:extLst>
                  <a:ext uri="{0D108BD9-81ED-4DB2-BD59-A6C34878D82A}">
                    <a16:rowId xmlns:a16="http://schemas.microsoft.com/office/drawing/2014/main" val="10004"/>
                  </a:ext>
                </a:extLst>
              </a:tr>
              <a:tr h="754380">
                <a:tc>
                  <a:txBody>
                    <a:bodyPr/>
                    <a:lstStyle/>
                    <a:p>
                      <a:pPr>
                        <a:defRPr sz="1050" b="1">
                          <a:solidFill>
                            <a:srgbClr val="1E40AF"/>
                          </a:solidFill>
                          <a:latin typeface="Segoe UI"/>
                        </a:defRPr>
                      </a:pPr>
                      <a:r>
                        <a:rPr sz="1400"/>
                        <a:t>Tài liệu API</a:t>
                      </a:r>
                    </a:p>
                  </a:txBody>
                  <a:tcPr marL="109728" marR="109728" marT="54864" marB="54864">
                    <a:solidFill>
                      <a:srgbClr val="FFFFFF"/>
                    </a:solidFill>
                  </a:tcPr>
                </a:tc>
                <a:tc>
                  <a:txBody>
                    <a:bodyPr/>
                    <a:lstStyle/>
                    <a:p>
                      <a:pPr>
                        <a:defRPr sz="1050" b="0">
                          <a:solidFill>
                            <a:srgbClr val="1E293B"/>
                          </a:solidFill>
                          <a:latin typeface="Segoe UI"/>
                        </a:defRPr>
                      </a:pPr>
                      <a:r>
                        <a:rPr sz="1400"/>
                        <a:t>Swagger UI (OpenAPI 3.0)</a:t>
                      </a:r>
                    </a:p>
                  </a:txBody>
                  <a:tcPr marL="109728" marR="109728" marT="54864" marB="54864">
                    <a:solidFill>
                      <a:srgbClr val="FFFFFF"/>
                    </a:solidFill>
                  </a:tcPr>
                </a:tc>
                <a:tc>
                  <a:txBody>
                    <a:bodyPr/>
                    <a:lstStyle/>
                    <a:p>
                      <a:pPr>
                        <a:defRPr sz="1050" b="0">
                          <a:solidFill>
                            <a:srgbClr val="1E293B"/>
                          </a:solidFill>
                          <a:latin typeface="Segoe UI"/>
                        </a:defRPr>
                      </a:pPr>
                      <a:r>
                        <a:rPr sz="1400"/>
                        <a:t>Tự động sinh tài liệu và kiểm thử trực tiếp 32 API</a:t>
                      </a:r>
                    </a:p>
                  </a:txBody>
                  <a:tcPr marL="109728" marR="109728" marT="54864" marB="54864">
                    <a:solidFill>
                      <a:srgbClr val="FFFFFF"/>
                    </a:solidFill>
                  </a:tcPr>
                </a:tc>
                <a:extLst>
                  <a:ext uri="{0D108BD9-81ED-4DB2-BD59-A6C34878D82A}">
                    <a16:rowId xmlns:a16="http://schemas.microsoft.com/office/drawing/2014/main" val="10005"/>
                  </a:ext>
                </a:extLst>
              </a:tr>
            </a:tbl>
          </a:graphicData>
        </a:graphic>
      </p:graphicFrame>
      <p:sp>
        <p:nvSpPr>
          <p:cNvPr id="11" name="Rounded Rectangle 10"/>
          <p:cNvSpPr/>
          <p:nvPr/>
        </p:nvSpPr>
        <p:spPr>
          <a:xfrm>
            <a:off x="7711135" y="1691640"/>
            <a:ext cx="4064305" cy="4526280"/>
          </a:xfrm>
          <a:prstGeom prst="roundRect">
            <a:avLst/>
          </a:prstGeom>
          <a:solidFill>
            <a:srgbClr val="FFFF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wrap="square" lIns="219456" tIns="219456" rIns="219456" rtlCol="0" anchor="t"/>
          <a:lstStyle/>
          <a:p>
            <a:pPr algn="ctr">
              <a:spcBef>
                <a:spcPts val="300"/>
              </a:spcBef>
              <a:defRPr sz="1650" b="1">
                <a:solidFill>
                  <a:srgbClr val="1E40AF"/>
                </a:solidFill>
                <a:latin typeface="Segoe UI"/>
              </a:defRPr>
            </a:pPr>
            <a:r>
              <a:t>Tiêu Chuẩn Bảo Mật Đa Lớp</a:t>
            </a:r>
          </a:p>
          <a:p>
            <a:pPr>
              <a:spcBef>
                <a:spcPts val="500"/>
              </a:spcBef>
              <a:defRPr sz="1150">
                <a:solidFill>
                  <a:srgbClr val="1E293B"/>
                </a:solidFill>
              </a:defRPr>
            </a:pPr>
            <a:r>
              <a:rPr sz="1400"/>
              <a:t>• Xác thực JWT Stateless:Token được ký bảo mật HS256, truyền qua HTTP HeaderAuthorization: Bearer &lt;token&gt;, thời hạn hiệu lực 24 giờ.</a:t>
            </a:r>
          </a:p>
          <a:p>
            <a:pPr>
              <a:spcBef>
                <a:spcPts val="500"/>
              </a:spcBef>
              <a:defRPr sz="1150">
                <a:solidFill>
                  <a:srgbClr val="1E293B"/>
                </a:solidFill>
              </a:defRPr>
            </a:pPr>
            <a:r>
              <a:rPr sz="1400"/>
              <a:t>• Băm mật khẩu an toàn:Sử dụng thuật toán Argon2/Bcrypt kèm Salt ngẫu nhiên, chống lại các cuộc tấn công vét cạn và Rainbow Table.</a:t>
            </a:r>
          </a:p>
          <a:p>
            <a:pPr>
              <a:spcBef>
                <a:spcPts val="500"/>
              </a:spcBef>
              <a:defRPr sz="1150">
                <a:solidFill>
                  <a:srgbClr val="1E293B"/>
                </a:solidFill>
              </a:defRPr>
            </a:pPr>
            <a:r>
              <a:rPr sz="1400"/>
              <a:t>• Cách ly tuyệt đối API Key:Toàn bộ Google Gemini API Key lưu độc quyền tại biến môi trường.envtrên Server, tuyệt đối không lộ về Client.</a:t>
            </a:r>
          </a:p>
          <a:p>
            <a:pPr>
              <a:spcBef>
                <a:spcPts val="500"/>
              </a:spcBef>
              <a:defRPr sz="1150">
                <a:solidFill>
                  <a:srgbClr val="1E293B"/>
                </a:solidFill>
              </a:defRPr>
            </a:pPr>
            <a:r>
              <a:rPr sz="1400"/>
              <a:t>• Kiểm soát RBAC đa tầng:Chặn truy cập trái phép đồng thời tại Next.js Middleware và NestJS Route Guards (403 Forbidden).</a:t>
            </a:r>
          </a:p>
        </p:txBody>
      </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right)">
                                      <p:cBhvr>
                                        <p:cTn id="7" dur="500"/>
                                        <p:tgtEl>
                                          <p:spTgt spid="11"/>
                                        </p:tgtEl>
                                      </p:cBhvr>
                                    </p:animEffect>
                                  </p:childTnLst>
                                </p:cTn>
                              </p:par>
                              <p:par>
                                <p:cTn id="8" presetID="22" presetClass="entr" presetSubtype="2"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right)">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 y="73152"/>
            <a:ext cx="3261360" cy="292608"/>
          </a:xfrm>
          <a:prstGeom prst="roundRect">
            <a:avLst/>
          </a:prstGeom>
          <a:solidFill>
            <a:srgbClr val="EFF6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1000" b="1">
                <a:solidFill>
                  <a:srgbClr val="1E40AF"/>
                </a:solidFill>
              </a:defRPr>
            </a:pPr>
            <a:r>
              <a:t>CHƯƠNG 7: GIAO TIẾP HỆ THỐNG</a:t>
            </a:r>
          </a:p>
        </p:txBody>
      </p:sp>
      <p:sp>
        <p:nvSpPr>
          <p:cNvPr id="5" name="TextBox 4"/>
          <p:cNvSpPr txBox="1"/>
          <p:nvPr/>
        </p:nvSpPr>
        <p:spPr>
          <a:xfrm>
            <a:off x="731520" y="713232"/>
            <a:ext cx="10728655" cy="548640"/>
          </a:xfrm>
          <a:prstGeom prst="rect">
            <a:avLst/>
          </a:prstGeom>
          <a:noFill/>
        </p:spPr>
        <p:txBody>
          <a:bodyPr wrap="square" lIns="0" tIns="0" rIns="0" bIns="0" anchor="t">
            <a:spAutoFit/>
          </a:bodyPr>
          <a:lstStyle/>
          <a:p>
            <a:pPr>
              <a:defRPr sz="2500" b="1">
                <a:solidFill>
                  <a:srgbClr val="0F172A"/>
                </a:solidFill>
                <a:latin typeface="Segoe UI"/>
              </a:defRPr>
            </a:pPr>
            <a:r>
              <a:t>Quy Chuẩn Kỹ Thuật &amp; Đặc Tả 32 RESTful APIs</a:t>
            </a:r>
          </a:p>
        </p:txBody>
      </p:sp>
      <p:sp>
        <p:nvSpPr>
          <p:cNvPr id="6" name="TextBox 5"/>
          <p:cNvSpPr txBox="1"/>
          <p:nvPr/>
        </p:nvSpPr>
        <p:spPr>
          <a:xfrm>
            <a:off x="731520" y="1261872"/>
            <a:ext cx="10728655" cy="215444"/>
          </a:xfrm>
          <a:prstGeom prst="rect">
            <a:avLst/>
          </a:prstGeom>
          <a:noFill/>
        </p:spPr>
        <p:txBody>
          <a:bodyPr wrap="square" lIns="0" tIns="0" rIns="0" bIns="0" anchor="t">
            <a:spAutoFit/>
          </a:bodyPr>
          <a:lstStyle/>
          <a:p>
            <a:pPr>
              <a:defRPr sz="1300">
                <a:solidFill>
                  <a:srgbClr val="475569"/>
                </a:solidFill>
                <a:latin typeface="Segoe UI"/>
              </a:defRPr>
            </a:pPr>
            <a:r>
              <a:rPr sz="1400"/>
              <a:t>Giao tiếp tiêu chuẩn hóa qua định dạng JSON, đầy đủ mã trạng thái HTTP và xác thực JWT</a:t>
            </a:r>
          </a:p>
        </p:txBody>
      </p:sp>
      <p:sp>
        <p:nvSpPr>
          <p:cNvPr id="7" name="Rectangle 6"/>
          <p:cNvSpPr/>
          <p:nvPr/>
        </p:nvSpPr>
        <p:spPr>
          <a:xfrm>
            <a:off x="731520" y="6327648"/>
            <a:ext cx="10728655" cy="1524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31520" y="1691640"/>
            <a:ext cx="3401568" cy="4526280"/>
          </a:xfrm>
          <a:prstGeom prst="roundRect">
            <a:avLst/>
          </a:prstGeom>
          <a:solidFill>
            <a:srgbClr val="FFFF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wrap="square" lIns="219456" tIns="219456" rIns="219456" rtlCol="0" anchor="t"/>
          <a:lstStyle/>
          <a:p>
            <a:pPr algn="ctr">
              <a:spcBef>
                <a:spcPts val="300"/>
              </a:spcBef>
              <a:defRPr sz="1650" b="1">
                <a:solidFill>
                  <a:srgbClr val="1E40AF"/>
                </a:solidFill>
                <a:latin typeface="Segoe UI"/>
              </a:defRPr>
            </a:pPr>
            <a:r>
              <a:t>Auth &amp; Đào Tạo (14 APIs)</a:t>
            </a:r>
          </a:p>
          <a:p>
            <a:pPr>
              <a:spcBef>
                <a:spcPts val="500"/>
              </a:spcBef>
              <a:defRPr sz="1150">
                <a:solidFill>
                  <a:srgbClr val="1E293B"/>
                </a:solidFill>
              </a:defRPr>
            </a:pPr>
            <a:r>
              <a:rPr sz="1300"/>
              <a:t>• POST /auth/login: Cấp JWT Token.</a:t>
            </a:r>
          </a:p>
          <a:p>
            <a:pPr>
              <a:spcBef>
                <a:spcPts val="500"/>
              </a:spcBef>
              <a:defRPr sz="1150">
                <a:solidFill>
                  <a:srgbClr val="1E293B"/>
                </a:solidFill>
              </a:defRPr>
            </a:pPr>
            <a:r>
              <a:rPr sz="1300"/>
              <a:t>• GET /auth/me: Lấy profile hiện tại.</a:t>
            </a:r>
          </a:p>
          <a:p>
            <a:pPr>
              <a:spcBef>
                <a:spcPts val="500"/>
              </a:spcBef>
              <a:defRPr sz="1150">
                <a:solidFill>
                  <a:srgbClr val="1E293B"/>
                </a:solidFill>
              </a:defRPr>
            </a:pPr>
            <a:r>
              <a:rPr sz="1300"/>
              <a:t>• GET /students: Lọc danh sách CEFR.</a:t>
            </a:r>
          </a:p>
          <a:p>
            <a:pPr>
              <a:spcBef>
                <a:spcPts val="500"/>
              </a:spcBef>
              <a:defRPr sz="1150">
                <a:solidFill>
                  <a:srgbClr val="1E293B"/>
                </a:solidFill>
              </a:defRPr>
            </a:pPr>
            <a:r>
              <a:rPr sz="1300"/>
              <a:t>• POST /students: Tiếp nhận hồ sơ.</a:t>
            </a:r>
          </a:p>
          <a:p>
            <a:pPr>
              <a:spcBef>
                <a:spcPts val="500"/>
              </a:spcBef>
              <a:defRPr sz="1150">
                <a:solidFill>
                  <a:srgbClr val="1E293B"/>
                </a:solidFill>
              </a:defRPr>
            </a:pPr>
            <a:r>
              <a:rPr sz="1300"/>
              <a:t>• GET /courses: Danh mục khóa học.</a:t>
            </a:r>
          </a:p>
          <a:p>
            <a:pPr>
              <a:spcBef>
                <a:spcPts val="500"/>
              </a:spcBef>
              <a:defRPr sz="1150">
                <a:solidFill>
                  <a:srgbClr val="1E293B"/>
                </a:solidFill>
              </a:defRPr>
            </a:pPr>
            <a:r>
              <a:rPr sz="1300"/>
              <a:t>• POST /courses: Tạo mới khóa học.</a:t>
            </a:r>
          </a:p>
          <a:p>
            <a:pPr>
              <a:spcBef>
                <a:spcPts val="500"/>
              </a:spcBef>
              <a:defRPr sz="1150">
                <a:solidFill>
                  <a:srgbClr val="1E293B"/>
                </a:solidFill>
              </a:defRPr>
            </a:pPr>
            <a:r>
              <a:rPr sz="1300"/>
              <a:t>• POST /classes: Mở lớp học (Max 25).</a:t>
            </a:r>
          </a:p>
          <a:p>
            <a:pPr>
              <a:spcBef>
                <a:spcPts val="500"/>
              </a:spcBef>
              <a:defRPr sz="1150">
                <a:solidFill>
                  <a:srgbClr val="1E293B"/>
                </a:solidFill>
              </a:defRPr>
            </a:pPr>
            <a:r>
              <a:rPr sz="1300"/>
              <a:t>• POST /classes/{id}/schedules: Xếp TKB.</a:t>
            </a:r>
          </a:p>
          <a:p>
            <a:pPr>
              <a:spcBef>
                <a:spcPts val="500"/>
              </a:spcBef>
              <a:defRPr sz="1150">
                <a:solidFill>
                  <a:srgbClr val="1E293B"/>
                </a:solidFill>
              </a:defRPr>
            </a:pPr>
            <a:r>
              <a:rPr sz="1300"/>
              <a:t>• POST /assign-teacher: Phân công GV.</a:t>
            </a:r>
          </a:p>
        </p:txBody>
      </p:sp>
      <p:sp>
        <p:nvSpPr>
          <p:cNvPr id="11" name="Rounded Rectangle 10"/>
          <p:cNvSpPr/>
          <p:nvPr/>
        </p:nvSpPr>
        <p:spPr>
          <a:xfrm>
            <a:off x="4389120" y="1691640"/>
            <a:ext cx="3401568" cy="4526280"/>
          </a:xfrm>
          <a:prstGeom prst="roundRect">
            <a:avLst/>
          </a:prstGeom>
          <a:solidFill>
            <a:srgbClr val="FFFF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wrap="square" lIns="219456" tIns="219456" rIns="219456" rtlCol="0" anchor="t"/>
          <a:lstStyle/>
          <a:p>
            <a:pPr algn="ctr">
              <a:spcBef>
                <a:spcPts val="300"/>
              </a:spcBef>
              <a:defRPr sz="1650" b="1">
                <a:solidFill>
                  <a:srgbClr val="1E40AF"/>
                </a:solidFill>
                <a:latin typeface="Segoe UI"/>
              </a:defRPr>
            </a:pPr>
            <a:r>
              <a:t>Ghi Danh &amp; Học Phí (11 APIs)</a:t>
            </a:r>
          </a:p>
          <a:p>
            <a:pPr>
              <a:spcBef>
                <a:spcPts val="500"/>
              </a:spcBef>
              <a:defRPr sz="1150">
                <a:solidFill>
                  <a:srgbClr val="1E293B"/>
                </a:solidFill>
              </a:defRPr>
            </a:pPr>
            <a:r>
              <a:rPr sz="1300"/>
              <a:t>• POST /enrollments: Đăng ký &amp; tự tạo HĐ.</a:t>
            </a:r>
          </a:p>
          <a:p>
            <a:pPr>
              <a:spcBef>
                <a:spcPts val="500"/>
              </a:spcBef>
              <a:defRPr sz="1150">
                <a:solidFill>
                  <a:srgbClr val="1E293B"/>
                </a:solidFill>
              </a:defRPr>
            </a:pPr>
            <a:r>
              <a:rPr sz="1300"/>
              <a:t>• GET /enrollments: Tra cứu hồ sơ lớp.</a:t>
            </a:r>
          </a:p>
          <a:p>
            <a:pPr>
              <a:spcBef>
                <a:spcPts val="500"/>
              </a:spcBef>
              <a:defRPr sz="1150">
                <a:solidFill>
                  <a:srgbClr val="1E293B"/>
                </a:solidFill>
              </a:defRPr>
            </a:pPr>
            <a:r>
              <a:rPr sz="1300"/>
              <a:t>• GET /invoices: Danh mục công nợ.</a:t>
            </a:r>
          </a:p>
          <a:p>
            <a:pPr>
              <a:spcBef>
                <a:spcPts val="500"/>
              </a:spcBef>
              <a:defRPr sz="1150">
                <a:solidFill>
                  <a:srgbClr val="1E293B"/>
                </a:solidFill>
              </a:defRPr>
            </a:pPr>
            <a:r>
              <a:rPr sz="1300"/>
              <a:t>• POST /invoices/{id}/payments: Thu phí.</a:t>
            </a:r>
          </a:p>
          <a:p>
            <a:pPr>
              <a:spcBef>
                <a:spcPts val="500"/>
              </a:spcBef>
              <a:defRPr sz="1150">
                <a:solidFill>
                  <a:srgbClr val="1E293B"/>
                </a:solidFill>
              </a:defRPr>
            </a:pPr>
            <a:r>
              <a:rPr sz="1300"/>
              <a:t>• GET /sessions: Danh sách buổi học.</a:t>
            </a:r>
          </a:p>
          <a:p>
            <a:pPr>
              <a:spcBef>
                <a:spcPts val="500"/>
              </a:spcBef>
              <a:defRPr sz="1150">
                <a:solidFill>
                  <a:srgbClr val="1E293B"/>
                </a:solidFill>
              </a:defRPr>
            </a:pPr>
            <a:r>
              <a:rPr sz="1300"/>
              <a:t>• POST /attendance: Lưu 4 trạng thái.</a:t>
            </a:r>
          </a:p>
          <a:p>
            <a:pPr>
              <a:spcBef>
                <a:spcPts val="500"/>
              </a:spcBef>
              <a:defRPr sz="1150">
                <a:solidFill>
                  <a:srgbClr val="1E293B"/>
                </a:solidFill>
              </a:defRPr>
            </a:pPr>
            <a:r>
              <a:rPr sz="1300"/>
              <a:t>• POST /grades: Nhập điểm 20/30/50.</a:t>
            </a:r>
          </a:p>
          <a:p>
            <a:pPr>
              <a:spcBef>
                <a:spcPts val="500"/>
              </a:spcBef>
              <a:defRPr sz="1150">
                <a:solidFill>
                  <a:srgbClr val="1E293B"/>
                </a:solidFill>
              </a:defRPr>
            </a:pPr>
            <a:r>
              <a:rPr sz="1300"/>
              <a:t>• GET /reports/dashboard: Báo cáo số liệu.</a:t>
            </a:r>
          </a:p>
        </p:txBody>
      </p:sp>
      <p:sp>
        <p:nvSpPr>
          <p:cNvPr id="12" name="Rounded Rectangle 11"/>
          <p:cNvSpPr/>
          <p:nvPr/>
        </p:nvSpPr>
        <p:spPr>
          <a:xfrm>
            <a:off x="8046720" y="1691640"/>
            <a:ext cx="3401568" cy="4526280"/>
          </a:xfrm>
          <a:prstGeom prst="roundRect">
            <a:avLst/>
          </a:prstGeom>
          <a:solidFill>
            <a:srgbClr val="FFFF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wrap="square" lIns="219456" tIns="219456" rIns="219456" rtlCol="0" anchor="t"/>
          <a:lstStyle/>
          <a:p>
            <a:pPr algn="ctr">
              <a:spcBef>
                <a:spcPts val="300"/>
              </a:spcBef>
              <a:defRPr sz="1650" b="1">
                <a:solidFill>
                  <a:srgbClr val="1E40AF"/>
                </a:solidFill>
                <a:latin typeface="Segoe UI"/>
              </a:defRPr>
            </a:pPr>
            <a:r>
              <a:t>Trí Tuệ Nhân Tạo (3 APIs)</a:t>
            </a:r>
          </a:p>
          <a:p>
            <a:pPr>
              <a:spcBef>
                <a:spcPts val="500"/>
              </a:spcBef>
              <a:defRPr sz="1150">
                <a:solidFill>
                  <a:srgbClr val="1E293B"/>
                </a:solidFill>
              </a:defRPr>
            </a:pPr>
            <a:r>
              <a:rPr sz="1300"/>
              <a:t>• POST /api/v1/ai/consult-classes: Gợi ý tối đa 3 lớp học thực tế theo CEFR &amp; lịch rảnh.</a:t>
            </a:r>
          </a:p>
          <a:p>
            <a:pPr>
              <a:spcBef>
                <a:spcPts val="500"/>
              </a:spcBef>
              <a:defRPr sz="1150">
                <a:solidFill>
                  <a:srgbClr val="1E293B"/>
                </a:solidFill>
              </a:defRPr>
            </a:pPr>
            <a:r>
              <a:rPr sz="1300"/>
              <a:t>• POST /api/v1/ai/generate-exercises: Sinh bài tập trắc nghiệm CEFR kèm đáp án &amp; giải thích.</a:t>
            </a:r>
          </a:p>
          <a:p>
            <a:pPr>
              <a:spcBef>
                <a:spcPts val="500"/>
              </a:spcBef>
              <a:defRPr sz="1150">
                <a:solidFill>
                  <a:srgbClr val="1E293B"/>
                </a:solidFill>
              </a:defRPr>
            </a:pPr>
            <a:r>
              <a:rPr sz="1300"/>
              <a:t>• POST /api/v1/ai/summarize-progress: Tóm tắt tiến độ, điểm mạnh/yếu &amp; đề xuất ôn tập.</a:t>
            </a:r>
          </a:p>
          <a:p>
            <a:pPr>
              <a:spcBef>
                <a:spcPts val="700"/>
              </a:spcBef>
              <a:defRPr sz="1100">
                <a:solidFill>
                  <a:srgbClr val="1E40AF"/>
                </a:solidFill>
              </a:defRPr>
            </a:pPr>
            <a:r>
              <a:rPr sz="1300"/>
              <a:t>► Timeout 10s: Tự động kích hoạt Fallback CSDL và lưu vết kiểm toán vào bảngYeuCauAI</a:t>
            </a:r>
            <a:r>
              <a:t>.</a:t>
            </a:r>
          </a:p>
        </p:txBody>
      </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wipe(left)">
                                      <p:cBhvr>
                                        <p:cTn id="10" dur="500"/>
                                        <p:tgtEl>
                                          <p:spTgt spid="11"/>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wipe(left)">
                                      <p:cBhvr>
                                        <p:cTn id="1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0" y="82296"/>
            <a:ext cx="3406140" cy="310896"/>
          </a:xfrm>
          <a:prstGeom prst="roundRect">
            <a:avLst/>
          </a:prstGeom>
          <a:solidFill>
            <a:srgbClr val="EFF6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1000" b="1">
                <a:solidFill>
                  <a:srgbClr val="1E40AF"/>
                </a:solidFill>
              </a:defRPr>
            </a:pPr>
            <a:r>
              <a:t>CHƯƠNG 4 &amp; 7: ỨNG DỤNG AI</a:t>
            </a:r>
          </a:p>
        </p:txBody>
      </p:sp>
      <p:sp>
        <p:nvSpPr>
          <p:cNvPr id="5" name="TextBox 4"/>
          <p:cNvSpPr txBox="1"/>
          <p:nvPr/>
        </p:nvSpPr>
        <p:spPr>
          <a:xfrm>
            <a:off x="731520" y="713232"/>
            <a:ext cx="10728655" cy="384721"/>
          </a:xfrm>
          <a:prstGeom prst="rect">
            <a:avLst/>
          </a:prstGeom>
          <a:noFill/>
        </p:spPr>
        <p:txBody>
          <a:bodyPr wrap="square" lIns="0" tIns="0" rIns="0" bIns="0" anchor="t">
            <a:spAutoFit/>
          </a:bodyPr>
          <a:lstStyle/>
          <a:p>
            <a:pPr>
              <a:defRPr sz="2500" b="1">
                <a:solidFill>
                  <a:srgbClr val="0F172A"/>
                </a:solidFill>
                <a:latin typeface="Segoe UI"/>
              </a:defRPr>
            </a:pPr>
            <a:r>
              <a:t>Chức Năng AI 1: Tư Vấn Lớp Học Phù Hợp </a:t>
            </a:r>
          </a:p>
        </p:txBody>
      </p:sp>
      <p:sp>
        <p:nvSpPr>
          <p:cNvPr id="6" name="TextBox 5"/>
          <p:cNvSpPr txBox="1"/>
          <p:nvPr/>
        </p:nvSpPr>
        <p:spPr>
          <a:xfrm>
            <a:off x="731520" y="1261872"/>
            <a:ext cx="10728655" cy="215444"/>
          </a:xfrm>
          <a:prstGeom prst="rect">
            <a:avLst/>
          </a:prstGeom>
          <a:noFill/>
        </p:spPr>
        <p:txBody>
          <a:bodyPr wrap="square" lIns="0" tIns="0" rIns="0" bIns="0" anchor="t">
            <a:spAutoFit/>
          </a:bodyPr>
          <a:lstStyle/>
          <a:p>
            <a:pPr>
              <a:defRPr sz="1300">
                <a:solidFill>
                  <a:srgbClr val="475569"/>
                </a:solidFill>
                <a:latin typeface="Segoe UI"/>
              </a:defRPr>
            </a:pPr>
            <a:r>
              <a:rPr sz="1400"/>
              <a:t>Khớp trình độ CEFR, lịch rảnh cá nhân và danh sách các lớp học thực tế còn chỗ</a:t>
            </a:r>
          </a:p>
        </p:txBody>
      </p:sp>
      <p:sp>
        <p:nvSpPr>
          <p:cNvPr id="7" name="Rectangle 6"/>
          <p:cNvSpPr/>
          <p:nvPr/>
        </p:nvSpPr>
        <p:spPr>
          <a:xfrm>
            <a:off x="731520" y="6327648"/>
            <a:ext cx="10728655" cy="1524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31520" y="1738033"/>
            <a:ext cx="5212080" cy="4526280"/>
          </a:xfrm>
          <a:prstGeom prst="roundRect">
            <a:avLst/>
          </a:prstGeom>
          <a:solidFill>
            <a:srgbClr val="FFFF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wrap="square" lIns="219456" tIns="219456" rIns="219456" rtlCol="0" anchor="t"/>
          <a:lstStyle/>
          <a:p>
            <a:pPr algn="ctr">
              <a:spcBef>
                <a:spcPts val="300"/>
              </a:spcBef>
              <a:defRPr sz="1650" b="1">
                <a:solidFill>
                  <a:srgbClr val="1E40AF"/>
                </a:solidFill>
                <a:latin typeface="Segoe UI"/>
              </a:defRPr>
            </a:pPr>
            <a:r>
              <a:t>Quy Trình Xử Lý &amp; Lọc Ảo Giác</a:t>
            </a:r>
          </a:p>
          <a:p>
            <a:pPr>
              <a:spcBef>
                <a:spcPts val="500"/>
              </a:spcBef>
              <a:defRPr sz="1150">
                <a:solidFill>
                  <a:srgbClr val="1E293B"/>
                </a:solidFill>
              </a:defRPr>
            </a:pPr>
            <a:r>
              <a:rPr sz="1400"/>
              <a:t>• Dữ liệu đầu vào:Trình độ CEFR của học viên (A1-C2), mảng JSON lịch rảnh và danh sách lớp đang mở trong CSDL (sĩ số &lt; 25).</a:t>
            </a:r>
          </a:p>
          <a:p>
            <a:pPr>
              <a:spcBef>
                <a:spcPts val="500"/>
              </a:spcBef>
              <a:defRPr sz="1150">
                <a:solidFill>
                  <a:srgbClr val="1E293B"/>
                </a:solidFill>
              </a:defRPr>
            </a:pPr>
            <a:r>
              <a:rPr sz="1400"/>
              <a:t>• Kỹ thuật Prompt:System Prompt ràng buộc nghiêm ngặt:"Chỉ gợi ý các lớp có trong danh sách được cung cấp. Tuyệt đối không bịa đặt lớp ngoài dữ liệu và không cam kết kết quả học tập."</a:t>
            </a:r>
          </a:p>
          <a:p>
            <a:pPr>
              <a:spcBef>
                <a:spcPts val="500"/>
              </a:spcBef>
              <a:defRPr sz="1150">
                <a:solidFill>
                  <a:srgbClr val="1E293B"/>
                </a:solidFill>
              </a:defRPr>
            </a:pPr>
            <a:r>
              <a:rPr sz="1400"/>
              <a:t>• Bộ lọc Zero-Trust:Backend kiểm tra đối chiếu mã lớp do AI trả về với CSDL thực tế; tự động loại bỏ mã lớp không tồn tại trước khi hiển thị cho người dùng.</a:t>
            </a:r>
          </a:p>
          <a:p>
            <a:pPr>
              <a:spcBef>
                <a:spcPts val="500"/>
              </a:spcBef>
              <a:defRPr sz="1150">
                <a:solidFill>
                  <a:srgbClr val="1E293B"/>
                </a:solidFill>
              </a:defRPr>
            </a:pPr>
            <a:r>
              <a:rPr sz="1400"/>
              <a:t>• Đầu ra chuẩn hóa:Danh sách tối đa 3 lớp học tối ưu nhất kèm phân tích lý do phù hợp.</a:t>
            </a:r>
          </a:p>
        </p:txBody>
      </p:sp>
      <p:sp>
        <p:nvSpPr>
          <p:cNvPr id="11" name="Rounded Rectangle 10"/>
          <p:cNvSpPr/>
          <p:nvPr/>
        </p:nvSpPr>
        <p:spPr>
          <a:xfrm>
            <a:off x="6400647" y="1738033"/>
            <a:ext cx="5212080" cy="4526280"/>
          </a:xfrm>
          <a:prstGeom prst="roundRect">
            <a:avLst/>
          </a:prstGeom>
          <a:solidFill>
            <a:srgbClr val="FFFF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wrap="square" lIns="219456" tIns="219456" rIns="219456" rtlCol="0" anchor="t"/>
          <a:lstStyle/>
          <a:p>
            <a:pPr algn="ctr">
              <a:spcBef>
                <a:spcPts val="300"/>
              </a:spcBef>
              <a:defRPr sz="1650" b="1">
                <a:solidFill>
                  <a:srgbClr val="1E40AF"/>
                </a:solidFill>
                <a:latin typeface="Segoe UI"/>
              </a:defRPr>
            </a:pPr>
            <a:r>
              <a:t>Cơ Chế Dự Phòng (Rule-Based Fallback)</a:t>
            </a:r>
          </a:p>
          <a:p>
            <a:pPr>
              <a:spcBef>
                <a:spcPts val="700"/>
              </a:spcBef>
              <a:defRPr sz="1200">
                <a:solidFill>
                  <a:srgbClr val="1E293B"/>
                </a:solidFill>
              </a:defRPr>
            </a:pPr>
            <a:r>
              <a:rPr sz="1400"/>
              <a:t>Hệ thống thiết lập cơ chế đảm bảo vận hành liên tục khi xảy ra sự cố mạng hoặc lỗi nhà cung cấp:</a:t>
            </a:r>
          </a:p>
          <a:p>
            <a:pPr>
              <a:spcBef>
                <a:spcPts val="700"/>
              </a:spcBef>
              <a:defRPr sz="1100">
                <a:solidFill>
                  <a:srgbClr val="1E40AF"/>
                </a:solidFill>
              </a:defRPr>
            </a:pPr>
            <a:r>
              <a:rPr sz="1400"/>
              <a:t>► Quy tắc Fallback tự động:Khi thời gian chờ vượt quá 10 giây hoặc dịch vụ AI gián đoạn, hệ thống tự động kích hoạt bộ lọc truy vấn SQL truyền thống:Khớp chính xác trình độ CEFR của khóa học.Lọc các ca học trùng với khung giờ rảnh của học viên.Sắp xếp theo thứ tự ưu tiên số chỗ trống còn lại.</a:t>
            </a:r>
          </a:p>
          <a:p>
            <a:pPr>
              <a:spcBef>
                <a:spcPts val="700"/>
              </a:spcBef>
              <a:defRPr sz="1100">
                <a:solidFill>
                  <a:srgbClr val="1E40AF"/>
                </a:solidFill>
              </a:defRPr>
            </a:pPr>
            <a:r>
              <a:rPr sz="1400"/>
              <a:t>► Toàn bộ phiên gọi và trạng thái Fallback được lưu vết vào bảngYeuCauAIđể giám sát chất lượng.</a:t>
            </a:r>
          </a:p>
        </p:txBody>
      </p:sp>
    </p:spTree>
  </p:cSld>
  <p:clrMapOvr>
    <a:masterClrMapping/>
  </p:clrMapOvr>
  <p:transition spd="med">
    <p:blinds dir="ver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0" y="81623"/>
            <a:ext cx="3406140" cy="310896"/>
          </a:xfrm>
          <a:prstGeom prst="roundRect">
            <a:avLst/>
          </a:prstGeom>
          <a:solidFill>
            <a:srgbClr val="EFF6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1000" b="1">
                <a:solidFill>
                  <a:srgbClr val="1E40AF"/>
                </a:solidFill>
              </a:defRPr>
            </a:pPr>
            <a:r>
              <a:t>CHƯƠNG 4 &amp; 7: ỨNG DỤNG AI</a:t>
            </a:r>
          </a:p>
        </p:txBody>
      </p:sp>
      <p:sp>
        <p:nvSpPr>
          <p:cNvPr id="5" name="TextBox 4"/>
          <p:cNvSpPr txBox="1"/>
          <p:nvPr/>
        </p:nvSpPr>
        <p:spPr>
          <a:xfrm>
            <a:off x="731520" y="713232"/>
            <a:ext cx="10728655" cy="384721"/>
          </a:xfrm>
          <a:prstGeom prst="rect">
            <a:avLst/>
          </a:prstGeom>
          <a:noFill/>
        </p:spPr>
        <p:txBody>
          <a:bodyPr wrap="square" lIns="0" tIns="0" rIns="0" bIns="0" anchor="t">
            <a:spAutoFit/>
          </a:bodyPr>
          <a:lstStyle/>
          <a:p>
            <a:pPr>
              <a:defRPr sz="2500" b="1">
                <a:solidFill>
                  <a:srgbClr val="0F172A"/>
                </a:solidFill>
                <a:latin typeface="Segoe UI"/>
              </a:defRPr>
            </a:pPr>
            <a:r>
              <a:t>Chức Năng AI 2: Sinh Bài Luyện Tập Ngắn </a:t>
            </a:r>
          </a:p>
        </p:txBody>
      </p:sp>
      <p:sp>
        <p:nvSpPr>
          <p:cNvPr id="6" name="TextBox 5"/>
          <p:cNvSpPr txBox="1"/>
          <p:nvPr/>
        </p:nvSpPr>
        <p:spPr>
          <a:xfrm>
            <a:off x="731520" y="1261872"/>
            <a:ext cx="10728655" cy="215444"/>
          </a:xfrm>
          <a:prstGeom prst="rect">
            <a:avLst/>
          </a:prstGeom>
          <a:noFill/>
        </p:spPr>
        <p:txBody>
          <a:bodyPr wrap="square" lIns="0" tIns="0" rIns="0" bIns="0" anchor="t">
            <a:spAutoFit/>
          </a:bodyPr>
          <a:lstStyle/>
          <a:p>
            <a:pPr>
              <a:defRPr sz="1300">
                <a:solidFill>
                  <a:srgbClr val="475569"/>
                </a:solidFill>
                <a:latin typeface="Segoe UI"/>
              </a:defRPr>
            </a:pPr>
            <a:r>
              <a:rPr sz="1400"/>
              <a:t>Tạo bộ câu hỏi trắc nghiệm ngữ pháp/từ vựng theo chuẩn CEFR tức thì kèm giải thích</a:t>
            </a:r>
          </a:p>
        </p:txBody>
      </p:sp>
      <p:sp>
        <p:nvSpPr>
          <p:cNvPr id="7" name="Rectangle 6"/>
          <p:cNvSpPr/>
          <p:nvPr/>
        </p:nvSpPr>
        <p:spPr>
          <a:xfrm>
            <a:off x="731520" y="6327648"/>
            <a:ext cx="10728655" cy="1524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31520" y="1691640"/>
            <a:ext cx="5212080" cy="4526280"/>
          </a:xfrm>
          <a:prstGeom prst="roundRect">
            <a:avLst/>
          </a:prstGeom>
          <a:solidFill>
            <a:srgbClr val="FFFF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wrap="square" lIns="219456" tIns="219456" rIns="219456" rtlCol="0" anchor="t"/>
          <a:lstStyle/>
          <a:p>
            <a:pPr algn="ctr">
              <a:spcBef>
                <a:spcPts val="300"/>
              </a:spcBef>
              <a:defRPr sz="1650" b="1">
                <a:solidFill>
                  <a:srgbClr val="1E40AF"/>
                </a:solidFill>
                <a:latin typeface="Segoe UI"/>
              </a:defRPr>
            </a:pPr>
            <a:r>
              <a:t>Cấu Trúc Dữ Liệu JSON Chuẩn Hóa</a:t>
            </a:r>
          </a:p>
          <a:p>
            <a:pPr>
              <a:spcBef>
                <a:spcPts val="700"/>
              </a:spcBef>
              <a:defRPr sz="1200">
                <a:solidFill>
                  <a:srgbClr val="1E293B"/>
                </a:solidFill>
              </a:defRPr>
            </a:pPr>
            <a:r>
              <a:rPr sz="1600"/>
              <a:t>Hệ thống sử dụng chế độresponse_mime_type: 'application/json'của Google Gemini 3.1 Flash-Lite nhằm đảm bảo cấu trúc trả về chính xác 100%:</a:t>
            </a:r>
          </a:p>
          <a:p>
            <a:pPr>
              <a:spcBef>
                <a:spcPts val="700"/>
              </a:spcBef>
              <a:defRPr sz="1100">
                <a:solidFill>
                  <a:srgbClr val="1E40AF"/>
                </a:solidFill>
              </a:defRPr>
            </a:pPr>
            <a:r>
              <a:rPr sz="1600"/>
              <a:t>► [{"id": 1,"question": "She _____ in Hanoi since 2020.","options": ["lives", "has lived", "lived", "living"],"correctAnswer": "has lived","explanation": "Dấu hiệu 'since 2020' diễn tả hành động trong quá khứ kéo dài đến hiện tại..."}]</a:t>
            </a:r>
          </a:p>
        </p:txBody>
      </p:sp>
      <p:sp>
        <p:nvSpPr>
          <p:cNvPr id="11" name="Rounded Rectangle 10"/>
          <p:cNvSpPr/>
          <p:nvPr/>
        </p:nvSpPr>
        <p:spPr>
          <a:xfrm>
            <a:off x="6390335" y="1691640"/>
            <a:ext cx="5212080" cy="4526280"/>
          </a:xfrm>
          <a:prstGeom prst="roundRect">
            <a:avLst/>
          </a:prstGeom>
          <a:solidFill>
            <a:srgbClr val="FFFF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wrap="square" lIns="219456" tIns="219456" rIns="219456" rtlCol="0" anchor="t"/>
          <a:lstStyle/>
          <a:p>
            <a:pPr algn="ctr">
              <a:spcBef>
                <a:spcPts val="300"/>
              </a:spcBef>
              <a:defRPr sz="1650" b="1">
                <a:solidFill>
                  <a:srgbClr val="1E40AF"/>
                </a:solidFill>
                <a:latin typeface="Segoe UI"/>
              </a:defRPr>
            </a:pPr>
            <a:r>
              <a:t>Lợi Ích Nghiệp Vụ &amp; Bộ Đề Dự Phòng</a:t>
            </a:r>
          </a:p>
          <a:p>
            <a:pPr>
              <a:spcBef>
                <a:spcPts val="500"/>
              </a:spcBef>
              <a:defRPr sz="1150">
                <a:solidFill>
                  <a:srgbClr val="1E293B"/>
                </a:solidFill>
              </a:defRPr>
            </a:pPr>
            <a:r>
              <a:rPr sz="1600"/>
              <a:t>• Trợ thủ đắc lực cho Giáo viên:Tiết kiệm hơn 80% thời gian biên soạn bài tập ôn luyện sau mỗi bài giảng ngữ pháp hoặc từ vựng.</a:t>
            </a:r>
          </a:p>
          <a:p>
            <a:pPr>
              <a:spcBef>
                <a:spcPts val="500"/>
              </a:spcBef>
              <a:defRPr sz="1150">
                <a:solidFill>
                  <a:srgbClr val="1E293B"/>
                </a:solidFill>
              </a:defRPr>
            </a:pPr>
            <a:r>
              <a:rPr sz="1600"/>
              <a:t>• Học viên chủ động luyện tập:Có thể tùy chọn chủ đề (Tenses, Conditionals, Prepositions) và cấp độ CEFR mong muốn để tự rèn luyện.</a:t>
            </a:r>
          </a:p>
          <a:p>
            <a:pPr>
              <a:spcBef>
                <a:spcPts val="500"/>
              </a:spcBef>
              <a:defRPr sz="1150">
                <a:solidFill>
                  <a:srgbClr val="1E293B"/>
                </a:solidFill>
              </a:defRPr>
            </a:pPr>
            <a:r>
              <a:rPr sz="1600"/>
              <a:t>• Phản hồi và chấm điểm tức thì:Hệ thống chấm điểm trực tiếp, giải thích chi tiết lý do vì sao chọn đáp án đó.</a:t>
            </a:r>
          </a:p>
          <a:p>
            <a:pPr>
              <a:spcBef>
                <a:spcPts val="700"/>
              </a:spcBef>
              <a:defRPr sz="1100">
                <a:solidFill>
                  <a:srgbClr val="1E40AF"/>
                </a:solidFill>
              </a:defRPr>
            </a:pPr>
            <a:r>
              <a:rPr sz="1600"/>
              <a:t>► Fallback:Nếu AI phản hồi lỗi hoặc timeout &gt; 10s, hệ thống tự động tải bộ câu hỏi kiểm thử mẫu đã được kiểm duyệt từ CSDL tĩnh theo đúng trình độ</a:t>
            </a:r>
            <a:r>
              <a:t>.</a:t>
            </a:r>
          </a:p>
        </p:txBody>
      </p:sp>
    </p:spTree>
  </p:cSld>
  <p:clrMapOvr>
    <a:masterClrMapping/>
  </p:clrMapOvr>
  <p:transition spd="slow">
    <p:wedg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0" y="82296"/>
            <a:ext cx="3406140" cy="310896"/>
          </a:xfrm>
          <a:prstGeom prst="roundRect">
            <a:avLst/>
          </a:prstGeom>
          <a:solidFill>
            <a:srgbClr val="EFF6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1000" b="1">
                <a:solidFill>
                  <a:srgbClr val="1E40AF"/>
                </a:solidFill>
              </a:defRPr>
            </a:pPr>
            <a:r>
              <a:t>CHƯƠNG 4 &amp; 7: ỨNG DỤNG AI</a:t>
            </a:r>
          </a:p>
        </p:txBody>
      </p:sp>
      <p:sp>
        <p:nvSpPr>
          <p:cNvPr id="5" name="TextBox 4"/>
          <p:cNvSpPr txBox="1"/>
          <p:nvPr/>
        </p:nvSpPr>
        <p:spPr>
          <a:xfrm>
            <a:off x="731520" y="713232"/>
            <a:ext cx="10728655" cy="548640"/>
          </a:xfrm>
          <a:prstGeom prst="rect">
            <a:avLst/>
          </a:prstGeom>
          <a:noFill/>
        </p:spPr>
        <p:txBody>
          <a:bodyPr wrap="square" lIns="0" tIns="0" rIns="0" bIns="0" anchor="t">
            <a:spAutoFit/>
          </a:bodyPr>
          <a:lstStyle/>
          <a:p>
            <a:pPr>
              <a:defRPr sz="2500" b="1">
                <a:solidFill>
                  <a:srgbClr val="0F172A"/>
                </a:solidFill>
                <a:latin typeface="Segoe UI"/>
              </a:defRPr>
            </a:pPr>
            <a:r>
              <a:t>Chức Năng AI 3: Tóm Tắt Tiến Độ Học Tập (UC014)</a:t>
            </a:r>
          </a:p>
        </p:txBody>
      </p:sp>
      <p:sp>
        <p:nvSpPr>
          <p:cNvPr id="6" name="TextBox 5"/>
          <p:cNvSpPr txBox="1"/>
          <p:nvPr/>
        </p:nvSpPr>
        <p:spPr>
          <a:xfrm>
            <a:off x="731520" y="1261872"/>
            <a:ext cx="10728655" cy="365760"/>
          </a:xfrm>
          <a:prstGeom prst="rect">
            <a:avLst/>
          </a:prstGeom>
          <a:noFill/>
        </p:spPr>
        <p:txBody>
          <a:bodyPr wrap="square" lIns="0" tIns="0" rIns="0" bIns="0" anchor="t">
            <a:spAutoFit/>
          </a:bodyPr>
          <a:lstStyle/>
          <a:p>
            <a:pPr>
              <a:defRPr sz="1300">
                <a:solidFill>
                  <a:srgbClr val="475569"/>
                </a:solidFill>
                <a:latin typeface="Segoe UI"/>
              </a:defRPr>
            </a:pPr>
            <a:r>
              <a:t>Phân tích chuyên sâu dữ liệu điểm danh và kết quả học tập thực tế của học viên</a:t>
            </a:r>
          </a:p>
        </p:txBody>
      </p:sp>
      <p:sp>
        <p:nvSpPr>
          <p:cNvPr id="7" name="Rectangle 6"/>
          <p:cNvSpPr/>
          <p:nvPr/>
        </p:nvSpPr>
        <p:spPr>
          <a:xfrm>
            <a:off x="731520" y="6327648"/>
            <a:ext cx="10728655" cy="1524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31520" y="1691640"/>
            <a:ext cx="5212080" cy="4526280"/>
          </a:xfrm>
          <a:prstGeom prst="roundRect">
            <a:avLst/>
          </a:prstGeom>
          <a:solidFill>
            <a:srgbClr val="FFFF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wrap="square" lIns="219456" tIns="219456" rIns="219456" rtlCol="0" anchor="t"/>
          <a:lstStyle/>
          <a:p>
            <a:pPr algn="ctr">
              <a:spcBef>
                <a:spcPts val="300"/>
              </a:spcBef>
              <a:defRPr sz="1650" b="1">
                <a:solidFill>
                  <a:srgbClr val="1E40AF"/>
                </a:solidFill>
                <a:latin typeface="Segoe UI"/>
              </a:defRPr>
            </a:pPr>
            <a:r>
              <a:t>Dữ Liệu Thật &amp; Chống Thêm Bớt Thông Tin</a:t>
            </a:r>
          </a:p>
          <a:p>
            <a:pPr>
              <a:spcBef>
                <a:spcPts val="500"/>
              </a:spcBef>
              <a:defRPr sz="1150">
                <a:solidFill>
                  <a:srgbClr val="1E293B"/>
                </a:solidFill>
              </a:defRPr>
            </a:pPr>
            <a:r>
              <a:rPr sz="1300"/>
              <a:t>• Dữ liệu đầu vào tối thiểu:Tỷ lệ điểm danh chuyên cần, điểm kiểm tra giữa kỳ, điểm cuối kỳ và ghi chú nhận xét của giáo viên.</a:t>
            </a:r>
          </a:p>
          <a:p>
            <a:pPr>
              <a:spcBef>
                <a:spcPts val="500"/>
              </a:spcBef>
              <a:defRPr sz="1150">
                <a:solidFill>
                  <a:srgbClr val="1E293B"/>
                </a:solidFill>
              </a:defRPr>
            </a:pPr>
            <a:r>
              <a:rPr sz="1300"/>
              <a:t>• Ràng buộc Prompt:"Bạn là trợ lý học tập. Hãy tóm tắt tiến độ học tập dựa CHÍNH XÁC trên dữ liệu được cung cấp. Tuyệt đối không tự bịa đặt hoặc thêm bớt dữ kiện ngoài dữ liệu nguồn."</a:t>
            </a:r>
          </a:p>
          <a:p>
            <a:pPr>
              <a:spcBef>
                <a:spcPts val="500"/>
              </a:spcBef>
              <a:defRPr sz="1150">
                <a:solidFill>
                  <a:srgbClr val="1E293B"/>
                </a:solidFill>
              </a:defRPr>
            </a:pPr>
            <a:r>
              <a:rPr sz="1300"/>
              <a:t>• Phân tích 3 chiều:Điểm mạnh:Khen ngợi mức độ chuyên cần hoặc kỹ năng đạt điểm cao.Điểm cần cải thiện:Cảnh báo nguy cơ nếu vắng nhiều hoặc điểm kỹ năng yếu.Lộ trình ôn tập:Đề xuất phương pháp khắc phục cá nhân hóa.</a:t>
            </a:r>
          </a:p>
          <a:p>
            <a:pPr>
              <a:spcBef>
                <a:spcPts val="500"/>
              </a:spcBef>
              <a:defRPr sz="1150">
                <a:solidFill>
                  <a:srgbClr val="1E293B"/>
                </a:solidFill>
              </a:defRPr>
            </a:pPr>
            <a:r>
              <a:rPr sz="1300"/>
              <a:t>• Điểm mạnh:Khen ngợi mức độ chuyên cần hoặc kỹ năng đạt điểm cao.</a:t>
            </a:r>
          </a:p>
          <a:p>
            <a:pPr>
              <a:spcBef>
                <a:spcPts val="500"/>
              </a:spcBef>
              <a:defRPr sz="1150">
                <a:solidFill>
                  <a:srgbClr val="1E293B"/>
                </a:solidFill>
              </a:defRPr>
            </a:pPr>
            <a:r>
              <a:rPr sz="1300"/>
              <a:t>• Điểm cần cải thiện:Cảnh báo nguy cơ nếu vắng nhiều hoặc điểm kỹ năng yếu.</a:t>
            </a:r>
          </a:p>
          <a:p>
            <a:pPr>
              <a:spcBef>
                <a:spcPts val="500"/>
              </a:spcBef>
              <a:defRPr sz="1150">
                <a:solidFill>
                  <a:srgbClr val="1E293B"/>
                </a:solidFill>
              </a:defRPr>
            </a:pPr>
            <a:r>
              <a:rPr sz="1300"/>
              <a:t>• Lộ trình ôn tập:Đề xuất phương pháp khắc phục cá nhân hóa.</a:t>
            </a:r>
          </a:p>
        </p:txBody>
      </p:sp>
      <p:sp>
        <p:nvSpPr>
          <p:cNvPr id="11" name="Rounded Rectangle 10"/>
          <p:cNvSpPr/>
          <p:nvPr/>
        </p:nvSpPr>
        <p:spPr>
          <a:xfrm>
            <a:off x="6400495" y="1691640"/>
            <a:ext cx="5212080" cy="4526280"/>
          </a:xfrm>
          <a:prstGeom prst="roundRect">
            <a:avLst/>
          </a:prstGeom>
          <a:solidFill>
            <a:srgbClr val="FFFF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wrap="square" lIns="219456" tIns="219456" rIns="219456" rtlCol="0" anchor="t"/>
          <a:lstStyle/>
          <a:p>
            <a:pPr algn="ctr">
              <a:spcBef>
                <a:spcPts val="300"/>
              </a:spcBef>
              <a:defRPr sz="1650" b="1">
                <a:solidFill>
                  <a:srgbClr val="1E40AF"/>
                </a:solidFill>
                <a:latin typeface="Segoe UI"/>
              </a:defRPr>
            </a:pPr>
            <a:r>
              <a:t>Minh Họa Báo Cáo Tiến Độ Thực Tế</a:t>
            </a:r>
          </a:p>
          <a:p>
            <a:pPr>
              <a:spcBef>
                <a:spcPts val="700"/>
              </a:spcBef>
              <a:defRPr sz="1100">
                <a:solidFill>
                  <a:srgbClr val="1E40AF"/>
                </a:solidFill>
              </a:defRPr>
            </a:pPr>
            <a:r>
              <a:rPr sz="1400"/>
              <a:t>► Báo Cáo Tiến Độ: Học viên Phạm Văn An (Lớp IELTS B1)•Chuyên cần:Tham gia 92% số buổi (Đạt xuất sắc tiêu chuẩn ≥80%).•Điểm thi:Giữa kỳ: 75/100, Cuối kỳ: 82/100. Điểm tổng kết dự kiến: 81.90 (Xếp loại ĐẠT).•Đánh giá AI:Nắm vững các cấu trúc ngữ pháp phức hợp và từ vựng B1. Kỹ năng Viết (Writing Task 1) có tiến bộ vượt bậc.•Khuyến nghị ôn tập:Cần rèn luyện thêm kỹ năng Nói (Fluency &amp; Pronunciation) để tự tin bứt phá lên mốc điểm B2.</a:t>
            </a:r>
          </a:p>
          <a:p>
            <a:pPr>
              <a:spcBef>
                <a:spcPts val="700"/>
              </a:spcBef>
              <a:defRPr sz="1100">
                <a:solidFill>
                  <a:srgbClr val="1E40AF"/>
                </a:solidFill>
              </a:defRPr>
            </a:pPr>
            <a:r>
              <a:rPr sz="1400"/>
              <a:t>► Fallback: Khi chưa đủ dữ liệu hoặc AI lỗi, hệ thống tự động sinh bản tóm tắt mẫu theo quy tắc toán học cố định</a:t>
            </a:r>
            <a:r>
              <a:t>.</a:t>
            </a:r>
          </a:p>
        </p:txBody>
      </p:sp>
    </p:spTree>
  </p:cSld>
  <p:clrMapOvr>
    <a:masterClrMapping/>
  </p:clrMapOvr>
  <p:transition spd="slow">
    <p:wedg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0" y="82296"/>
            <a:ext cx="3027680" cy="310896"/>
          </a:xfrm>
          <a:prstGeom prst="roundRect">
            <a:avLst/>
          </a:prstGeom>
          <a:solidFill>
            <a:srgbClr val="EFF6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1000" b="1">
                <a:solidFill>
                  <a:srgbClr val="1E40AF"/>
                </a:solidFill>
              </a:defRPr>
            </a:pPr>
            <a:r>
              <a:t>CHƯƠNG 8: KIỂM THỬ PHẦN MỀM</a:t>
            </a:r>
          </a:p>
        </p:txBody>
      </p:sp>
      <p:sp>
        <p:nvSpPr>
          <p:cNvPr id="5" name="TextBox 4"/>
          <p:cNvSpPr txBox="1"/>
          <p:nvPr/>
        </p:nvSpPr>
        <p:spPr>
          <a:xfrm>
            <a:off x="731520" y="713232"/>
            <a:ext cx="10728655" cy="548640"/>
          </a:xfrm>
          <a:prstGeom prst="rect">
            <a:avLst/>
          </a:prstGeom>
          <a:noFill/>
        </p:spPr>
        <p:txBody>
          <a:bodyPr wrap="square" lIns="0" tIns="0" rIns="0" bIns="0" anchor="t">
            <a:spAutoFit/>
          </a:bodyPr>
          <a:lstStyle/>
          <a:p>
            <a:pPr>
              <a:defRPr sz="2500" b="1">
                <a:solidFill>
                  <a:srgbClr val="0F172A"/>
                </a:solidFill>
                <a:latin typeface="Segoe UI"/>
              </a:defRPr>
            </a:pPr>
            <a:r>
              <a:t>Kiểm Thử Hệ Thống: 145 Ca Kiểm Thử Toàn Diện (100% PASS)</a:t>
            </a:r>
          </a:p>
        </p:txBody>
      </p:sp>
      <p:sp>
        <p:nvSpPr>
          <p:cNvPr id="6" name="TextBox 5"/>
          <p:cNvSpPr txBox="1"/>
          <p:nvPr/>
        </p:nvSpPr>
        <p:spPr>
          <a:xfrm>
            <a:off x="731520" y="1261872"/>
            <a:ext cx="10728655" cy="215444"/>
          </a:xfrm>
          <a:prstGeom prst="rect">
            <a:avLst/>
          </a:prstGeom>
          <a:noFill/>
        </p:spPr>
        <p:txBody>
          <a:bodyPr wrap="square" lIns="0" tIns="0" rIns="0" bIns="0" anchor="t">
            <a:spAutoFit/>
          </a:bodyPr>
          <a:lstStyle/>
          <a:p>
            <a:pPr>
              <a:defRPr sz="1300">
                <a:solidFill>
                  <a:srgbClr val="475569"/>
                </a:solidFill>
                <a:latin typeface="Segoe UI"/>
              </a:defRPr>
            </a:pPr>
            <a:r>
              <a:rPr sz="1400"/>
              <a:t>Kết hợp toàn diện kiểm thử Hộp đen &amp; Hộp trắng, đạt độ bao phủ Statement Coverage 94.6%</a:t>
            </a:r>
          </a:p>
        </p:txBody>
      </p:sp>
      <p:sp>
        <p:nvSpPr>
          <p:cNvPr id="7" name="Rectangle 6"/>
          <p:cNvSpPr/>
          <p:nvPr/>
        </p:nvSpPr>
        <p:spPr>
          <a:xfrm>
            <a:off x="731520" y="6327648"/>
            <a:ext cx="10728655" cy="1524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0" name="Table 9"/>
          <p:cNvGraphicFramePr>
            <a:graphicFrameLocks noGrp="1"/>
          </p:cNvGraphicFramePr>
          <p:nvPr>
            <p:extLst>
              <p:ext uri="{D42A27DB-BD31-4B8C-83A1-F6EECF244321}">
                <p14:modId xmlns:p14="http://schemas.microsoft.com/office/powerpoint/2010/main" val="2828065328"/>
              </p:ext>
            </p:extLst>
          </p:nvPr>
        </p:nvGraphicFramePr>
        <p:xfrm>
          <a:off x="731520" y="1691640"/>
          <a:ext cx="6675120" cy="4453127"/>
        </p:xfrm>
        <a:graphic>
          <a:graphicData uri="http://schemas.openxmlformats.org/drawingml/2006/table">
            <a:tbl>
              <a:tblPr firstRow="1" bandRow="1">
                <a:tableStyleId>{5C22544A-7EE6-4342-B048-85BDC9FD1C3A}</a:tableStyleId>
              </a:tblPr>
              <a:tblGrid>
                <a:gridCol w="1668780">
                  <a:extLst>
                    <a:ext uri="{9D8B030D-6E8A-4147-A177-3AD203B41FA5}">
                      <a16:colId xmlns:a16="http://schemas.microsoft.com/office/drawing/2014/main" val="20000"/>
                    </a:ext>
                  </a:extLst>
                </a:gridCol>
                <a:gridCol w="3004820">
                  <a:extLst>
                    <a:ext uri="{9D8B030D-6E8A-4147-A177-3AD203B41FA5}">
                      <a16:colId xmlns:a16="http://schemas.microsoft.com/office/drawing/2014/main" val="20001"/>
                    </a:ext>
                  </a:extLst>
                </a:gridCol>
                <a:gridCol w="833120">
                  <a:extLst>
                    <a:ext uri="{9D8B030D-6E8A-4147-A177-3AD203B41FA5}">
                      <a16:colId xmlns:a16="http://schemas.microsoft.com/office/drawing/2014/main" val="20002"/>
                    </a:ext>
                  </a:extLst>
                </a:gridCol>
                <a:gridCol w="1168400">
                  <a:extLst>
                    <a:ext uri="{9D8B030D-6E8A-4147-A177-3AD203B41FA5}">
                      <a16:colId xmlns:a16="http://schemas.microsoft.com/office/drawing/2014/main" val="20003"/>
                    </a:ext>
                  </a:extLst>
                </a:gridCol>
              </a:tblGrid>
              <a:tr h="746123">
                <a:tc>
                  <a:txBody>
                    <a:bodyPr/>
                    <a:lstStyle/>
                    <a:p>
                      <a:pPr>
                        <a:defRPr sz="1000" b="1">
                          <a:solidFill>
                            <a:srgbClr val="1E40AF"/>
                          </a:solidFill>
                          <a:latin typeface="Segoe UI"/>
                        </a:defRPr>
                      </a:pPr>
                      <a:r>
                        <a:rPr sz="1400">
                          <a:solidFill>
                            <a:schemeClr val="tx1"/>
                          </a:solidFill>
                        </a:rPr>
                        <a:t>Nhóm Kiểm Thử</a:t>
                      </a:r>
                    </a:p>
                  </a:txBody>
                  <a:tcPr marL="109728" marR="109728" marT="54864" marB="54864">
                    <a:solidFill>
                      <a:schemeClr val="tx2">
                        <a:lumMod val="40000"/>
                        <a:lumOff val="60000"/>
                      </a:schemeClr>
                    </a:solidFill>
                  </a:tcPr>
                </a:tc>
                <a:tc>
                  <a:txBody>
                    <a:bodyPr/>
                    <a:lstStyle/>
                    <a:p>
                      <a:pPr>
                        <a:defRPr sz="1000" b="1">
                          <a:solidFill>
                            <a:srgbClr val="1E40AF"/>
                          </a:solidFill>
                          <a:latin typeface="Segoe UI"/>
                        </a:defRPr>
                      </a:pPr>
                      <a:r>
                        <a:rPr sz="1400">
                          <a:solidFill>
                            <a:schemeClr val="tx1"/>
                          </a:solidFill>
                        </a:rPr>
                        <a:t>Phạm Vi / Trọng Tâm Kiểm Tra</a:t>
                      </a:r>
                    </a:p>
                  </a:txBody>
                  <a:tcPr marL="109728" marR="109728" marT="54864" marB="54864">
                    <a:solidFill>
                      <a:schemeClr val="tx2">
                        <a:lumMod val="40000"/>
                        <a:lumOff val="60000"/>
                      </a:schemeClr>
                    </a:solidFill>
                  </a:tcPr>
                </a:tc>
                <a:tc>
                  <a:txBody>
                    <a:bodyPr/>
                    <a:lstStyle/>
                    <a:p>
                      <a:pPr algn="ctr">
                        <a:defRPr sz="1000" b="1">
                          <a:solidFill>
                            <a:srgbClr val="1E40AF"/>
                          </a:solidFill>
                          <a:latin typeface="Segoe UI"/>
                        </a:defRPr>
                      </a:pPr>
                      <a:r>
                        <a:rPr sz="1400">
                          <a:solidFill>
                            <a:schemeClr val="tx1"/>
                          </a:solidFill>
                        </a:rPr>
                        <a:t>Số Lượng</a:t>
                      </a:r>
                    </a:p>
                  </a:txBody>
                  <a:tcPr marL="109728" marR="109728" marT="54864" marB="54864">
                    <a:solidFill>
                      <a:schemeClr val="tx2">
                        <a:lumMod val="40000"/>
                        <a:lumOff val="60000"/>
                      </a:schemeClr>
                    </a:solidFill>
                  </a:tcPr>
                </a:tc>
                <a:tc>
                  <a:txBody>
                    <a:bodyPr/>
                    <a:lstStyle/>
                    <a:p>
                      <a:pPr algn="ctr">
                        <a:defRPr sz="1000" b="1">
                          <a:solidFill>
                            <a:srgbClr val="1E40AF"/>
                          </a:solidFill>
                          <a:latin typeface="Segoe UI"/>
                        </a:defRPr>
                      </a:pPr>
                      <a:r>
                        <a:rPr sz="1400">
                          <a:solidFill>
                            <a:schemeClr val="tx1"/>
                          </a:solidFill>
                        </a:rPr>
                        <a:t>Kết Quả</a:t>
                      </a:r>
                    </a:p>
                  </a:txBody>
                  <a:tcPr marL="109728" marR="109728" marT="54864" marB="54864">
                    <a:solidFill>
                      <a:schemeClr val="tx2">
                        <a:lumMod val="40000"/>
                        <a:lumOff val="60000"/>
                      </a:schemeClr>
                    </a:solidFill>
                  </a:tcPr>
                </a:tc>
                <a:extLst>
                  <a:ext uri="{0D108BD9-81ED-4DB2-BD59-A6C34878D82A}">
                    <a16:rowId xmlns:a16="http://schemas.microsoft.com/office/drawing/2014/main" val="10000"/>
                  </a:ext>
                </a:extLst>
              </a:tr>
              <a:tr h="865202">
                <a:tc>
                  <a:txBody>
                    <a:bodyPr/>
                    <a:lstStyle/>
                    <a:p>
                      <a:pPr>
                        <a:defRPr sz="950" b="0">
                          <a:latin typeface="Segoe UI"/>
                        </a:defRPr>
                      </a:pPr>
                      <a:r>
                        <a:rPr sz="1400"/>
                        <a:t>45 Ca Cơ Sở (Baseline)</a:t>
                      </a:r>
                    </a:p>
                  </a:txBody>
                  <a:tcPr marL="109728" marR="109728" marT="54864" marB="54864">
                    <a:solidFill>
                      <a:srgbClr val="FFFFFF"/>
                    </a:solidFill>
                  </a:tcPr>
                </a:tc>
                <a:tc>
                  <a:txBody>
                    <a:bodyPr/>
                    <a:lstStyle/>
                    <a:p>
                      <a:pPr>
                        <a:defRPr sz="950" b="0">
                          <a:latin typeface="Segoe UI"/>
                        </a:defRPr>
                      </a:pPr>
                      <a:r>
                        <a:rPr sz="1400"/>
                        <a:t>TC001–TC045: Luồng chính &amp; ngoại lệ 14 Use Cases nghiệp vụ và AI</a:t>
                      </a:r>
                    </a:p>
                  </a:txBody>
                  <a:tcPr marL="109728" marR="109728" marT="54864" marB="54864">
                    <a:solidFill>
                      <a:srgbClr val="FFFFFF"/>
                    </a:solidFill>
                  </a:tcPr>
                </a:tc>
                <a:tc>
                  <a:txBody>
                    <a:bodyPr/>
                    <a:lstStyle/>
                    <a:p>
                      <a:pPr algn="ctr">
                        <a:defRPr sz="950" b="1">
                          <a:latin typeface="Segoe UI"/>
                        </a:defRPr>
                      </a:pPr>
                      <a:r>
                        <a:rPr sz="1400"/>
                        <a:t>45 TC</a:t>
                      </a:r>
                    </a:p>
                  </a:txBody>
                  <a:tcPr marL="109728" marR="109728" marT="54864" marB="54864">
                    <a:solidFill>
                      <a:srgbClr val="FFFFFF"/>
                    </a:solidFill>
                  </a:tcPr>
                </a:tc>
                <a:tc>
                  <a:txBody>
                    <a:bodyPr/>
                    <a:lstStyle/>
                    <a:p>
                      <a:pPr algn="ctr">
                        <a:defRPr sz="950" b="1">
                          <a:solidFill>
                            <a:srgbClr val="047857"/>
                          </a:solidFill>
                          <a:latin typeface="Segoe UI"/>
                        </a:defRPr>
                      </a:pPr>
                      <a:r>
                        <a:rPr sz="1400"/>
                        <a:t>45/45 PASS</a:t>
                      </a:r>
                    </a:p>
                  </a:txBody>
                  <a:tcPr marL="109728" marR="109728" marT="54864" marB="54864">
                    <a:solidFill>
                      <a:srgbClr val="FFFFFF"/>
                    </a:solidFill>
                  </a:tcPr>
                </a:tc>
                <a:extLst>
                  <a:ext uri="{0D108BD9-81ED-4DB2-BD59-A6C34878D82A}">
                    <a16:rowId xmlns:a16="http://schemas.microsoft.com/office/drawing/2014/main" val="10001"/>
                  </a:ext>
                </a:extLst>
              </a:tr>
              <a:tr h="865202">
                <a:tc>
                  <a:txBody>
                    <a:bodyPr/>
                    <a:lstStyle/>
                    <a:p>
                      <a:pPr>
                        <a:defRPr sz="950" b="0">
                          <a:latin typeface="Segoe UI"/>
                        </a:defRPr>
                      </a:pPr>
                      <a:r>
                        <a:rPr sz="1400"/>
                        <a:t>50 Ca Hộp Đen (Black-box)</a:t>
                      </a:r>
                    </a:p>
                  </a:txBody>
                  <a:tcPr marL="109728" marR="109728" marT="54864" marB="54864">
                    <a:solidFill>
                      <a:srgbClr val="F0F7FF"/>
                    </a:solidFill>
                  </a:tcPr>
                </a:tc>
                <a:tc>
                  <a:txBody>
                    <a:bodyPr/>
                    <a:lstStyle/>
                    <a:p>
                      <a:pPr>
                        <a:defRPr sz="950" b="0">
                          <a:latin typeface="Segoe UI"/>
                        </a:defRPr>
                      </a:pPr>
                      <a:r>
                        <a:rPr sz="1400"/>
                        <a:t>TC046–TC095: Phân vùng tương đương, BVA, RBAC 4 vai trò, JWT, Tài chính, Lịch</a:t>
                      </a:r>
                    </a:p>
                  </a:txBody>
                  <a:tcPr marL="109728" marR="109728" marT="54864" marB="54864">
                    <a:solidFill>
                      <a:srgbClr val="F0F7FF"/>
                    </a:solidFill>
                  </a:tcPr>
                </a:tc>
                <a:tc>
                  <a:txBody>
                    <a:bodyPr/>
                    <a:lstStyle/>
                    <a:p>
                      <a:pPr algn="ctr">
                        <a:defRPr sz="950" b="1">
                          <a:latin typeface="Segoe UI"/>
                        </a:defRPr>
                      </a:pPr>
                      <a:r>
                        <a:rPr sz="1400"/>
                        <a:t>50 TC</a:t>
                      </a:r>
                    </a:p>
                  </a:txBody>
                  <a:tcPr marL="109728" marR="109728" marT="54864" marB="54864">
                    <a:solidFill>
                      <a:srgbClr val="F0F7FF"/>
                    </a:solidFill>
                  </a:tcPr>
                </a:tc>
                <a:tc>
                  <a:txBody>
                    <a:bodyPr/>
                    <a:lstStyle/>
                    <a:p>
                      <a:pPr algn="ctr">
                        <a:defRPr sz="950" b="1">
                          <a:solidFill>
                            <a:srgbClr val="047857"/>
                          </a:solidFill>
                          <a:latin typeface="Segoe UI"/>
                        </a:defRPr>
                      </a:pPr>
                      <a:r>
                        <a:rPr sz="1400"/>
                        <a:t>50/50 PASS</a:t>
                      </a:r>
                    </a:p>
                  </a:txBody>
                  <a:tcPr marL="109728" marR="109728" marT="54864" marB="54864">
                    <a:solidFill>
                      <a:srgbClr val="F0F7FF"/>
                    </a:solidFill>
                  </a:tcPr>
                </a:tc>
                <a:extLst>
                  <a:ext uri="{0D108BD9-81ED-4DB2-BD59-A6C34878D82A}">
                    <a16:rowId xmlns:a16="http://schemas.microsoft.com/office/drawing/2014/main" val="10002"/>
                  </a:ext>
                </a:extLst>
              </a:tr>
              <a:tr h="1111398">
                <a:tc>
                  <a:txBody>
                    <a:bodyPr/>
                    <a:lstStyle/>
                    <a:p>
                      <a:pPr>
                        <a:defRPr sz="950" b="0">
                          <a:latin typeface="Segoe UI"/>
                        </a:defRPr>
                      </a:pPr>
                      <a:r>
                        <a:rPr sz="1400"/>
                        <a:t>50 Ca Hộp Trắng (White-box)</a:t>
                      </a:r>
                    </a:p>
                  </a:txBody>
                  <a:tcPr marL="109728" marR="109728" marT="54864" marB="54864">
                    <a:solidFill>
                      <a:srgbClr val="FFFFFF"/>
                    </a:solidFill>
                  </a:tcPr>
                </a:tc>
                <a:tc>
                  <a:txBody>
                    <a:bodyPr/>
                    <a:lstStyle/>
                    <a:p>
                      <a:pPr>
                        <a:defRPr sz="950" b="0">
                          <a:latin typeface="Segoe UI"/>
                        </a:defRPr>
                      </a:pPr>
                      <a:r>
                        <a:rPr sz="1400"/>
                        <a:t>TC096–TC145: Statement/Branch/Condition, Prisma ACID Rollback, Mock Services</a:t>
                      </a:r>
                    </a:p>
                  </a:txBody>
                  <a:tcPr marL="109728" marR="109728" marT="54864" marB="54864">
                    <a:solidFill>
                      <a:srgbClr val="FFFFFF"/>
                    </a:solidFill>
                  </a:tcPr>
                </a:tc>
                <a:tc>
                  <a:txBody>
                    <a:bodyPr/>
                    <a:lstStyle/>
                    <a:p>
                      <a:pPr algn="ctr">
                        <a:defRPr sz="950" b="1">
                          <a:latin typeface="Segoe UI"/>
                        </a:defRPr>
                      </a:pPr>
                      <a:r>
                        <a:rPr sz="1400"/>
                        <a:t>50 TC</a:t>
                      </a:r>
                    </a:p>
                  </a:txBody>
                  <a:tcPr marL="109728" marR="109728" marT="54864" marB="54864">
                    <a:solidFill>
                      <a:srgbClr val="FFFFFF"/>
                    </a:solidFill>
                  </a:tcPr>
                </a:tc>
                <a:tc>
                  <a:txBody>
                    <a:bodyPr/>
                    <a:lstStyle/>
                    <a:p>
                      <a:pPr algn="ctr">
                        <a:defRPr sz="950" b="1">
                          <a:solidFill>
                            <a:srgbClr val="047857"/>
                          </a:solidFill>
                          <a:latin typeface="Segoe UI"/>
                        </a:defRPr>
                      </a:pPr>
                      <a:r>
                        <a:rPr sz="1400"/>
                        <a:t>50/50 PASS</a:t>
                      </a:r>
                    </a:p>
                  </a:txBody>
                  <a:tcPr marL="109728" marR="109728" marT="54864" marB="54864">
                    <a:solidFill>
                      <a:srgbClr val="FFFFFF"/>
                    </a:solidFill>
                  </a:tcPr>
                </a:tc>
                <a:extLst>
                  <a:ext uri="{0D108BD9-81ED-4DB2-BD59-A6C34878D82A}">
                    <a16:rowId xmlns:a16="http://schemas.microsoft.com/office/drawing/2014/main" val="10003"/>
                  </a:ext>
                </a:extLst>
              </a:tr>
              <a:tr h="865202">
                <a:tc>
                  <a:txBody>
                    <a:bodyPr/>
                    <a:lstStyle/>
                    <a:p>
                      <a:pPr>
                        <a:defRPr sz="1000" b="1">
                          <a:solidFill>
                            <a:srgbClr val="2563EB"/>
                          </a:solidFill>
                          <a:latin typeface="Segoe UI"/>
                        </a:defRPr>
                      </a:pPr>
                      <a:r>
                        <a:rPr sz="1400"/>
                        <a:t>TỔNG NGHIỆM THU</a:t>
                      </a:r>
                    </a:p>
                  </a:txBody>
                  <a:tcPr marL="109728" marR="109728" marT="54864" marB="54864">
                    <a:solidFill>
                      <a:srgbClr val="FFFFFF"/>
                    </a:solidFill>
                  </a:tcPr>
                </a:tc>
                <a:tc>
                  <a:txBody>
                    <a:bodyPr/>
                    <a:lstStyle/>
                    <a:p>
                      <a:pPr>
                        <a:defRPr sz="1000" b="1">
                          <a:solidFill>
                            <a:srgbClr val="2563EB"/>
                          </a:solidFill>
                          <a:latin typeface="Segoe UI"/>
                        </a:defRPr>
                      </a:pPr>
                      <a:r>
                        <a:rPr sz="1400"/>
                        <a:t>Toàn bộ 145 ca kiểm thử thực thi trên Neon PostgreSQL &amp; Gemini API</a:t>
                      </a:r>
                    </a:p>
                  </a:txBody>
                  <a:tcPr marL="109728" marR="109728" marT="54864" marB="54864">
                    <a:solidFill>
                      <a:srgbClr val="FFFFFF"/>
                    </a:solidFill>
                  </a:tcPr>
                </a:tc>
                <a:tc>
                  <a:txBody>
                    <a:bodyPr/>
                    <a:lstStyle/>
                    <a:p>
                      <a:pPr algn="ctr">
                        <a:defRPr sz="1000" b="1">
                          <a:solidFill>
                            <a:srgbClr val="2563EB"/>
                          </a:solidFill>
                          <a:latin typeface="Segoe UI"/>
                        </a:defRPr>
                      </a:pPr>
                      <a:r>
                        <a:rPr sz="1400"/>
                        <a:t>145 TC</a:t>
                      </a:r>
                    </a:p>
                  </a:txBody>
                  <a:tcPr marL="109728" marR="109728" marT="54864" marB="54864">
                    <a:solidFill>
                      <a:srgbClr val="FFFFFF"/>
                    </a:solidFill>
                  </a:tcPr>
                </a:tc>
                <a:tc>
                  <a:txBody>
                    <a:bodyPr/>
                    <a:lstStyle/>
                    <a:p>
                      <a:pPr algn="ctr">
                        <a:defRPr sz="1000" b="1">
                          <a:solidFill>
                            <a:srgbClr val="2563EB"/>
                          </a:solidFill>
                          <a:latin typeface="Segoe UI"/>
                        </a:defRPr>
                      </a:pPr>
                      <a:r>
                        <a:rPr sz="1400"/>
                        <a:t>145/145 PASS (100%)</a:t>
                      </a:r>
                    </a:p>
                  </a:txBody>
                  <a:tcPr marL="109728" marR="109728" marT="54864" marB="54864">
                    <a:solidFill>
                      <a:srgbClr val="FFFFFF"/>
                    </a:solidFill>
                  </a:tcPr>
                </a:tc>
                <a:extLst>
                  <a:ext uri="{0D108BD9-81ED-4DB2-BD59-A6C34878D82A}">
                    <a16:rowId xmlns:a16="http://schemas.microsoft.com/office/drawing/2014/main" val="10005"/>
                  </a:ext>
                </a:extLst>
              </a:tr>
            </a:tbl>
          </a:graphicData>
        </a:graphic>
      </p:graphicFrame>
      <p:sp>
        <p:nvSpPr>
          <p:cNvPr id="11" name="Rounded Rectangle 10"/>
          <p:cNvSpPr/>
          <p:nvPr/>
        </p:nvSpPr>
        <p:spPr>
          <a:xfrm>
            <a:off x="7711135" y="1691640"/>
            <a:ext cx="3749039" cy="4526280"/>
          </a:xfrm>
          <a:prstGeom prst="roundRect">
            <a:avLst/>
          </a:prstGeom>
          <a:solidFill>
            <a:srgbClr val="FFFF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wrap="square" lIns="219456" tIns="219456" rIns="219456" rtlCol="0" anchor="t"/>
          <a:lstStyle/>
          <a:p>
            <a:pPr algn="ctr">
              <a:spcBef>
                <a:spcPts val="700"/>
              </a:spcBef>
              <a:defRPr sz="1200" b="1">
                <a:solidFill>
                  <a:srgbClr val="047857"/>
                </a:solidFill>
                <a:latin typeface="Segoe UI"/>
              </a:defRPr>
            </a:pPr>
            <a:r>
              <a:t>TỶ LỆ NGHIỆM THU ĐẠT</a:t>
            </a:r>
          </a:p>
          <a:p>
            <a:pPr algn="ctr">
              <a:spcBef>
                <a:spcPts val="400"/>
              </a:spcBef>
              <a:spcAft>
                <a:spcPts val="400"/>
              </a:spcAft>
              <a:defRPr sz="1800" b="1">
                <a:solidFill>
                  <a:srgbClr val="047857"/>
                </a:solidFill>
                <a:latin typeface="Segoe UI"/>
              </a:defRPr>
            </a:pPr>
            <a:r>
              <a:t>145 / 145 Ca Đạt PASS</a:t>
            </a:r>
          </a:p>
          <a:p>
            <a:pPr algn="ctr">
              <a:spcAft>
                <a:spcPts val="800"/>
              </a:spcAft>
              <a:defRPr sz="1050" b="1">
                <a:solidFill>
                  <a:srgbClr val="0F172A"/>
                </a:solidFill>
                <a:latin typeface="Segoe UI"/>
              </a:defRPr>
            </a:pPr>
            <a:r>
              <a:rPr sz="1400"/>
              <a:t>Tỷ lệ thành công: 100% | 0 Lỗi Tồn Đọng (0 Defects)</a:t>
            </a:r>
          </a:p>
          <a:p>
            <a:pPr algn="l">
              <a:defRPr sz="1050" b="1">
                <a:solidFill>
                  <a:srgbClr val="1E40AF"/>
                </a:solidFill>
                <a:latin typeface="Segoe UI"/>
              </a:defRPr>
            </a:pPr>
            <a:r>
              <a:rPr sz="1400"/>
              <a:t>Độ Bao Phủ Mã Nguồn (Vitest v8):</a:t>
            </a:r>
          </a:p>
          <a:p>
            <a:pPr algn="l">
              <a:defRPr sz="950">
                <a:solidFill>
                  <a:srgbClr val="1E293B"/>
                </a:solidFill>
                <a:latin typeface="Consolas"/>
              </a:defRPr>
            </a:pPr>
            <a:r>
              <a:rPr sz="1400"/>
              <a:t>• Statement Coverage: 94.6% (Mục tiêu ≥ 90%)</a:t>
            </a:r>
          </a:p>
          <a:p>
            <a:pPr algn="l">
              <a:defRPr sz="950">
                <a:solidFill>
                  <a:srgbClr val="1E293B"/>
                </a:solidFill>
                <a:latin typeface="Consolas"/>
              </a:defRPr>
            </a:pPr>
            <a:r>
              <a:rPr sz="1400"/>
              <a:t>• Branch Coverage:    91.2% (Mục tiêu ≥ 85%)</a:t>
            </a:r>
          </a:p>
          <a:p>
            <a:pPr algn="l">
              <a:defRPr sz="950">
                <a:solidFill>
                  <a:srgbClr val="1E293B"/>
                </a:solidFill>
                <a:latin typeface="Consolas"/>
              </a:defRPr>
            </a:pPr>
            <a:r>
              <a:rPr sz="1400"/>
              <a:t>• Function Coverage:  96.8% (Mục tiêu ≥ 90%)</a:t>
            </a:r>
          </a:p>
          <a:p>
            <a:pPr algn="l">
              <a:defRPr sz="950">
                <a:solidFill>
                  <a:srgbClr val="1E293B"/>
                </a:solidFill>
                <a:latin typeface="Consolas"/>
              </a:defRPr>
            </a:pPr>
            <a:r>
              <a:rPr sz="1400"/>
              <a:t>• Line Coverage:      95.1% (Mục tiêu ≥ 90%)</a:t>
            </a:r>
          </a:p>
          <a:p>
            <a:pPr>
              <a:spcBef>
                <a:spcPts val="600"/>
              </a:spcBef>
              <a:defRPr sz="950">
                <a:solidFill>
                  <a:srgbClr val="475569"/>
                </a:solidFill>
                <a:latin typeface="Segoe UI"/>
              </a:defRPr>
            </a:pPr>
            <a:r>
              <a:rPr sz="1400"/>
              <a:t>Hệ thống đáp ứng trọn vẹn mọi ràng buộc nghiệp vụ, bảo vệ tài chính ACID và sẵn sàng vận hành.</a:t>
            </a:r>
          </a:p>
        </p:txBody>
      </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1000" fill="hold"/>
                                        <p:tgtEl>
                                          <p:spTgt spid="10"/>
                                        </p:tgtEl>
                                        <p:attrNameLst>
                                          <p:attrName>ppt_w</p:attrName>
                                        </p:attrNameLst>
                                      </p:cBhvr>
                                      <p:tavLst>
                                        <p:tav tm="0">
                                          <p:val>
                                            <p:strVal val="#ppt_w+.3"/>
                                          </p:val>
                                        </p:tav>
                                        <p:tav tm="100000">
                                          <p:val>
                                            <p:strVal val="#ppt_w"/>
                                          </p:val>
                                        </p:tav>
                                      </p:tavLst>
                                    </p:anim>
                                    <p:anim calcmode="lin" valueType="num">
                                      <p:cBhvr>
                                        <p:cTn id="8" dur="1000" fill="hold"/>
                                        <p:tgtEl>
                                          <p:spTgt spid="10"/>
                                        </p:tgtEl>
                                        <p:attrNameLst>
                                          <p:attrName>ppt_h</p:attrName>
                                        </p:attrNameLst>
                                      </p:cBhvr>
                                      <p:tavLst>
                                        <p:tav tm="0">
                                          <p:val>
                                            <p:strVal val="#ppt_h"/>
                                          </p:val>
                                        </p:tav>
                                        <p:tav tm="100000">
                                          <p:val>
                                            <p:strVal val="#ppt_h"/>
                                          </p:val>
                                        </p:tav>
                                      </p:tavLst>
                                    </p:anim>
                                    <p:animEffect transition="in" filter="fade">
                                      <p:cBhvr>
                                        <p:cTn id="9" dur="1000"/>
                                        <p:tgtEl>
                                          <p:spTgt spid="10"/>
                                        </p:tgtEl>
                                      </p:cBhvr>
                                    </p:animEffect>
                                  </p:childTnLst>
                                </p:cTn>
                              </p:par>
                              <p:par>
                                <p:cTn id="10" presetID="50" presetClass="entr" presetSubtype="0" decel="100000" fill="hold" grpId="0" nodeType="with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p:cTn id="12" dur="1000" fill="hold"/>
                                        <p:tgtEl>
                                          <p:spTgt spid="11"/>
                                        </p:tgtEl>
                                        <p:attrNameLst>
                                          <p:attrName>ppt_w</p:attrName>
                                        </p:attrNameLst>
                                      </p:cBhvr>
                                      <p:tavLst>
                                        <p:tav tm="0">
                                          <p:val>
                                            <p:strVal val="#ppt_w+.3"/>
                                          </p:val>
                                        </p:tav>
                                        <p:tav tm="100000">
                                          <p:val>
                                            <p:strVal val="#ppt_w"/>
                                          </p:val>
                                        </p:tav>
                                      </p:tavLst>
                                    </p:anim>
                                    <p:anim calcmode="lin" valueType="num">
                                      <p:cBhvr>
                                        <p:cTn id="13" dur="1000" fill="hold"/>
                                        <p:tgtEl>
                                          <p:spTgt spid="11"/>
                                        </p:tgtEl>
                                        <p:attrNameLst>
                                          <p:attrName>ppt_h</p:attrName>
                                        </p:attrNameLst>
                                      </p:cBhvr>
                                      <p:tavLst>
                                        <p:tav tm="0">
                                          <p:val>
                                            <p:strVal val="#ppt_h"/>
                                          </p:val>
                                        </p:tav>
                                        <p:tav tm="100000">
                                          <p:val>
                                            <p:strVal val="#ppt_h"/>
                                          </p:val>
                                        </p:tav>
                                      </p:tavLst>
                                    </p:anim>
                                    <p:animEffect transition="in" filter="fade">
                                      <p:cBhvr>
                                        <p:cTn id="14"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0" y="77724"/>
            <a:ext cx="3291840" cy="329184"/>
          </a:xfrm>
          <a:prstGeom prst="round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E40AF"/>
                </a:solidFill>
                <a:latin typeface="Segoe UI"/>
              </a:defRPr>
            </a:pPr>
            <a:r>
              <a:t>CHƯƠNG 8: KIỂM THỬ CHUYÊN SÂU</a:t>
            </a:r>
          </a:p>
        </p:txBody>
      </p:sp>
      <p:sp>
        <p:nvSpPr>
          <p:cNvPr id="5" name="TextBox 4"/>
          <p:cNvSpPr txBox="1"/>
          <p:nvPr/>
        </p:nvSpPr>
        <p:spPr>
          <a:xfrm>
            <a:off x="731520" y="640080"/>
            <a:ext cx="10725912" cy="502920"/>
          </a:xfrm>
          <a:prstGeom prst="rect">
            <a:avLst/>
          </a:prstGeom>
          <a:noFill/>
        </p:spPr>
        <p:txBody>
          <a:bodyPr wrap="none">
            <a:spAutoFit/>
          </a:bodyPr>
          <a:lstStyle/>
          <a:p>
            <a:pPr>
              <a:defRPr sz="2300" b="1">
                <a:solidFill>
                  <a:srgbClr val="0F172A"/>
                </a:solidFill>
                <a:latin typeface="Segoe UI"/>
              </a:defRPr>
            </a:pPr>
            <a:r>
              <a:t>Phương Pháp Kiểm Thử Hộp Đen &amp; Hộp Trắng Chuyên Sâu (100 TCs Mới)</a:t>
            </a:r>
          </a:p>
        </p:txBody>
      </p:sp>
      <p:sp>
        <p:nvSpPr>
          <p:cNvPr id="6" name="TextBox 5"/>
          <p:cNvSpPr txBox="1"/>
          <p:nvPr/>
        </p:nvSpPr>
        <p:spPr>
          <a:xfrm>
            <a:off x="731520" y="1143000"/>
            <a:ext cx="8426666" cy="307777"/>
          </a:xfrm>
          <a:prstGeom prst="rect">
            <a:avLst/>
          </a:prstGeom>
          <a:noFill/>
        </p:spPr>
        <p:txBody>
          <a:bodyPr wrap="none">
            <a:spAutoFit/>
          </a:bodyPr>
          <a:lstStyle/>
          <a:p>
            <a:pPr>
              <a:defRPr sz="1300">
                <a:solidFill>
                  <a:srgbClr val="475569"/>
                </a:solidFill>
                <a:latin typeface="Segoe UI"/>
              </a:defRPr>
            </a:pPr>
            <a:r>
              <a:rPr sz="1400"/>
              <a:t>Bảo đảm tính toàn vẹn quy tắc nghiệp vụ, ma trận an ninh RBAC 4 vai trò và độ tin cậy mã nguồn nội bộ</a:t>
            </a:r>
          </a:p>
        </p:txBody>
      </p:sp>
      <p:sp>
        <p:nvSpPr>
          <p:cNvPr id="7" name="Rectangle 6"/>
          <p:cNvSpPr/>
          <p:nvPr/>
        </p:nvSpPr>
        <p:spPr>
          <a:xfrm>
            <a:off x="731520" y="6327648"/>
            <a:ext cx="10725912"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22514" y="1600200"/>
            <a:ext cx="5439374" cy="4572000"/>
          </a:xfrm>
          <a:prstGeom prst="roundRect">
            <a:avLst/>
          </a:prstGeom>
          <a:solidFill>
            <a:srgbClr val="FFFFFF"/>
          </a:solidFill>
          <a:ln>
            <a:solidFill>
              <a:srgbClr val="BFDBFE"/>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spcAft>
                <a:spcPts val="600"/>
              </a:spcAft>
              <a:defRPr sz="1500" b="1">
                <a:solidFill>
                  <a:srgbClr val="1E40AF"/>
                </a:solidFill>
                <a:latin typeface="Segoe UI"/>
              </a:defRPr>
            </a:pPr>
            <a:r>
              <a:t>KIỂM THỬ HỘP ĐEN (BLACK-BOX: 50 TCs)</a:t>
            </a:r>
          </a:p>
          <a:p>
            <a:pPr>
              <a:lnSpc>
                <a:spcPct val="115000"/>
              </a:lnSpc>
              <a:spcBef>
                <a:spcPts val="300"/>
              </a:spcBef>
              <a:defRPr sz="1100" b="1">
                <a:solidFill>
                  <a:srgbClr val="0F172A"/>
                </a:solidFill>
                <a:latin typeface="Segoe UI"/>
              </a:defRPr>
            </a:pPr>
            <a:r>
              <a:rPr sz="1400"/>
              <a:t>► Kỹ thuật áp dụng: </a:t>
            </a:r>
            <a:r>
              <a:rPr sz="1400" b="0">
                <a:solidFill>
                  <a:srgbClr val="1E293B"/>
                </a:solidFill>
                <a:latin typeface="Segoe UI"/>
              </a:rPr>
              <a:t>Phân vùng tương đương (EP), Phân tích giá trị biên (BVA), Bảng quyết định (Decision Table).</a:t>
            </a:r>
          </a:p>
          <a:p>
            <a:pPr>
              <a:lnSpc>
                <a:spcPct val="115000"/>
              </a:lnSpc>
              <a:spcBef>
                <a:spcPts val="300"/>
              </a:spcBef>
              <a:defRPr sz="1100" b="1">
                <a:solidFill>
                  <a:srgbClr val="0F172A"/>
                </a:solidFill>
                <a:latin typeface="Segoe UI"/>
              </a:defRPr>
            </a:pPr>
            <a:r>
              <a:rPr sz="1400"/>
              <a:t>► Ma trận phân quyền RBAC: </a:t>
            </a:r>
            <a:r>
              <a:rPr sz="1400" b="0">
                <a:solidFill>
                  <a:srgbClr val="1E293B"/>
                </a:solidFill>
                <a:latin typeface="Segoe UI"/>
              </a:rPr>
              <a:t>100% Route Guards chặn đứng học viên truy cập báo cáo doanh thu, chặn tư vấn viên sửa điểm danh (403 Forbidden).</a:t>
            </a:r>
          </a:p>
          <a:p>
            <a:pPr>
              <a:lnSpc>
                <a:spcPct val="115000"/>
              </a:lnSpc>
              <a:spcBef>
                <a:spcPts val="300"/>
              </a:spcBef>
              <a:defRPr sz="1100" b="1">
                <a:solidFill>
                  <a:srgbClr val="0F172A"/>
                </a:solidFill>
                <a:latin typeface="Segoe UI"/>
              </a:defRPr>
            </a:pPr>
            <a:r>
              <a:rPr sz="1400"/>
              <a:t>► Kiểm soát giá trị biên chuẩn xác: </a:t>
            </a:r>
            <a:r>
              <a:rPr sz="1400" b="0">
                <a:solidFill>
                  <a:srgbClr val="1E293B"/>
                </a:solidFill>
                <a:latin typeface="Segoe UI"/>
              </a:rPr>
              <a:t>Khống chế sĩ số lớp ≤ 25; thang điểm [0, 100]; chặn điểm âm; kiểm tra ngưỡng đậu 50.00 điểm và chuyên cần 80.00%.</a:t>
            </a:r>
          </a:p>
          <a:p>
            <a:pPr>
              <a:lnSpc>
                <a:spcPct val="115000"/>
              </a:lnSpc>
              <a:spcBef>
                <a:spcPts val="300"/>
              </a:spcBef>
              <a:defRPr sz="1100" b="1">
                <a:solidFill>
                  <a:srgbClr val="0F172A"/>
                </a:solidFill>
                <a:latin typeface="Segoe UI"/>
              </a:defRPr>
            </a:pPr>
            <a:r>
              <a:rPr sz="1400"/>
              <a:t>► Giao dịch tài chính đa đợt: </a:t>
            </a:r>
            <a:r>
              <a:rPr sz="1400" b="0">
                <a:solidFill>
                  <a:srgbClr val="1E293B"/>
                </a:solidFill>
                <a:latin typeface="Segoe UI"/>
              </a:rPr>
              <a:t>Đóng học phí chia 3 đợt, chặn đóng thừa công nợ, xuất phiếu thu PDF, tự động chuyển trạng thái hóa đơn hoàn tất.</a:t>
            </a:r>
          </a:p>
          <a:p>
            <a:pPr>
              <a:lnSpc>
                <a:spcPct val="115000"/>
              </a:lnSpc>
              <a:spcBef>
                <a:spcPts val="300"/>
              </a:spcBef>
              <a:defRPr sz="1100" b="1">
                <a:solidFill>
                  <a:srgbClr val="0F172A"/>
                </a:solidFill>
                <a:latin typeface="Segoe UI"/>
              </a:defRPr>
            </a:pPr>
            <a:r>
              <a:rPr sz="1400"/>
              <a:t>► Chống xung đột vận hành 100%: </a:t>
            </a:r>
            <a:r>
              <a:rPr sz="1400" b="0">
                <a:solidFill>
                  <a:srgbClr val="1E293B"/>
                </a:solidFill>
                <a:latin typeface="Segoe UI"/>
              </a:rPr>
              <a:t>Thuật toán phát hiện trùng phòng học và trùng ca dạy giảng viên (ngăn 1 GV phụ trách 2 lớp cùng giờ).</a:t>
            </a:r>
          </a:p>
        </p:txBody>
      </p:sp>
      <p:sp>
        <p:nvSpPr>
          <p:cNvPr id="9" name="Rounded Rectangle 8"/>
          <p:cNvSpPr/>
          <p:nvPr/>
        </p:nvSpPr>
        <p:spPr>
          <a:xfrm>
            <a:off x="6227064" y="1600200"/>
            <a:ext cx="5549604" cy="4572000"/>
          </a:xfrm>
          <a:prstGeom prst="roundRect">
            <a:avLst/>
          </a:prstGeom>
          <a:solidFill>
            <a:srgbClr val="FFFFFF"/>
          </a:solidFill>
          <a:ln>
            <a:solidFill>
              <a:srgbClr val="BFDBFE"/>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spcAft>
                <a:spcPts val="600"/>
              </a:spcAft>
              <a:defRPr sz="1500" b="1">
                <a:solidFill>
                  <a:srgbClr val="2563EB"/>
                </a:solidFill>
                <a:latin typeface="Segoe UI"/>
              </a:defRPr>
            </a:pPr>
            <a:r>
              <a:t>KIỂM THỬ HỘP TRẮNG (WHITE-BOX: 50 TCs)</a:t>
            </a:r>
          </a:p>
          <a:p>
            <a:pPr>
              <a:lnSpc>
                <a:spcPct val="115000"/>
              </a:lnSpc>
              <a:spcBef>
                <a:spcPts val="300"/>
              </a:spcBef>
              <a:defRPr sz="1100" b="1">
                <a:solidFill>
                  <a:srgbClr val="0F172A"/>
                </a:solidFill>
                <a:latin typeface="Segoe UI"/>
              </a:defRPr>
            </a:pPr>
            <a:r>
              <a:rPr sz="1400"/>
              <a:t>► Kỹ thuật áp dụng: </a:t>
            </a:r>
            <a:r>
              <a:rPr sz="1400" b="0">
                <a:solidFill>
                  <a:srgbClr val="1E293B"/>
                </a:solidFill>
                <a:latin typeface="Segoe UI"/>
              </a:rPr>
              <a:t>Statement Coverage, Branch Coverage, Condition Coverage, Mocking &amp; Unit Testing (Vitest).</a:t>
            </a:r>
          </a:p>
          <a:p>
            <a:pPr>
              <a:lnSpc>
                <a:spcPct val="115000"/>
              </a:lnSpc>
              <a:spcBef>
                <a:spcPts val="300"/>
              </a:spcBef>
              <a:defRPr sz="1100" b="1">
                <a:solidFill>
                  <a:srgbClr val="0F172A"/>
                </a:solidFill>
                <a:latin typeface="Segoe UI"/>
              </a:defRPr>
            </a:pPr>
            <a:r>
              <a:rPr sz="1400"/>
              <a:t>► Bao phủ toàn diện Services: </a:t>
            </a:r>
            <a:r>
              <a:rPr sz="1400" b="0">
                <a:solidFill>
                  <a:srgbClr val="1E293B"/>
                </a:solidFill>
                <a:latin typeface="Segoe UI"/>
              </a:rPr>
              <a:t>Kiểm thử đơn vị 100% logic nội bộ: AuthService, Users, Courses, Enrollments, Attendances, Grades, AiService.</a:t>
            </a:r>
          </a:p>
          <a:p>
            <a:pPr>
              <a:lnSpc>
                <a:spcPct val="115000"/>
              </a:lnSpc>
              <a:spcBef>
                <a:spcPts val="300"/>
              </a:spcBef>
              <a:defRPr sz="1100" b="1">
                <a:solidFill>
                  <a:srgbClr val="0F172A"/>
                </a:solidFill>
                <a:latin typeface="Segoe UI"/>
              </a:defRPr>
            </a:pPr>
            <a:r>
              <a:rPr sz="1400"/>
              <a:t>► Giao dịch Prisma Transaction ACID: </a:t>
            </a:r>
            <a:r>
              <a:rPr sz="1400" b="0">
                <a:solidFill>
                  <a:srgbClr val="1E293B"/>
                </a:solidFill>
                <a:latin typeface="Segoe UI"/>
              </a:rPr>
              <a:t>Tạo DangKyHoc + tăng sĩ số + tạo Hóa đơn trong 1 transaction; Tự động Rollback 100% khi lỗi, không để lại dữ liệu rác.</a:t>
            </a:r>
          </a:p>
          <a:p>
            <a:pPr>
              <a:lnSpc>
                <a:spcPct val="115000"/>
              </a:lnSpc>
              <a:spcBef>
                <a:spcPts val="300"/>
              </a:spcBef>
              <a:defRPr sz="1100" b="1">
                <a:solidFill>
                  <a:srgbClr val="0F172A"/>
                </a:solidFill>
                <a:latin typeface="Segoe UI"/>
              </a:defRPr>
            </a:pPr>
            <a:r>
              <a:rPr sz="1400"/>
              <a:t>► Chốt chặn Zero-Trust AI Filter: </a:t>
            </a:r>
            <a:r>
              <a:rPr sz="1400" b="0">
                <a:solidFill>
                  <a:srgbClr val="1E293B"/>
                </a:solidFill>
                <a:latin typeface="Segoe UI"/>
              </a:rPr>
              <a:t>Hàm đối soát CSDL thực tế tự động loại bỏ các mã lớp giả mạo do AI hallucination sinh ra.</a:t>
            </a:r>
          </a:p>
          <a:p>
            <a:pPr>
              <a:lnSpc>
                <a:spcPct val="115000"/>
              </a:lnSpc>
              <a:spcBef>
                <a:spcPts val="300"/>
              </a:spcBef>
              <a:defRPr sz="1100" b="1">
                <a:solidFill>
                  <a:srgbClr val="0F172A"/>
                </a:solidFill>
                <a:latin typeface="Segoe UI"/>
              </a:defRPr>
            </a:pPr>
            <a:r>
              <a:rPr sz="1400"/>
              <a:t>► Circuit Breaker &amp; Fallback: </a:t>
            </a:r>
            <a:r>
              <a:rPr sz="1400" b="0">
                <a:solidFill>
                  <a:srgbClr val="1E293B"/>
                </a:solidFill>
                <a:latin typeface="Segoe UI"/>
              </a:rPr>
              <a:t>Ngắt mạch an toàn khi Gemini timeout &gt; 10s hoặc mất mạng; tự kích hoạt Rule-based và Curriculum Bank 13 chủ đề.</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2"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3"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1+#ppt_w/2"/>
                                          </p:val>
                                        </p:tav>
                                        <p:tav tm="100000">
                                          <p:val>
                                            <p:strVal val="#ppt_x"/>
                                          </p:val>
                                        </p:tav>
                                      </p:tavLst>
                                    </p:anim>
                                    <p:anim calcmode="lin" valueType="num">
                                      <p:cBhvr additive="base">
                                        <p:cTn id="12" dur="500" fill="hold"/>
                                        <p:tgtEl>
                                          <p:spTgt spid="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82880"/>
            <a:ext cx="3291840" cy="329184"/>
          </a:xfrm>
          <a:prstGeom prst="round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E40AF"/>
                </a:solidFill>
                <a:latin typeface="Segoe UI"/>
              </a:defRPr>
            </a:pPr>
            <a:r>
              <a:t>CHƯƠNG 8: ĐÓNG GÓI DOCKER</a:t>
            </a:r>
          </a:p>
        </p:txBody>
      </p:sp>
      <p:sp>
        <p:nvSpPr>
          <p:cNvPr id="5" name="TextBox 4"/>
          <p:cNvSpPr txBox="1"/>
          <p:nvPr/>
        </p:nvSpPr>
        <p:spPr>
          <a:xfrm>
            <a:off x="731520" y="640080"/>
            <a:ext cx="10725912" cy="502920"/>
          </a:xfrm>
          <a:prstGeom prst="rect">
            <a:avLst/>
          </a:prstGeom>
          <a:noFill/>
        </p:spPr>
        <p:txBody>
          <a:bodyPr wrap="none">
            <a:spAutoFit/>
          </a:bodyPr>
          <a:lstStyle/>
          <a:p>
            <a:pPr>
              <a:defRPr sz="2300" b="1">
                <a:solidFill>
                  <a:srgbClr val="0F172A"/>
                </a:solidFill>
                <a:latin typeface="Segoe UI"/>
              </a:defRPr>
            </a:pPr>
            <a:r>
              <a:t>Kiến Trúc Đóng Gói Đa Container &amp; Tối Ưu Hóa Multi-Stage Build</a:t>
            </a:r>
          </a:p>
        </p:txBody>
      </p:sp>
      <p:sp>
        <p:nvSpPr>
          <p:cNvPr id="6" name="TextBox 5"/>
          <p:cNvSpPr txBox="1"/>
          <p:nvPr/>
        </p:nvSpPr>
        <p:spPr>
          <a:xfrm>
            <a:off x="731520" y="1143000"/>
            <a:ext cx="8587607" cy="307777"/>
          </a:xfrm>
          <a:prstGeom prst="rect">
            <a:avLst/>
          </a:prstGeom>
          <a:noFill/>
        </p:spPr>
        <p:txBody>
          <a:bodyPr wrap="none">
            <a:spAutoFit/>
          </a:bodyPr>
          <a:lstStyle/>
          <a:p>
            <a:pPr>
              <a:defRPr sz="1300">
                <a:solidFill>
                  <a:srgbClr val="475569"/>
                </a:solidFill>
                <a:latin typeface="Segoe UI"/>
              </a:defRPr>
            </a:pPr>
            <a:r>
              <a:rPr sz="1400"/>
              <a:t>Chuẩn hóa môi trường 'Build Once, Run Anywhere', tối ưu kích thước image và cô lập tài nguyên hệ thống</a:t>
            </a:r>
          </a:p>
        </p:txBody>
      </p:sp>
      <p:sp>
        <p:nvSpPr>
          <p:cNvPr id="7" name="Rectangle 6"/>
          <p:cNvSpPr/>
          <p:nvPr/>
        </p:nvSpPr>
        <p:spPr>
          <a:xfrm>
            <a:off x="731520" y="6327648"/>
            <a:ext cx="10725912"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731520" y="1600200"/>
            <a:ext cx="3410712" cy="3520440"/>
          </a:xfrm>
          <a:prstGeom prst="roundRect">
            <a:avLst/>
          </a:prstGeom>
          <a:solidFill>
            <a:srgbClr val="FFFFFF"/>
          </a:solidFill>
          <a:ln>
            <a:solidFill>
              <a:srgbClr val="BFDBFE"/>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defRPr sz="1400" b="1">
                <a:solidFill>
                  <a:srgbClr val="1E40AF"/>
                </a:solidFill>
                <a:latin typeface="Segoe UI"/>
              </a:defRPr>
            </a:pPr>
            <a:r>
              <a:rPr>
                <a:solidFill>
                  <a:srgbClr val="3D4FF9"/>
                </a:solidFill>
              </a:rPr>
              <a:t>1. CSDL PostgreSQL 15</a:t>
            </a:r>
            <a:endParaRPr lang="en-US">
              <a:solidFill>
                <a:srgbClr val="3D4FF9"/>
              </a:solidFill>
            </a:endParaRPr>
          </a:p>
          <a:p>
            <a:pPr algn="ctr">
              <a:defRPr sz="1400" b="1">
                <a:solidFill>
                  <a:srgbClr val="1E40AF"/>
                </a:solidFill>
                <a:latin typeface="Segoe UI"/>
              </a:defRPr>
            </a:pPr>
            <a:endParaRPr/>
          </a:p>
          <a:p>
            <a:pPr>
              <a:spcAft>
                <a:spcPts val="600"/>
              </a:spcAft>
              <a:defRPr sz="1000" b="1">
                <a:solidFill>
                  <a:srgbClr val="475569"/>
                </a:solidFill>
                <a:latin typeface="Consolas"/>
              </a:defRPr>
            </a:pPr>
            <a:r>
              <a:rPr sz="1200"/>
              <a:t>etc_english_db | Cổng: 5432:5432</a:t>
            </a:r>
          </a:p>
          <a:p>
            <a:pPr>
              <a:lnSpc>
                <a:spcPct val="115000"/>
              </a:lnSpc>
              <a:spcBef>
                <a:spcPts val="200"/>
              </a:spcBef>
              <a:defRPr sz="1050">
                <a:solidFill>
                  <a:srgbClr val="1E293B"/>
                </a:solidFill>
                <a:latin typeface="Segoe UI"/>
              </a:defRPr>
            </a:pPr>
            <a:r>
              <a:rPr sz="1200"/>
              <a:t>• Base Image: postgres:15-alpine siêu nhẹ, ổn định.</a:t>
            </a:r>
          </a:p>
          <a:p>
            <a:pPr>
              <a:lnSpc>
                <a:spcPct val="115000"/>
              </a:lnSpc>
              <a:spcBef>
                <a:spcPts val="200"/>
              </a:spcBef>
              <a:defRPr sz="1050">
                <a:solidFill>
                  <a:srgbClr val="1E293B"/>
                </a:solidFill>
                <a:latin typeface="Segoe UI"/>
              </a:defRPr>
            </a:pPr>
            <a:r>
              <a:rPr sz="1200"/>
              <a:t>• Lưu trữ vĩnh viễn: Docker Persistent Volume etc_english_postgres_data (dữ liệu an toàn tuyệt đối).</a:t>
            </a:r>
          </a:p>
          <a:p>
            <a:pPr>
              <a:lnSpc>
                <a:spcPct val="115000"/>
              </a:lnSpc>
              <a:spcBef>
                <a:spcPts val="200"/>
              </a:spcBef>
              <a:defRPr sz="1050">
                <a:solidFill>
                  <a:srgbClr val="1E293B"/>
                </a:solidFill>
                <a:latin typeface="Segoe UI"/>
              </a:defRPr>
            </a:pPr>
            <a:r>
              <a:rPr sz="1200"/>
              <a:t>• Healthcheck tự động: pg_isready kiểm tra mỗi 10s, bảo đảm Backend chỉ start khi DB đã sẵn sàng.</a:t>
            </a:r>
          </a:p>
          <a:p>
            <a:pPr>
              <a:lnSpc>
                <a:spcPct val="115000"/>
              </a:lnSpc>
              <a:spcBef>
                <a:spcPts val="200"/>
              </a:spcBef>
              <a:defRPr sz="1050">
                <a:solidFill>
                  <a:srgbClr val="1E293B"/>
                </a:solidFill>
                <a:latin typeface="Segoe UI"/>
              </a:defRPr>
            </a:pPr>
            <a:r>
              <a:rPr sz="1200"/>
              <a:t>• Kết nối mạng nội bộ: DNS alias 'postgres'.</a:t>
            </a:r>
            <a:endParaRPr sz="1400"/>
          </a:p>
        </p:txBody>
      </p:sp>
      <p:sp>
        <p:nvSpPr>
          <p:cNvPr id="9" name="Rounded Rectangle 8"/>
          <p:cNvSpPr/>
          <p:nvPr/>
        </p:nvSpPr>
        <p:spPr>
          <a:xfrm>
            <a:off x="4389120" y="1600200"/>
            <a:ext cx="3410712" cy="3520440"/>
          </a:xfrm>
          <a:prstGeom prst="roundRect">
            <a:avLst/>
          </a:prstGeom>
          <a:solidFill>
            <a:srgbClr val="FFFFFF"/>
          </a:solidFill>
          <a:ln>
            <a:solidFill>
              <a:srgbClr val="BFDBFE"/>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defRPr sz="1400" b="1">
                <a:solidFill>
                  <a:srgbClr val="2563EB"/>
                </a:solidFill>
                <a:latin typeface="Segoe UI"/>
              </a:defRPr>
            </a:pPr>
            <a:r>
              <a:rPr>
                <a:solidFill>
                  <a:srgbClr val="3D4FF9"/>
                </a:solidFill>
              </a:rPr>
              <a:t>2. Backend API Server</a:t>
            </a:r>
            <a:endParaRPr lang="en-US">
              <a:solidFill>
                <a:srgbClr val="3D4FF9"/>
              </a:solidFill>
            </a:endParaRPr>
          </a:p>
          <a:p>
            <a:pPr algn="ctr">
              <a:defRPr sz="1400" b="1">
                <a:solidFill>
                  <a:srgbClr val="2563EB"/>
                </a:solidFill>
                <a:latin typeface="Segoe UI"/>
              </a:defRPr>
            </a:pPr>
            <a:endParaRPr/>
          </a:p>
          <a:p>
            <a:pPr>
              <a:spcAft>
                <a:spcPts val="600"/>
              </a:spcAft>
              <a:defRPr sz="1000" b="1">
                <a:solidFill>
                  <a:srgbClr val="475569"/>
                </a:solidFill>
                <a:latin typeface="Consolas"/>
              </a:defRPr>
            </a:pPr>
            <a:r>
              <a:rPr sz="1100"/>
              <a:t>etc_english_backend | Cổng: 8000:8000</a:t>
            </a:r>
          </a:p>
          <a:p>
            <a:pPr>
              <a:lnSpc>
                <a:spcPct val="115000"/>
              </a:lnSpc>
              <a:spcBef>
                <a:spcPts val="200"/>
              </a:spcBef>
              <a:defRPr sz="1050">
                <a:solidFill>
                  <a:srgbClr val="1E293B"/>
                </a:solidFill>
                <a:latin typeface="Segoe UI"/>
              </a:defRPr>
            </a:pPr>
            <a:r>
              <a:rPr sz="1200"/>
              <a:t>• Công nghệ: NestJS 11 + Prisma ORM + Node 20.</a:t>
            </a:r>
          </a:p>
          <a:p>
            <a:pPr>
              <a:lnSpc>
                <a:spcPct val="115000"/>
              </a:lnSpc>
              <a:spcBef>
                <a:spcPts val="200"/>
              </a:spcBef>
              <a:defRPr sz="1050">
                <a:solidFill>
                  <a:srgbClr val="1E293B"/>
                </a:solidFill>
                <a:latin typeface="Segoe UI"/>
              </a:defRPr>
            </a:pPr>
            <a:r>
              <a:rPr sz="1200"/>
              <a:t>• Multi-Stage Build 3 tầng: deps -&gt; builder -&gt; runner.</a:t>
            </a:r>
          </a:p>
          <a:p>
            <a:pPr>
              <a:lnSpc>
                <a:spcPct val="115000"/>
              </a:lnSpc>
              <a:spcBef>
                <a:spcPts val="200"/>
              </a:spcBef>
              <a:defRPr sz="1050">
                <a:solidFill>
                  <a:srgbClr val="1E293B"/>
                </a:solidFill>
                <a:latin typeface="Segoe UI"/>
              </a:defRPr>
            </a:pPr>
            <a:r>
              <a:rPr sz="1200"/>
              <a:t>• Giảm dung lượng Image: Từ ~1.2 GB xuống còn ~180 MB (tiết kiệm 85% dung lượng đĩa).</a:t>
            </a:r>
          </a:p>
          <a:p>
            <a:pPr>
              <a:lnSpc>
                <a:spcPct val="115000"/>
              </a:lnSpc>
              <a:spcBef>
                <a:spcPts val="200"/>
              </a:spcBef>
              <a:defRPr sz="1050">
                <a:solidFill>
                  <a:srgbClr val="1E293B"/>
                </a:solidFill>
                <a:latin typeface="Segoe UI"/>
              </a:defRPr>
            </a:pPr>
            <a:r>
              <a:rPr sz="1200"/>
              <a:t>• An ninh: Chạy dưới non-root user nestuser.</a:t>
            </a:r>
          </a:p>
          <a:p>
            <a:pPr>
              <a:lnSpc>
                <a:spcPct val="115000"/>
              </a:lnSpc>
              <a:spcBef>
                <a:spcPts val="200"/>
              </a:spcBef>
              <a:defRPr sz="1050">
                <a:solidFill>
                  <a:srgbClr val="1E293B"/>
                </a:solidFill>
                <a:latin typeface="Segoe UI"/>
              </a:defRPr>
            </a:pPr>
            <a:r>
              <a:rPr sz="1200"/>
              <a:t>• Entrypoint: node dist/main; tự động chạy seed</a:t>
            </a:r>
            <a:r>
              <a:t>.</a:t>
            </a:r>
          </a:p>
        </p:txBody>
      </p:sp>
      <p:sp>
        <p:nvSpPr>
          <p:cNvPr id="10" name="Rounded Rectangle 9"/>
          <p:cNvSpPr/>
          <p:nvPr/>
        </p:nvSpPr>
        <p:spPr>
          <a:xfrm>
            <a:off x="8046720" y="1600200"/>
            <a:ext cx="3410712" cy="3520440"/>
          </a:xfrm>
          <a:prstGeom prst="roundRect">
            <a:avLst/>
          </a:prstGeom>
          <a:solidFill>
            <a:srgbClr val="FFFFFF"/>
          </a:solidFill>
          <a:ln>
            <a:solidFill>
              <a:srgbClr val="BFDBFE"/>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defRPr sz="1400" b="1">
                <a:solidFill>
                  <a:srgbClr val="0D9488"/>
                </a:solidFill>
                <a:latin typeface="Segoe UI"/>
              </a:defRPr>
            </a:pPr>
            <a:r>
              <a:rPr>
                <a:solidFill>
                  <a:srgbClr val="3D4FF9"/>
                </a:solidFill>
              </a:rPr>
              <a:t>3. Frontend Web App</a:t>
            </a:r>
            <a:endParaRPr lang="en-US">
              <a:solidFill>
                <a:srgbClr val="3D4FF9"/>
              </a:solidFill>
            </a:endParaRPr>
          </a:p>
          <a:p>
            <a:pPr algn="ctr">
              <a:defRPr sz="1400" b="1">
                <a:solidFill>
                  <a:srgbClr val="0D9488"/>
                </a:solidFill>
                <a:latin typeface="Segoe UI"/>
              </a:defRPr>
            </a:pPr>
            <a:endParaRPr/>
          </a:p>
          <a:p>
            <a:pPr>
              <a:spcAft>
                <a:spcPts val="600"/>
              </a:spcAft>
              <a:defRPr sz="1000" b="1">
                <a:solidFill>
                  <a:srgbClr val="475569"/>
                </a:solidFill>
                <a:latin typeface="Consolas"/>
              </a:defRPr>
            </a:pPr>
            <a:r>
              <a:rPr sz="1200"/>
              <a:t>etc_english_frontend | Cổng: 3000:3000</a:t>
            </a:r>
          </a:p>
          <a:p>
            <a:pPr>
              <a:lnSpc>
                <a:spcPct val="115000"/>
              </a:lnSpc>
              <a:spcBef>
                <a:spcPts val="200"/>
              </a:spcBef>
              <a:defRPr sz="1050">
                <a:solidFill>
                  <a:srgbClr val="1E293B"/>
                </a:solidFill>
                <a:latin typeface="Segoe UI"/>
              </a:defRPr>
            </a:pPr>
            <a:r>
              <a:rPr sz="1200"/>
              <a:t>• Công nghệ: Next.js 15 App Router + React 19.</a:t>
            </a:r>
          </a:p>
          <a:p>
            <a:pPr>
              <a:lnSpc>
                <a:spcPct val="115000"/>
              </a:lnSpc>
              <a:spcBef>
                <a:spcPts val="200"/>
              </a:spcBef>
              <a:defRPr sz="1050">
                <a:solidFill>
                  <a:srgbClr val="1E293B"/>
                </a:solidFill>
                <a:latin typeface="Segoe UI"/>
              </a:defRPr>
            </a:pPr>
            <a:r>
              <a:rPr sz="1200"/>
              <a:t>• Output Standalone: Tự động gom bundle server.js.</a:t>
            </a:r>
          </a:p>
          <a:p>
            <a:pPr>
              <a:lnSpc>
                <a:spcPct val="115000"/>
              </a:lnSpc>
              <a:spcBef>
                <a:spcPts val="200"/>
              </a:spcBef>
              <a:defRPr sz="1050">
                <a:solidFill>
                  <a:srgbClr val="1E293B"/>
                </a:solidFill>
                <a:latin typeface="Segoe UI"/>
              </a:defRPr>
            </a:pPr>
            <a:r>
              <a:rPr sz="1200"/>
              <a:t>• Giảm dung lượng Image: Từ ~1.0 GB xuống còn ~125 MB (tiết kiệm 87% dung lượng).</a:t>
            </a:r>
          </a:p>
          <a:p>
            <a:pPr>
              <a:lnSpc>
                <a:spcPct val="115000"/>
              </a:lnSpc>
              <a:spcBef>
                <a:spcPts val="200"/>
              </a:spcBef>
              <a:defRPr sz="1050">
                <a:solidFill>
                  <a:srgbClr val="1E293B"/>
                </a:solidFill>
                <a:latin typeface="Segoe UI"/>
              </a:defRPr>
            </a:pPr>
            <a:r>
              <a:rPr sz="1200"/>
              <a:t>• An ninh: Chạy dưới non-root user nextjs.</a:t>
            </a:r>
          </a:p>
          <a:p>
            <a:pPr>
              <a:lnSpc>
                <a:spcPct val="115000"/>
              </a:lnSpc>
              <a:spcBef>
                <a:spcPts val="200"/>
              </a:spcBef>
              <a:defRPr sz="1050">
                <a:solidFill>
                  <a:srgbClr val="1E293B"/>
                </a:solidFill>
                <a:latin typeface="Segoe UI"/>
              </a:defRPr>
            </a:pPr>
            <a:r>
              <a:rPr sz="1200"/>
              <a:t>• Tích hợp: Gọi Backend qua http://localhost:8000.</a:t>
            </a:r>
          </a:p>
        </p:txBody>
      </p:sp>
      <p:sp>
        <p:nvSpPr>
          <p:cNvPr id="11" name="Rounded Rectangle 10"/>
          <p:cNvSpPr/>
          <p:nvPr/>
        </p:nvSpPr>
        <p:spPr>
          <a:xfrm>
            <a:off x="694189" y="5257800"/>
            <a:ext cx="10800573" cy="914400"/>
          </a:xfrm>
          <a:prstGeom prst="round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1E40AF"/>
                </a:solidFill>
                <a:latin typeface="Segoe UI"/>
              </a:defRPr>
            </a:pPr>
            <a:r>
              <a:t>ĐIỀU PHỐI DOCKER COMPOSE &amp; MẠNG NỘI BỘ (BRIDGE NETWORK)</a:t>
            </a:r>
          </a:p>
          <a:p>
            <a:pPr>
              <a:spcBef>
                <a:spcPts val="200"/>
              </a:spcBef>
              <a:defRPr sz="1000">
                <a:solidFill>
                  <a:srgbClr val="1E293B"/>
                </a:solidFill>
                <a:latin typeface="Segoe UI"/>
              </a:defRPr>
            </a:pPr>
            <a:r>
              <a:rPr sz="1400"/>
              <a:t>• Mạng cầu nối etc_english_network cô lập hoàn toàn các dịch vụ, bảo vệ CSDL khỏi truy cập trực tiếp từ bên ngoài. Quản lý tập trung mọi tham số nhạy cảm qua tệp .env (DB_USER, JWT_SECRET, GEMINI_API_KEY). Tự động phục hồi lỗi với restart: unless-stopped.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1500"/>
                                        <p:tgtEl>
                                          <p:spTgt spid="11"/>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500"/>
                                        <p:tgtEl>
                                          <p:spTgt spid="8"/>
                                        </p:tgtEl>
                                      </p:cBhvr>
                                    </p:animEffect>
                                  </p:childTnLst>
                                </p:cTn>
                              </p:par>
                              <p:par>
                                <p:cTn id="11" presetID="22" presetClass="entr" presetSubtype="8" fill="hold" grpId="0" nodeType="withEffect">
                                  <p:stCondLst>
                                    <p:cond delay="450"/>
                                  </p:stCondLst>
                                  <p:childTnLst>
                                    <p:set>
                                      <p:cBhvr>
                                        <p:cTn id="12" dur="1" fill="hold">
                                          <p:stCondLst>
                                            <p:cond delay="0"/>
                                          </p:stCondLst>
                                        </p:cTn>
                                        <p:tgtEl>
                                          <p:spTgt spid="9"/>
                                        </p:tgtEl>
                                        <p:attrNameLst>
                                          <p:attrName>style.visibility</p:attrName>
                                        </p:attrNameLst>
                                      </p:cBhvr>
                                      <p:to>
                                        <p:strVal val="visible"/>
                                      </p:to>
                                    </p:set>
                                    <p:animEffect transition="in" filter="wipe(left)">
                                      <p:cBhvr>
                                        <p:cTn id="13" dur="500"/>
                                        <p:tgtEl>
                                          <p:spTgt spid="9"/>
                                        </p:tgtEl>
                                      </p:cBhvr>
                                    </p:animEffect>
                                  </p:childTnLst>
                                </p:cTn>
                              </p:par>
                              <p:par>
                                <p:cTn id="14" presetID="22" presetClass="entr" presetSubtype="8" fill="hold" grpId="0" nodeType="withEffect">
                                  <p:stCondLst>
                                    <p:cond delay="900"/>
                                  </p:stCondLst>
                                  <p:childTnLst>
                                    <p:set>
                                      <p:cBhvr>
                                        <p:cTn id="15" dur="1" fill="hold">
                                          <p:stCondLst>
                                            <p:cond delay="0"/>
                                          </p:stCondLst>
                                        </p:cTn>
                                        <p:tgtEl>
                                          <p:spTgt spid="10"/>
                                        </p:tgtEl>
                                        <p:attrNameLst>
                                          <p:attrName>style.visibility</p:attrName>
                                        </p:attrNameLst>
                                      </p:cBhvr>
                                      <p:to>
                                        <p:strVal val="visible"/>
                                      </p:to>
                                    </p:set>
                                    <p:animEffect transition="in" filter="wipe(left)">
                                      <p:cBhvr>
                                        <p:cTn id="1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0" y="82296"/>
            <a:ext cx="3078480" cy="327100"/>
          </a:xfrm>
          <a:prstGeom prst="roundRect">
            <a:avLst/>
          </a:prstGeom>
          <a:solidFill>
            <a:srgbClr val="EFF6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1000" b="1">
                <a:solidFill>
                  <a:srgbClr val="1E40AF"/>
                </a:solidFill>
              </a:defRPr>
            </a:pPr>
            <a:r>
              <a:t>CHƯƠNG 8: VẬN HÀNH HỆ THỐNG</a:t>
            </a:r>
          </a:p>
        </p:txBody>
      </p:sp>
      <p:sp>
        <p:nvSpPr>
          <p:cNvPr id="5" name="TextBox 4"/>
          <p:cNvSpPr txBox="1"/>
          <p:nvPr/>
        </p:nvSpPr>
        <p:spPr>
          <a:xfrm>
            <a:off x="731520" y="713232"/>
            <a:ext cx="10728655" cy="548640"/>
          </a:xfrm>
          <a:prstGeom prst="rect">
            <a:avLst/>
          </a:prstGeom>
          <a:noFill/>
        </p:spPr>
        <p:txBody>
          <a:bodyPr wrap="square" lIns="0" tIns="0" rIns="0" bIns="0" anchor="t">
            <a:spAutoFit/>
          </a:bodyPr>
          <a:lstStyle/>
          <a:p>
            <a:pPr>
              <a:defRPr sz="2500" b="1">
                <a:solidFill>
                  <a:srgbClr val="0F172A"/>
                </a:solidFill>
                <a:latin typeface="Segoe UI"/>
              </a:defRPr>
            </a:pPr>
            <a:r>
              <a:t>Hướng Dẫn Vận Hành Hệ Thống Theo 4 Tác Nhân</a:t>
            </a:r>
          </a:p>
        </p:txBody>
      </p:sp>
      <p:sp>
        <p:nvSpPr>
          <p:cNvPr id="6" name="TextBox 5"/>
          <p:cNvSpPr txBox="1"/>
          <p:nvPr/>
        </p:nvSpPr>
        <p:spPr>
          <a:xfrm>
            <a:off x="731520" y="1261872"/>
            <a:ext cx="10728655" cy="215444"/>
          </a:xfrm>
          <a:prstGeom prst="rect">
            <a:avLst/>
          </a:prstGeom>
          <a:noFill/>
        </p:spPr>
        <p:txBody>
          <a:bodyPr wrap="square" lIns="0" tIns="0" rIns="0" bIns="0" anchor="t">
            <a:spAutoFit/>
          </a:bodyPr>
          <a:lstStyle/>
          <a:p>
            <a:pPr>
              <a:defRPr sz="1300">
                <a:solidFill>
                  <a:srgbClr val="475569"/>
                </a:solidFill>
                <a:latin typeface="Segoe UI"/>
              </a:defRPr>
            </a:pPr>
            <a:r>
              <a:rPr sz="1400"/>
              <a:t>Quy trình làm việc chuẩn hóa cho từng nhóm đối tượng người dùng</a:t>
            </a:r>
          </a:p>
        </p:txBody>
      </p:sp>
      <p:sp>
        <p:nvSpPr>
          <p:cNvPr id="7" name="Rectangle 6"/>
          <p:cNvSpPr/>
          <p:nvPr/>
        </p:nvSpPr>
        <p:spPr>
          <a:xfrm>
            <a:off x="731520" y="6327648"/>
            <a:ext cx="10728655" cy="1524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31520" y="1691640"/>
            <a:ext cx="2542032" cy="4526280"/>
          </a:xfrm>
          <a:prstGeom prst="roundRect">
            <a:avLst/>
          </a:prstGeom>
          <a:solidFill>
            <a:srgbClr val="FFFF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wrap="square" lIns="219456" tIns="219456" rIns="219456" rtlCol="0" anchor="t"/>
          <a:lstStyle/>
          <a:p>
            <a:pPr algn="ctr">
              <a:spcBef>
                <a:spcPts val="300"/>
              </a:spcBef>
              <a:defRPr sz="1650" b="1">
                <a:solidFill>
                  <a:srgbClr val="1E40AF"/>
                </a:solidFill>
                <a:latin typeface="Segoe UI"/>
              </a:defRPr>
            </a:pPr>
            <a:r>
              <a:t>1. Người Quản Lý</a:t>
            </a:r>
          </a:p>
          <a:p>
            <a:pPr>
              <a:spcBef>
                <a:spcPts val="700"/>
              </a:spcBef>
              <a:defRPr sz="1100">
                <a:solidFill>
                  <a:srgbClr val="1E40AF"/>
                </a:solidFill>
              </a:defRPr>
            </a:pPr>
            <a:r>
              <a:rPr sz="1600"/>
              <a:t>Đăng nhập Dashboard Admin</a:t>
            </a:r>
            <a:r>
              <a:rPr lang="en-US" sz="1600"/>
              <a:t> -&gt; </a:t>
            </a:r>
            <a:r>
              <a:rPr sz="1600"/>
              <a:t>Quản lý khóa học, học phí</a:t>
            </a:r>
            <a:r>
              <a:rPr lang="en-US" sz="1600"/>
              <a:t> -&gt; </a:t>
            </a:r>
            <a:r>
              <a:rPr sz="1600"/>
              <a:t>Mở lớp học, xếp TKB, phòng học</a:t>
            </a:r>
            <a:r>
              <a:rPr lang="en-US" sz="1600"/>
              <a:t> -&gt; </a:t>
            </a:r>
            <a:r>
              <a:rPr sz="1600"/>
              <a:t>Phân công GV (chống trùng lịch)</a:t>
            </a:r>
            <a:r>
              <a:rPr lang="en-US" sz="1600"/>
              <a:t> -&gt; </a:t>
            </a:r>
            <a:r>
              <a:rPr sz="1600"/>
              <a:t>Xem báo cáo doanh thu &amp; tỷ lệ Đạt.</a:t>
            </a:r>
          </a:p>
        </p:txBody>
      </p:sp>
      <p:sp>
        <p:nvSpPr>
          <p:cNvPr id="11" name="Rounded Rectangle 10"/>
          <p:cNvSpPr/>
          <p:nvPr/>
        </p:nvSpPr>
        <p:spPr>
          <a:xfrm>
            <a:off x="3456432" y="1691640"/>
            <a:ext cx="2542032" cy="4526280"/>
          </a:xfrm>
          <a:prstGeom prst="roundRect">
            <a:avLst/>
          </a:prstGeom>
          <a:solidFill>
            <a:srgbClr val="FFFF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wrap="square" lIns="219456" tIns="219456" rIns="219456" rtlCol="0" anchor="t"/>
          <a:lstStyle/>
          <a:p>
            <a:pPr algn="ctr">
              <a:spcBef>
                <a:spcPts val="300"/>
              </a:spcBef>
              <a:defRPr sz="1650" b="1">
                <a:solidFill>
                  <a:srgbClr val="1E40AF"/>
                </a:solidFill>
                <a:latin typeface="Segoe UI"/>
              </a:defRPr>
            </a:pPr>
            <a:r>
              <a:t>2. Giáo Viên</a:t>
            </a:r>
          </a:p>
          <a:p>
            <a:pPr>
              <a:spcBef>
                <a:spcPts val="700"/>
              </a:spcBef>
              <a:defRPr sz="1100">
                <a:solidFill>
                  <a:srgbClr val="1E40AF"/>
                </a:solidFill>
              </a:defRPr>
            </a:pPr>
            <a:r>
              <a:rPr sz="1600"/>
              <a:t>Đăng nhập Bàn làm việc GV</a:t>
            </a:r>
            <a:r>
              <a:rPr lang="en-US" sz="1600"/>
              <a:t> -&gt; </a:t>
            </a:r>
            <a:r>
              <a:rPr sz="1600"/>
              <a:t>Xem lịch dạy trong tuần</a:t>
            </a:r>
            <a:r>
              <a:rPr lang="en-US" sz="1600"/>
              <a:t> -&gt; </a:t>
            </a:r>
            <a:r>
              <a:rPr sz="1600"/>
              <a:t>Điểm danh buổi học (4 trạng thái)</a:t>
            </a:r>
            <a:r>
              <a:rPr lang="en-US" sz="1600"/>
              <a:t> -&gt; </a:t>
            </a:r>
            <a:r>
              <a:rPr sz="1600"/>
              <a:t>Nhập điểm thi (20% CC, 30% GK, 50% CK)</a:t>
            </a:r>
            <a:r>
              <a:rPr lang="en-US" sz="1600"/>
              <a:t> -&gt; </a:t>
            </a:r>
            <a:r>
              <a:rPr sz="1600"/>
              <a:t>Dùng AI sinh đề trắc nghiệm bổ trợ.</a:t>
            </a:r>
          </a:p>
        </p:txBody>
      </p:sp>
      <p:sp>
        <p:nvSpPr>
          <p:cNvPr id="12" name="Rounded Rectangle 11"/>
          <p:cNvSpPr/>
          <p:nvPr/>
        </p:nvSpPr>
        <p:spPr>
          <a:xfrm>
            <a:off x="6181344" y="1691640"/>
            <a:ext cx="2542032" cy="4526280"/>
          </a:xfrm>
          <a:prstGeom prst="roundRect">
            <a:avLst/>
          </a:prstGeom>
          <a:solidFill>
            <a:srgbClr val="FFFF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wrap="square" lIns="219456" tIns="219456" rIns="219456" rtlCol="0" anchor="t"/>
          <a:lstStyle/>
          <a:p>
            <a:pPr algn="ctr">
              <a:spcBef>
                <a:spcPts val="300"/>
              </a:spcBef>
              <a:defRPr sz="1650" b="1">
                <a:solidFill>
                  <a:srgbClr val="1E40AF"/>
                </a:solidFill>
                <a:latin typeface="Segoe UI"/>
              </a:defRPr>
            </a:pPr>
            <a:r>
              <a:t>3. Tư Vấn Viên</a:t>
            </a:r>
          </a:p>
          <a:p>
            <a:pPr>
              <a:spcBef>
                <a:spcPts val="700"/>
              </a:spcBef>
              <a:defRPr sz="1100">
                <a:solidFill>
                  <a:srgbClr val="1E40AF"/>
                </a:solidFill>
              </a:defRPr>
            </a:pPr>
            <a:r>
              <a:rPr sz="1600"/>
              <a:t>Đăng nhập Dashboard Tuyển sinh</a:t>
            </a:r>
            <a:r>
              <a:rPr lang="en-US" sz="1600"/>
              <a:t> -&gt; </a:t>
            </a:r>
            <a:r>
              <a:rPr sz="1600"/>
              <a:t>Tiếp nhận hồ sơ HV &amp; test CEFR</a:t>
            </a:r>
            <a:r>
              <a:rPr lang="en-US" sz="1600"/>
              <a:t> -&gt; </a:t>
            </a:r>
            <a:r>
              <a:rPr sz="1600"/>
              <a:t>Dùng AI tư vấn top 3 lớp phù hợp</a:t>
            </a:r>
            <a:r>
              <a:rPr lang="en-US" sz="1600"/>
              <a:t>  -&gt; </a:t>
            </a:r>
            <a:r>
              <a:rPr sz="1600"/>
              <a:t>Ghi danh lớp học cho học viên</a:t>
            </a:r>
            <a:r>
              <a:rPr lang="en-US" sz="1600"/>
              <a:t> -&gt; </a:t>
            </a:r>
            <a:r>
              <a:rPr sz="1600"/>
              <a:t>Lập phiếu thu học phí nhiều đợt.</a:t>
            </a:r>
          </a:p>
        </p:txBody>
      </p:sp>
      <p:sp>
        <p:nvSpPr>
          <p:cNvPr id="13" name="Rounded Rectangle 12"/>
          <p:cNvSpPr/>
          <p:nvPr/>
        </p:nvSpPr>
        <p:spPr>
          <a:xfrm>
            <a:off x="8906256" y="1691640"/>
            <a:ext cx="2542032" cy="4526280"/>
          </a:xfrm>
          <a:prstGeom prst="roundRect">
            <a:avLst/>
          </a:prstGeom>
          <a:solidFill>
            <a:srgbClr val="FFFF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wrap="square" lIns="219456" tIns="219456" rIns="219456" rtlCol="0" anchor="t"/>
          <a:lstStyle/>
          <a:p>
            <a:pPr algn="ctr">
              <a:spcBef>
                <a:spcPts val="300"/>
              </a:spcBef>
              <a:defRPr sz="1650" b="1">
                <a:solidFill>
                  <a:srgbClr val="1E40AF"/>
                </a:solidFill>
                <a:latin typeface="Segoe UI"/>
              </a:defRPr>
            </a:pPr>
            <a:r>
              <a:t>4. Học Viên</a:t>
            </a:r>
          </a:p>
          <a:p>
            <a:pPr>
              <a:spcBef>
                <a:spcPts val="700"/>
              </a:spcBef>
              <a:defRPr sz="1100">
                <a:solidFill>
                  <a:srgbClr val="1E40AF"/>
                </a:solidFill>
              </a:defRPr>
            </a:pPr>
            <a:r>
              <a:rPr sz="1600"/>
              <a:t>Đăng nhập Góc Học Tập</a:t>
            </a:r>
            <a:r>
              <a:rPr lang="en-US" sz="1600"/>
              <a:t> -&gt; </a:t>
            </a:r>
            <a:r>
              <a:rPr sz="1600"/>
              <a:t>Dùng AI gợi ý lớp &amp; đăng ký học</a:t>
            </a:r>
            <a:r>
              <a:rPr lang="en-US" sz="1600"/>
              <a:t> -&gt; </a:t>
            </a:r>
            <a:r>
              <a:rPr sz="1600"/>
              <a:t>Xem TKB và công nợ học phí</a:t>
            </a:r>
            <a:r>
              <a:rPr lang="en-US" sz="1600"/>
              <a:t> -&gt; </a:t>
            </a:r>
            <a:r>
              <a:rPr sz="1600"/>
              <a:t>Xem điểm số và trạng thái ĐẠT</a:t>
            </a:r>
            <a:r>
              <a:rPr lang="en-US" sz="1600"/>
              <a:t> </a:t>
            </a:r>
          </a:p>
          <a:p>
            <a:pPr>
              <a:defRPr sz="1100">
                <a:solidFill>
                  <a:srgbClr val="1E40AF"/>
                </a:solidFill>
              </a:defRPr>
            </a:pPr>
            <a:r>
              <a:rPr lang="en-US" sz="1600"/>
              <a:t>-&gt; </a:t>
            </a:r>
            <a:r>
              <a:rPr sz="1600"/>
              <a:t>Luyện trắc nghiệm &amp; nhận xét từ AI</a:t>
            </a:r>
            <a:r>
              <a:rPr sz="1400"/>
              <a:t>.</a:t>
            </a:r>
          </a:p>
        </p:txBody>
      </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4"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heel(4)">
                                      <p:cBhvr>
                                        <p:cTn id="7" dur="1000"/>
                                        <p:tgtEl>
                                          <p:spTgt spid="10"/>
                                        </p:tgtEl>
                                      </p:cBhvr>
                                    </p:animEffect>
                                  </p:childTnLst>
                                </p:cTn>
                              </p:par>
                              <p:par>
                                <p:cTn id="8" presetID="21" presetClass="entr" presetSubtype="4"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wheel(4)">
                                      <p:cBhvr>
                                        <p:cTn id="10" dur="1000"/>
                                        <p:tgtEl>
                                          <p:spTgt spid="11"/>
                                        </p:tgtEl>
                                      </p:cBhvr>
                                    </p:animEffect>
                                  </p:childTnLst>
                                </p:cTn>
                              </p:par>
                              <p:par>
                                <p:cTn id="11" presetID="21" presetClass="entr" presetSubtype="4"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wheel(4)">
                                      <p:cBhvr>
                                        <p:cTn id="13" dur="1000"/>
                                        <p:tgtEl>
                                          <p:spTgt spid="12"/>
                                        </p:tgtEl>
                                      </p:cBhvr>
                                    </p:animEffect>
                                  </p:childTnLst>
                                </p:cTn>
                              </p:par>
                              <p:par>
                                <p:cTn id="14" presetID="21" presetClass="entr" presetSubtype="4"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wheel(4)">
                                      <p:cBhvr>
                                        <p:cTn id="16"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0" y="73152"/>
            <a:ext cx="2263140" cy="310896"/>
          </a:xfrm>
          <a:prstGeom prst="roundRect">
            <a:avLst/>
          </a:prstGeom>
          <a:solidFill>
            <a:srgbClr val="EFF6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1000" b="1">
                <a:solidFill>
                  <a:srgbClr val="1E40AF"/>
                </a:solidFill>
              </a:defRPr>
            </a:pPr>
            <a:r>
              <a:t>TỔNG KẾT ĐỀ TÀI</a:t>
            </a:r>
          </a:p>
        </p:txBody>
      </p:sp>
      <p:sp>
        <p:nvSpPr>
          <p:cNvPr id="5" name="TextBox 4"/>
          <p:cNvSpPr txBox="1"/>
          <p:nvPr/>
        </p:nvSpPr>
        <p:spPr>
          <a:xfrm>
            <a:off x="731520" y="713232"/>
            <a:ext cx="10728655" cy="548640"/>
          </a:xfrm>
          <a:prstGeom prst="rect">
            <a:avLst/>
          </a:prstGeom>
          <a:noFill/>
        </p:spPr>
        <p:txBody>
          <a:bodyPr wrap="square" lIns="0" tIns="0" rIns="0" bIns="0" anchor="t">
            <a:spAutoFit/>
          </a:bodyPr>
          <a:lstStyle/>
          <a:p>
            <a:pPr>
              <a:defRPr sz="2500" b="1">
                <a:solidFill>
                  <a:srgbClr val="0F172A"/>
                </a:solidFill>
                <a:latin typeface="Segoe UI"/>
              </a:defRPr>
            </a:pPr>
            <a:r>
              <a:t>Kết Quả Đạt Được &amp; Giá Trị Thực Tiễn</a:t>
            </a:r>
          </a:p>
        </p:txBody>
      </p:sp>
      <p:sp>
        <p:nvSpPr>
          <p:cNvPr id="6" name="TextBox 5"/>
          <p:cNvSpPr txBox="1"/>
          <p:nvPr/>
        </p:nvSpPr>
        <p:spPr>
          <a:xfrm>
            <a:off x="731520" y="1261872"/>
            <a:ext cx="10728655" cy="215444"/>
          </a:xfrm>
          <a:prstGeom prst="rect">
            <a:avLst/>
          </a:prstGeom>
          <a:noFill/>
        </p:spPr>
        <p:txBody>
          <a:bodyPr wrap="square" lIns="0" tIns="0" rIns="0" bIns="0" anchor="t">
            <a:spAutoFit/>
          </a:bodyPr>
          <a:lstStyle/>
          <a:p>
            <a:pPr>
              <a:defRPr sz="1300">
                <a:solidFill>
                  <a:srgbClr val="475569"/>
                </a:solidFill>
                <a:latin typeface="Segoe UI"/>
              </a:defRPr>
            </a:pPr>
            <a:r>
              <a:rPr sz="1400"/>
              <a:t>Những đóng góp cụ thể về mặt khoa học, kỹ thuật phần mềm và ứng dụng AI</a:t>
            </a:r>
          </a:p>
        </p:txBody>
      </p:sp>
      <p:sp>
        <p:nvSpPr>
          <p:cNvPr id="7" name="Rectangle 6"/>
          <p:cNvSpPr/>
          <p:nvPr/>
        </p:nvSpPr>
        <p:spPr>
          <a:xfrm>
            <a:off x="731520" y="6327648"/>
            <a:ext cx="10728655" cy="1524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31520" y="1691640"/>
            <a:ext cx="3401568" cy="4526280"/>
          </a:xfrm>
          <a:prstGeom prst="roundRect">
            <a:avLst/>
          </a:prstGeom>
          <a:solidFill>
            <a:srgbClr val="FFFF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wrap="square" lIns="219456" tIns="219456" rIns="219456" rtlCol="0" anchor="t"/>
          <a:lstStyle/>
          <a:p>
            <a:pPr algn="ctr">
              <a:spcBef>
                <a:spcPts val="300"/>
              </a:spcBef>
              <a:defRPr sz="1650" b="1">
                <a:solidFill>
                  <a:srgbClr val="1E40AF"/>
                </a:solidFill>
                <a:latin typeface="Segoe UI"/>
              </a:defRPr>
            </a:pPr>
            <a:r>
              <a:t>Về Nghiệp Vụ &amp; Dữ Liệu</a:t>
            </a:r>
          </a:p>
          <a:p>
            <a:pPr>
              <a:spcBef>
                <a:spcPts val="500"/>
              </a:spcBef>
              <a:defRPr sz="1150">
                <a:solidFill>
                  <a:srgbClr val="1E293B"/>
                </a:solidFill>
              </a:defRPr>
            </a:pPr>
            <a:r>
              <a:rPr sz="1400"/>
              <a:t>• Số hóa 100% quy trình đào tạo thực tế tại TT ETC Native.</a:t>
            </a:r>
          </a:p>
          <a:p>
            <a:pPr>
              <a:spcBef>
                <a:spcPts val="500"/>
              </a:spcBef>
              <a:defRPr sz="1150">
                <a:solidFill>
                  <a:srgbClr val="1E293B"/>
                </a:solidFill>
              </a:defRPr>
            </a:pPr>
            <a:r>
              <a:rPr sz="1400"/>
              <a:t>• Chấm dứt hoàn toàn tình trạng thất lạc dữ liệu trên sổ tay và file Excel rời rạc.</a:t>
            </a:r>
          </a:p>
          <a:p>
            <a:pPr>
              <a:spcBef>
                <a:spcPts val="500"/>
              </a:spcBef>
              <a:defRPr sz="1150">
                <a:solidFill>
                  <a:srgbClr val="1E293B"/>
                </a:solidFill>
              </a:defRPr>
            </a:pPr>
            <a:r>
              <a:rPr sz="1400"/>
              <a:t>• Giải quyết triệt để xung đột phòng học và lịch dạy của giảng viên.</a:t>
            </a:r>
          </a:p>
          <a:p>
            <a:pPr>
              <a:spcBef>
                <a:spcPts val="500"/>
              </a:spcBef>
              <a:defRPr sz="1150">
                <a:solidFill>
                  <a:srgbClr val="1E293B"/>
                </a:solidFill>
              </a:defRPr>
            </a:pPr>
            <a:r>
              <a:rPr sz="1400"/>
              <a:t>• Minh bạch hóa công nợ và doanh thu theo thời gian thực.</a:t>
            </a:r>
          </a:p>
        </p:txBody>
      </p:sp>
      <p:sp>
        <p:nvSpPr>
          <p:cNvPr id="11" name="Rounded Rectangle 10"/>
          <p:cNvSpPr/>
          <p:nvPr/>
        </p:nvSpPr>
        <p:spPr>
          <a:xfrm>
            <a:off x="4389120" y="1691640"/>
            <a:ext cx="3401568" cy="4526280"/>
          </a:xfrm>
          <a:prstGeom prst="roundRect">
            <a:avLst/>
          </a:prstGeom>
          <a:solidFill>
            <a:srgbClr val="FFFF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wrap="square" lIns="219456" tIns="219456" rIns="219456" rtlCol="0" anchor="t"/>
          <a:lstStyle/>
          <a:p>
            <a:pPr algn="ctr">
              <a:spcBef>
                <a:spcPts val="300"/>
              </a:spcBef>
              <a:defRPr sz="1650" b="1">
                <a:solidFill>
                  <a:srgbClr val="1E40AF"/>
                </a:solidFill>
                <a:latin typeface="Segoe UI"/>
              </a:defRPr>
            </a:pPr>
            <a:r>
              <a:t>Về Kỹ Thuật Phần Mềm</a:t>
            </a:r>
          </a:p>
          <a:p>
            <a:pPr>
              <a:spcBef>
                <a:spcPts val="500"/>
              </a:spcBef>
              <a:defRPr sz="1150">
                <a:solidFill>
                  <a:srgbClr val="1E293B"/>
                </a:solidFill>
              </a:defRPr>
            </a:pPr>
            <a:r>
              <a:rPr sz="1400"/>
              <a:t>• Xây dựng kiến trúc 4 tầng chuẩn mực kết hợp BCE.</a:t>
            </a:r>
          </a:p>
          <a:p>
            <a:pPr>
              <a:spcBef>
                <a:spcPts val="500"/>
              </a:spcBef>
              <a:defRPr sz="1150">
                <a:solidFill>
                  <a:srgbClr val="1E293B"/>
                </a:solidFill>
              </a:defRPr>
            </a:pPr>
            <a:r>
              <a:rPr sz="1400"/>
              <a:t>• CSDL 14 bảng quan hệ đạt chuẩn 3NF, bảo vệ toàn vẹn bằng ACID Transaction.</a:t>
            </a:r>
          </a:p>
          <a:p>
            <a:pPr>
              <a:spcBef>
                <a:spcPts val="500"/>
              </a:spcBef>
              <a:defRPr sz="1150">
                <a:solidFill>
                  <a:srgbClr val="1E293B"/>
                </a:solidFill>
              </a:defRPr>
            </a:pPr>
            <a:r>
              <a:rPr sz="1400"/>
              <a:t>• Hệ thống 32 RESTful API được chuẩn hóa bảo mật JWT và tài liệu hóa tự động bằng Swagger.</a:t>
            </a:r>
          </a:p>
          <a:p>
            <a:pPr>
              <a:spcBef>
                <a:spcPts val="500"/>
              </a:spcBef>
              <a:defRPr sz="1150">
                <a:solidFill>
                  <a:srgbClr val="1E293B"/>
                </a:solidFill>
              </a:defRPr>
            </a:pPr>
            <a:r>
              <a:rPr sz="1400"/>
              <a:t>• Bộ test 45 trường hợp kiểm thử đạt tỷ lệ thành công 100%.</a:t>
            </a:r>
          </a:p>
          <a:p>
            <a:pPr>
              <a:spcBef>
                <a:spcPts val="400"/>
              </a:spcBef>
              <a:defRPr sz="1150">
                <a:solidFill>
                  <a:srgbClr val="1E293B"/>
                </a:solidFill>
                <a:latin typeface="Segoe UI"/>
              </a:defRPr>
            </a:pPr>
            <a:r>
              <a:t>• Kiểm thử toàn diện 145 ca test đạt 100% PASS (94.6% statement coverage). Đóng gói hoàn chỉnh Docker 3 Container triển khai 1 chạm.</a:t>
            </a:r>
          </a:p>
        </p:txBody>
      </p:sp>
      <p:sp>
        <p:nvSpPr>
          <p:cNvPr id="12" name="Rounded Rectangle 11"/>
          <p:cNvSpPr/>
          <p:nvPr/>
        </p:nvSpPr>
        <p:spPr>
          <a:xfrm>
            <a:off x="8046720" y="1691640"/>
            <a:ext cx="3401568" cy="4526280"/>
          </a:xfrm>
          <a:prstGeom prst="roundRect">
            <a:avLst/>
          </a:prstGeom>
          <a:solidFill>
            <a:srgbClr val="FFFF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wrap="square" lIns="219456" tIns="219456" rIns="219456" rtlCol="0" anchor="t"/>
          <a:lstStyle/>
          <a:p>
            <a:pPr algn="ctr">
              <a:spcBef>
                <a:spcPts val="300"/>
              </a:spcBef>
              <a:defRPr sz="1650" b="1">
                <a:solidFill>
                  <a:srgbClr val="1E40AF"/>
                </a:solidFill>
                <a:latin typeface="Segoe UI"/>
              </a:defRPr>
            </a:pPr>
            <a:r>
              <a:t>Về Ứng Dụng GenAI</a:t>
            </a:r>
          </a:p>
          <a:p>
            <a:pPr>
              <a:spcBef>
                <a:spcPts val="500"/>
              </a:spcBef>
              <a:defRPr sz="1150">
                <a:solidFill>
                  <a:srgbClr val="1E293B"/>
                </a:solidFill>
              </a:defRPr>
            </a:pPr>
            <a:r>
              <a:rPr sz="1400"/>
              <a:t>• Tích hợp thành công mô hình Google Gemini 3.1 Flash-Lite &amp; Pro.</a:t>
            </a:r>
          </a:p>
          <a:p>
            <a:pPr>
              <a:spcBef>
                <a:spcPts val="500"/>
              </a:spcBef>
              <a:defRPr sz="1150">
                <a:solidFill>
                  <a:srgbClr val="1E293B"/>
                </a:solidFill>
              </a:defRPr>
            </a:pPr>
            <a:r>
              <a:rPr sz="1400"/>
              <a:t>• Xây dựng cơ chế Zero-Trust lọc ảo giác, đảm bảo AI không bịa đặt lớp học.</a:t>
            </a:r>
          </a:p>
          <a:p>
            <a:pPr>
              <a:spcBef>
                <a:spcPts val="500"/>
              </a:spcBef>
              <a:defRPr sz="1150">
                <a:solidFill>
                  <a:srgbClr val="1E293B"/>
                </a:solidFill>
              </a:defRPr>
            </a:pPr>
            <a:r>
              <a:rPr sz="1400"/>
              <a:t>• Cơ chế Fallback thông minh đảm bảo hệ thống luôn sẵn sàng 24/7.</a:t>
            </a:r>
          </a:p>
          <a:p>
            <a:pPr>
              <a:spcBef>
                <a:spcPts val="500"/>
              </a:spcBef>
              <a:defRPr sz="1150">
                <a:solidFill>
                  <a:srgbClr val="1E293B"/>
                </a:solidFill>
              </a:defRPr>
            </a:pPr>
            <a:r>
              <a:rPr sz="1400"/>
              <a:t>• Bảng kiểm toán YeuCauAI lưu vết đầy đủ phục vụ giám sát và đánh giá chất lượng.</a:t>
            </a:r>
          </a:p>
        </p:txBody>
      </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80">
                                          <p:stCondLst>
                                            <p:cond delay="0"/>
                                          </p:stCondLst>
                                        </p:cTn>
                                        <p:tgtEl>
                                          <p:spTgt spid="10"/>
                                        </p:tgtEl>
                                      </p:cBhvr>
                                    </p:animEffect>
                                    <p:anim calcmode="lin" valueType="num">
                                      <p:cBhvr>
                                        <p:cTn id="8" dur="1822" tmFilter="0,0; 0.14,0.36; 0.43,0.73; 0.71,0.91; 1.0,1.0">
                                          <p:stCondLst>
                                            <p:cond delay="0"/>
                                          </p:stCondLst>
                                        </p:cTn>
                                        <p:tgtEl>
                                          <p:spTgt spid="10"/>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0"/>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0"/>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0"/>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0"/>
                                        </p:tgtEl>
                                        <p:attrNameLst>
                                          <p:attrName>ppt_y</p:attrName>
                                        </p:attrNameLst>
                                      </p:cBhvr>
                                      <p:tavLst>
                                        <p:tav tm="0" fmla="#ppt_y-sin(pi*$)/81">
                                          <p:val>
                                            <p:fltVal val="0"/>
                                          </p:val>
                                        </p:tav>
                                        <p:tav tm="100000">
                                          <p:val>
                                            <p:fltVal val="1"/>
                                          </p:val>
                                        </p:tav>
                                      </p:tavLst>
                                    </p:anim>
                                    <p:animScale>
                                      <p:cBhvr>
                                        <p:cTn id="13" dur="26">
                                          <p:stCondLst>
                                            <p:cond delay="650"/>
                                          </p:stCondLst>
                                        </p:cTn>
                                        <p:tgtEl>
                                          <p:spTgt spid="10"/>
                                        </p:tgtEl>
                                      </p:cBhvr>
                                      <p:to x="100000" y="60000"/>
                                    </p:animScale>
                                    <p:animScale>
                                      <p:cBhvr>
                                        <p:cTn id="14" dur="166" decel="50000">
                                          <p:stCondLst>
                                            <p:cond delay="676"/>
                                          </p:stCondLst>
                                        </p:cTn>
                                        <p:tgtEl>
                                          <p:spTgt spid="10"/>
                                        </p:tgtEl>
                                      </p:cBhvr>
                                      <p:to x="100000" y="100000"/>
                                    </p:animScale>
                                    <p:animScale>
                                      <p:cBhvr>
                                        <p:cTn id="15" dur="26">
                                          <p:stCondLst>
                                            <p:cond delay="1312"/>
                                          </p:stCondLst>
                                        </p:cTn>
                                        <p:tgtEl>
                                          <p:spTgt spid="10"/>
                                        </p:tgtEl>
                                      </p:cBhvr>
                                      <p:to x="100000" y="80000"/>
                                    </p:animScale>
                                    <p:animScale>
                                      <p:cBhvr>
                                        <p:cTn id="16" dur="166" decel="50000">
                                          <p:stCondLst>
                                            <p:cond delay="1338"/>
                                          </p:stCondLst>
                                        </p:cTn>
                                        <p:tgtEl>
                                          <p:spTgt spid="10"/>
                                        </p:tgtEl>
                                      </p:cBhvr>
                                      <p:to x="100000" y="100000"/>
                                    </p:animScale>
                                    <p:animScale>
                                      <p:cBhvr>
                                        <p:cTn id="17" dur="26">
                                          <p:stCondLst>
                                            <p:cond delay="1642"/>
                                          </p:stCondLst>
                                        </p:cTn>
                                        <p:tgtEl>
                                          <p:spTgt spid="10"/>
                                        </p:tgtEl>
                                      </p:cBhvr>
                                      <p:to x="100000" y="90000"/>
                                    </p:animScale>
                                    <p:animScale>
                                      <p:cBhvr>
                                        <p:cTn id="18" dur="166" decel="50000">
                                          <p:stCondLst>
                                            <p:cond delay="1668"/>
                                          </p:stCondLst>
                                        </p:cTn>
                                        <p:tgtEl>
                                          <p:spTgt spid="10"/>
                                        </p:tgtEl>
                                      </p:cBhvr>
                                      <p:to x="100000" y="100000"/>
                                    </p:animScale>
                                    <p:animScale>
                                      <p:cBhvr>
                                        <p:cTn id="19" dur="26">
                                          <p:stCondLst>
                                            <p:cond delay="1808"/>
                                          </p:stCondLst>
                                        </p:cTn>
                                        <p:tgtEl>
                                          <p:spTgt spid="10"/>
                                        </p:tgtEl>
                                      </p:cBhvr>
                                      <p:to x="100000" y="95000"/>
                                    </p:animScale>
                                    <p:animScale>
                                      <p:cBhvr>
                                        <p:cTn id="20" dur="166" decel="50000">
                                          <p:stCondLst>
                                            <p:cond delay="1834"/>
                                          </p:stCondLst>
                                        </p:cTn>
                                        <p:tgtEl>
                                          <p:spTgt spid="10"/>
                                        </p:tgtEl>
                                      </p:cBhvr>
                                      <p:to x="100000" y="100000"/>
                                    </p:animScale>
                                  </p:childTnLst>
                                </p:cTn>
                              </p:par>
                              <p:par>
                                <p:cTn id="21" presetID="26"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wipe(down)">
                                      <p:cBhvr>
                                        <p:cTn id="23" dur="580">
                                          <p:stCondLst>
                                            <p:cond delay="0"/>
                                          </p:stCondLst>
                                        </p:cTn>
                                        <p:tgtEl>
                                          <p:spTgt spid="11"/>
                                        </p:tgtEl>
                                      </p:cBhvr>
                                    </p:animEffect>
                                    <p:anim calcmode="lin" valueType="num">
                                      <p:cBhvr>
                                        <p:cTn id="24" dur="1822" tmFilter="0,0; 0.14,0.36; 0.43,0.73; 0.71,0.91; 1.0,1.0">
                                          <p:stCondLst>
                                            <p:cond delay="0"/>
                                          </p:stCondLst>
                                        </p:cTn>
                                        <p:tgtEl>
                                          <p:spTgt spid="11"/>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11"/>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11"/>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11"/>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11"/>
                                        </p:tgtEl>
                                        <p:attrNameLst>
                                          <p:attrName>ppt_y</p:attrName>
                                        </p:attrNameLst>
                                      </p:cBhvr>
                                      <p:tavLst>
                                        <p:tav tm="0" fmla="#ppt_y-sin(pi*$)/81">
                                          <p:val>
                                            <p:fltVal val="0"/>
                                          </p:val>
                                        </p:tav>
                                        <p:tav tm="100000">
                                          <p:val>
                                            <p:fltVal val="1"/>
                                          </p:val>
                                        </p:tav>
                                      </p:tavLst>
                                    </p:anim>
                                    <p:animScale>
                                      <p:cBhvr>
                                        <p:cTn id="29" dur="26">
                                          <p:stCondLst>
                                            <p:cond delay="650"/>
                                          </p:stCondLst>
                                        </p:cTn>
                                        <p:tgtEl>
                                          <p:spTgt spid="11"/>
                                        </p:tgtEl>
                                      </p:cBhvr>
                                      <p:to x="100000" y="60000"/>
                                    </p:animScale>
                                    <p:animScale>
                                      <p:cBhvr>
                                        <p:cTn id="30" dur="166" decel="50000">
                                          <p:stCondLst>
                                            <p:cond delay="676"/>
                                          </p:stCondLst>
                                        </p:cTn>
                                        <p:tgtEl>
                                          <p:spTgt spid="11"/>
                                        </p:tgtEl>
                                      </p:cBhvr>
                                      <p:to x="100000" y="100000"/>
                                    </p:animScale>
                                    <p:animScale>
                                      <p:cBhvr>
                                        <p:cTn id="31" dur="26">
                                          <p:stCondLst>
                                            <p:cond delay="1312"/>
                                          </p:stCondLst>
                                        </p:cTn>
                                        <p:tgtEl>
                                          <p:spTgt spid="11"/>
                                        </p:tgtEl>
                                      </p:cBhvr>
                                      <p:to x="100000" y="80000"/>
                                    </p:animScale>
                                    <p:animScale>
                                      <p:cBhvr>
                                        <p:cTn id="32" dur="166" decel="50000">
                                          <p:stCondLst>
                                            <p:cond delay="1338"/>
                                          </p:stCondLst>
                                        </p:cTn>
                                        <p:tgtEl>
                                          <p:spTgt spid="11"/>
                                        </p:tgtEl>
                                      </p:cBhvr>
                                      <p:to x="100000" y="100000"/>
                                    </p:animScale>
                                    <p:animScale>
                                      <p:cBhvr>
                                        <p:cTn id="33" dur="26">
                                          <p:stCondLst>
                                            <p:cond delay="1642"/>
                                          </p:stCondLst>
                                        </p:cTn>
                                        <p:tgtEl>
                                          <p:spTgt spid="11"/>
                                        </p:tgtEl>
                                      </p:cBhvr>
                                      <p:to x="100000" y="90000"/>
                                    </p:animScale>
                                    <p:animScale>
                                      <p:cBhvr>
                                        <p:cTn id="34" dur="166" decel="50000">
                                          <p:stCondLst>
                                            <p:cond delay="1668"/>
                                          </p:stCondLst>
                                        </p:cTn>
                                        <p:tgtEl>
                                          <p:spTgt spid="11"/>
                                        </p:tgtEl>
                                      </p:cBhvr>
                                      <p:to x="100000" y="100000"/>
                                    </p:animScale>
                                    <p:animScale>
                                      <p:cBhvr>
                                        <p:cTn id="35" dur="26">
                                          <p:stCondLst>
                                            <p:cond delay="1808"/>
                                          </p:stCondLst>
                                        </p:cTn>
                                        <p:tgtEl>
                                          <p:spTgt spid="11"/>
                                        </p:tgtEl>
                                      </p:cBhvr>
                                      <p:to x="100000" y="95000"/>
                                    </p:animScale>
                                    <p:animScale>
                                      <p:cBhvr>
                                        <p:cTn id="36" dur="166" decel="50000">
                                          <p:stCondLst>
                                            <p:cond delay="1834"/>
                                          </p:stCondLst>
                                        </p:cTn>
                                        <p:tgtEl>
                                          <p:spTgt spid="11"/>
                                        </p:tgtEl>
                                      </p:cBhvr>
                                      <p:to x="100000" y="100000"/>
                                    </p:animScale>
                                  </p:childTnLst>
                                </p:cTn>
                              </p:par>
                              <p:par>
                                <p:cTn id="37" presetID="26" presetClass="entr" presetSubtype="0"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wipe(down)">
                                      <p:cBhvr>
                                        <p:cTn id="39" dur="580">
                                          <p:stCondLst>
                                            <p:cond delay="0"/>
                                          </p:stCondLst>
                                        </p:cTn>
                                        <p:tgtEl>
                                          <p:spTgt spid="12"/>
                                        </p:tgtEl>
                                      </p:cBhvr>
                                    </p:animEffect>
                                    <p:anim calcmode="lin" valueType="num">
                                      <p:cBhvr>
                                        <p:cTn id="40" dur="1822" tmFilter="0,0; 0.14,0.36; 0.43,0.73; 0.71,0.91; 1.0,1.0">
                                          <p:stCondLst>
                                            <p:cond delay="0"/>
                                          </p:stCondLst>
                                        </p:cTn>
                                        <p:tgtEl>
                                          <p:spTgt spid="12"/>
                                        </p:tgtEl>
                                        <p:attrNameLst>
                                          <p:attrName>ppt_x</p:attrName>
                                        </p:attrNameLst>
                                      </p:cBhvr>
                                      <p:tavLst>
                                        <p:tav tm="0">
                                          <p:val>
                                            <p:strVal val="#ppt_x-0.25"/>
                                          </p:val>
                                        </p:tav>
                                        <p:tav tm="100000">
                                          <p:val>
                                            <p:strVal val="#ppt_x"/>
                                          </p:val>
                                        </p:tav>
                                      </p:tavLst>
                                    </p:anim>
                                    <p:anim calcmode="lin" valueType="num">
                                      <p:cBhvr>
                                        <p:cTn id="41" dur="664" tmFilter="0.0,0.0; 0.25,0.07; 0.50,0.2; 0.75,0.467; 1.0,1.0">
                                          <p:stCondLst>
                                            <p:cond delay="0"/>
                                          </p:stCondLst>
                                        </p:cTn>
                                        <p:tgtEl>
                                          <p:spTgt spid="12"/>
                                        </p:tgtEl>
                                        <p:attrNameLst>
                                          <p:attrName>ppt_y</p:attrName>
                                        </p:attrNameLst>
                                      </p:cBhvr>
                                      <p:tavLst>
                                        <p:tav tm="0" fmla="#ppt_y-sin(pi*$)/3">
                                          <p:val>
                                            <p:fltVal val="0.5"/>
                                          </p:val>
                                        </p:tav>
                                        <p:tav tm="100000">
                                          <p:val>
                                            <p:fltVal val="1"/>
                                          </p:val>
                                        </p:tav>
                                      </p:tavLst>
                                    </p:anim>
                                    <p:anim calcmode="lin" valueType="num">
                                      <p:cBhvr>
                                        <p:cTn id="42" dur="664" tmFilter="0, 0; 0.125,0.2665; 0.25,0.4; 0.375,0.465; 0.5,0.5;  0.625,0.535; 0.75,0.6; 0.875,0.7335; 1,1">
                                          <p:stCondLst>
                                            <p:cond delay="664"/>
                                          </p:stCondLst>
                                        </p:cTn>
                                        <p:tgtEl>
                                          <p:spTgt spid="12"/>
                                        </p:tgtEl>
                                        <p:attrNameLst>
                                          <p:attrName>ppt_y</p:attrName>
                                        </p:attrNameLst>
                                      </p:cBhvr>
                                      <p:tavLst>
                                        <p:tav tm="0" fmla="#ppt_y-sin(pi*$)/9">
                                          <p:val>
                                            <p:fltVal val="0"/>
                                          </p:val>
                                        </p:tav>
                                        <p:tav tm="100000">
                                          <p:val>
                                            <p:fltVal val="1"/>
                                          </p:val>
                                        </p:tav>
                                      </p:tavLst>
                                    </p:anim>
                                    <p:anim calcmode="lin" valueType="num">
                                      <p:cBhvr>
                                        <p:cTn id="43" dur="332" tmFilter="0, 0; 0.125,0.2665; 0.25,0.4; 0.375,0.465; 0.5,0.5;  0.625,0.535; 0.75,0.6; 0.875,0.7335; 1,1">
                                          <p:stCondLst>
                                            <p:cond delay="1324"/>
                                          </p:stCondLst>
                                        </p:cTn>
                                        <p:tgtEl>
                                          <p:spTgt spid="12"/>
                                        </p:tgtEl>
                                        <p:attrNameLst>
                                          <p:attrName>ppt_y</p:attrName>
                                        </p:attrNameLst>
                                      </p:cBhvr>
                                      <p:tavLst>
                                        <p:tav tm="0" fmla="#ppt_y-sin(pi*$)/27">
                                          <p:val>
                                            <p:fltVal val="0"/>
                                          </p:val>
                                        </p:tav>
                                        <p:tav tm="100000">
                                          <p:val>
                                            <p:fltVal val="1"/>
                                          </p:val>
                                        </p:tav>
                                      </p:tavLst>
                                    </p:anim>
                                    <p:anim calcmode="lin" valueType="num">
                                      <p:cBhvr>
                                        <p:cTn id="44" dur="164" tmFilter="0, 0; 0.125,0.2665; 0.25,0.4; 0.375,0.465; 0.5,0.5;  0.625,0.535; 0.75,0.6; 0.875,0.7335; 1,1">
                                          <p:stCondLst>
                                            <p:cond delay="1656"/>
                                          </p:stCondLst>
                                        </p:cTn>
                                        <p:tgtEl>
                                          <p:spTgt spid="12"/>
                                        </p:tgtEl>
                                        <p:attrNameLst>
                                          <p:attrName>ppt_y</p:attrName>
                                        </p:attrNameLst>
                                      </p:cBhvr>
                                      <p:tavLst>
                                        <p:tav tm="0" fmla="#ppt_y-sin(pi*$)/81">
                                          <p:val>
                                            <p:fltVal val="0"/>
                                          </p:val>
                                        </p:tav>
                                        <p:tav tm="100000">
                                          <p:val>
                                            <p:fltVal val="1"/>
                                          </p:val>
                                        </p:tav>
                                      </p:tavLst>
                                    </p:anim>
                                    <p:animScale>
                                      <p:cBhvr>
                                        <p:cTn id="45" dur="26">
                                          <p:stCondLst>
                                            <p:cond delay="650"/>
                                          </p:stCondLst>
                                        </p:cTn>
                                        <p:tgtEl>
                                          <p:spTgt spid="12"/>
                                        </p:tgtEl>
                                      </p:cBhvr>
                                      <p:to x="100000" y="60000"/>
                                    </p:animScale>
                                    <p:animScale>
                                      <p:cBhvr>
                                        <p:cTn id="46" dur="166" decel="50000">
                                          <p:stCondLst>
                                            <p:cond delay="676"/>
                                          </p:stCondLst>
                                        </p:cTn>
                                        <p:tgtEl>
                                          <p:spTgt spid="12"/>
                                        </p:tgtEl>
                                      </p:cBhvr>
                                      <p:to x="100000" y="100000"/>
                                    </p:animScale>
                                    <p:animScale>
                                      <p:cBhvr>
                                        <p:cTn id="47" dur="26">
                                          <p:stCondLst>
                                            <p:cond delay="1312"/>
                                          </p:stCondLst>
                                        </p:cTn>
                                        <p:tgtEl>
                                          <p:spTgt spid="12"/>
                                        </p:tgtEl>
                                      </p:cBhvr>
                                      <p:to x="100000" y="80000"/>
                                    </p:animScale>
                                    <p:animScale>
                                      <p:cBhvr>
                                        <p:cTn id="48" dur="166" decel="50000">
                                          <p:stCondLst>
                                            <p:cond delay="1338"/>
                                          </p:stCondLst>
                                        </p:cTn>
                                        <p:tgtEl>
                                          <p:spTgt spid="12"/>
                                        </p:tgtEl>
                                      </p:cBhvr>
                                      <p:to x="100000" y="100000"/>
                                    </p:animScale>
                                    <p:animScale>
                                      <p:cBhvr>
                                        <p:cTn id="49" dur="26">
                                          <p:stCondLst>
                                            <p:cond delay="1642"/>
                                          </p:stCondLst>
                                        </p:cTn>
                                        <p:tgtEl>
                                          <p:spTgt spid="12"/>
                                        </p:tgtEl>
                                      </p:cBhvr>
                                      <p:to x="100000" y="90000"/>
                                    </p:animScale>
                                    <p:animScale>
                                      <p:cBhvr>
                                        <p:cTn id="50" dur="166" decel="50000">
                                          <p:stCondLst>
                                            <p:cond delay="1668"/>
                                          </p:stCondLst>
                                        </p:cTn>
                                        <p:tgtEl>
                                          <p:spTgt spid="12"/>
                                        </p:tgtEl>
                                      </p:cBhvr>
                                      <p:to x="100000" y="100000"/>
                                    </p:animScale>
                                    <p:animScale>
                                      <p:cBhvr>
                                        <p:cTn id="51" dur="26">
                                          <p:stCondLst>
                                            <p:cond delay="1808"/>
                                          </p:stCondLst>
                                        </p:cTn>
                                        <p:tgtEl>
                                          <p:spTgt spid="12"/>
                                        </p:tgtEl>
                                      </p:cBhvr>
                                      <p:to x="100000" y="95000"/>
                                    </p:animScale>
                                    <p:animScale>
                                      <p:cBhvr>
                                        <p:cTn id="52" dur="166" decel="50000">
                                          <p:stCondLst>
                                            <p:cond delay="1834"/>
                                          </p:stCondLst>
                                        </p:cTn>
                                        <p:tgtEl>
                                          <p:spTgt spid="1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0" y="82296"/>
            <a:ext cx="2397760" cy="320040"/>
          </a:xfrm>
          <a:prstGeom prst="roundRect">
            <a:avLst/>
          </a:prstGeom>
          <a:solidFill>
            <a:srgbClr val="EFF6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1000" b="1">
                <a:solidFill>
                  <a:srgbClr val="1E40AF"/>
                </a:solidFill>
              </a:defRPr>
            </a:pPr>
            <a:r>
              <a:t>ĐỊNH HƯỚNG TƯƠNG LAI</a:t>
            </a:r>
          </a:p>
        </p:txBody>
      </p:sp>
      <p:sp>
        <p:nvSpPr>
          <p:cNvPr id="5" name="TextBox 4"/>
          <p:cNvSpPr txBox="1"/>
          <p:nvPr/>
        </p:nvSpPr>
        <p:spPr>
          <a:xfrm>
            <a:off x="731520" y="713232"/>
            <a:ext cx="10728655" cy="548640"/>
          </a:xfrm>
          <a:prstGeom prst="rect">
            <a:avLst/>
          </a:prstGeom>
          <a:noFill/>
        </p:spPr>
        <p:txBody>
          <a:bodyPr wrap="square" lIns="0" tIns="0" rIns="0" bIns="0" anchor="t">
            <a:spAutoFit/>
          </a:bodyPr>
          <a:lstStyle/>
          <a:p>
            <a:pPr>
              <a:defRPr sz="2500" b="1">
                <a:solidFill>
                  <a:srgbClr val="0F172A"/>
                </a:solidFill>
                <a:latin typeface="Segoe UI"/>
              </a:defRPr>
            </a:pPr>
            <a:r>
              <a:t>Hạn Chế Tồn Tại &amp; Định Hướng Mở Rộng</a:t>
            </a:r>
          </a:p>
        </p:txBody>
      </p:sp>
      <p:sp>
        <p:nvSpPr>
          <p:cNvPr id="6" name="TextBox 5"/>
          <p:cNvSpPr txBox="1"/>
          <p:nvPr/>
        </p:nvSpPr>
        <p:spPr>
          <a:xfrm>
            <a:off x="731520" y="1261872"/>
            <a:ext cx="10728655" cy="215444"/>
          </a:xfrm>
          <a:prstGeom prst="rect">
            <a:avLst/>
          </a:prstGeom>
          <a:noFill/>
        </p:spPr>
        <p:txBody>
          <a:bodyPr wrap="square" lIns="0" tIns="0" rIns="0" bIns="0" anchor="t">
            <a:spAutoFit/>
          </a:bodyPr>
          <a:lstStyle/>
          <a:p>
            <a:pPr>
              <a:defRPr sz="1300">
                <a:solidFill>
                  <a:srgbClr val="475569"/>
                </a:solidFill>
                <a:latin typeface="Segoe UI"/>
              </a:defRPr>
            </a:pPr>
            <a:r>
              <a:rPr sz="1400"/>
              <a:t>Kế hoạch nâng cấp và hoàn thiện hệ thống trong các giai đoạn tiếp theo</a:t>
            </a:r>
          </a:p>
        </p:txBody>
      </p:sp>
      <p:sp>
        <p:nvSpPr>
          <p:cNvPr id="7" name="Rectangle 6"/>
          <p:cNvSpPr/>
          <p:nvPr/>
        </p:nvSpPr>
        <p:spPr>
          <a:xfrm>
            <a:off x="731520" y="6327648"/>
            <a:ext cx="10728655" cy="1524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31520" y="1691640"/>
            <a:ext cx="5212080" cy="4526280"/>
          </a:xfrm>
          <a:prstGeom prst="roundRect">
            <a:avLst/>
          </a:prstGeom>
          <a:solidFill>
            <a:srgbClr val="FFFF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wrap="square" lIns="219456" tIns="219456" rIns="219456" rtlCol="0" anchor="t"/>
          <a:lstStyle/>
          <a:p>
            <a:pPr algn="ctr">
              <a:spcBef>
                <a:spcPts val="300"/>
              </a:spcBef>
              <a:defRPr sz="1650" b="1">
                <a:solidFill>
                  <a:srgbClr val="1E40AF"/>
                </a:solidFill>
                <a:latin typeface="Segoe UI"/>
              </a:defRPr>
            </a:pPr>
            <a:r>
              <a:t>Các Điểm Hạn Chế Cần Hoàn Thiện</a:t>
            </a:r>
          </a:p>
          <a:p>
            <a:pPr>
              <a:spcBef>
                <a:spcPts val="500"/>
              </a:spcBef>
              <a:defRPr sz="1150">
                <a:solidFill>
                  <a:srgbClr val="1E293B"/>
                </a:solidFill>
              </a:defRPr>
            </a:pPr>
            <a:r>
              <a:rPr sz="1400"/>
              <a:t>• Phụ thuộc kết nối Internet:Các tính năng AI phụ thuộc vào đường truyền tới Google AI Studio Cloud.</a:t>
            </a:r>
          </a:p>
          <a:p>
            <a:pPr>
              <a:spcBef>
                <a:spcPts val="500"/>
              </a:spcBef>
              <a:defRPr sz="1150">
                <a:solidFill>
                  <a:srgbClr val="1E293B"/>
                </a:solidFill>
              </a:defRPr>
            </a:pPr>
            <a:r>
              <a:rPr sz="1400"/>
              <a:t>• Chưa tích hợp cổng thanh toán trực tuyến:Khâu thu học phí hiện đang áp dụng ghi nhận tiền mặt và chuyển khoản đối soát thủ công qua sao kê, chưa liên kết cổng VNPay/MoMo.</a:t>
            </a:r>
          </a:p>
          <a:p>
            <a:pPr>
              <a:spcBef>
                <a:spcPts val="500"/>
              </a:spcBef>
              <a:defRPr sz="1150">
                <a:solidFill>
                  <a:srgbClr val="1E293B"/>
                </a:solidFill>
              </a:defRPr>
            </a:pPr>
            <a:r>
              <a:rPr sz="1400"/>
              <a:t>• Mô hình đánh giá nói/viết:Tính năng AI hiện tập trung chủ yếu vào trắc nghiệm ngữ pháp/từ vựng và tư vấn lộ trình, chưa chấm điểm trực tiếp phát âm giọng nói (Speech-to-Text).</a:t>
            </a:r>
          </a:p>
          <a:p>
            <a:pPr>
              <a:spcBef>
                <a:spcPts val="400"/>
              </a:spcBef>
              <a:defRPr sz="1150">
                <a:solidFill>
                  <a:srgbClr val="1E293B"/>
                </a:solidFill>
                <a:latin typeface="Segoe UI"/>
              </a:defRPr>
            </a:pPr>
            <a:r>
              <a:t>• Đã giải quyết rào cản môi trường:Nhờ công nghệ Docker, hệ thống loại bỏ 100% lỗi sai lệch phiên bản khi chạy trên các máy khác nhau.</a:t>
            </a:r>
          </a:p>
        </p:txBody>
      </p:sp>
      <p:sp>
        <p:nvSpPr>
          <p:cNvPr id="11" name="Rounded Rectangle 10"/>
          <p:cNvSpPr/>
          <p:nvPr/>
        </p:nvSpPr>
        <p:spPr>
          <a:xfrm>
            <a:off x="6248095" y="1691640"/>
            <a:ext cx="5212080" cy="4526280"/>
          </a:xfrm>
          <a:prstGeom prst="roundRect">
            <a:avLst/>
          </a:prstGeom>
          <a:solidFill>
            <a:srgbClr val="FFFF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wrap="square" lIns="219456" tIns="219456" rIns="219456" rtlCol="0" anchor="t"/>
          <a:lstStyle/>
          <a:p>
            <a:pPr algn="ctr">
              <a:spcBef>
                <a:spcPts val="300"/>
              </a:spcBef>
              <a:defRPr sz="1650" b="1">
                <a:solidFill>
                  <a:srgbClr val="1E40AF"/>
                </a:solidFill>
                <a:latin typeface="Segoe UI"/>
              </a:defRPr>
            </a:pPr>
            <a:r>
              <a:t>Định Hướng Phát Triển Giai Đoạn 2</a:t>
            </a:r>
          </a:p>
          <a:p>
            <a:pPr>
              <a:spcBef>
                <a:spcPts val="500"/>
              </a:spcBef>
              <a:defRPr sz="1150">
                <a:solidFill>
                  <a:srgbClr val="1E293B"/>
                </a:solidFill>
              </a:defRPr>
            </a:pPr>
            <a:r>
              <a:rPr sz="1400"/>
              <a:t>• Phát triển Ứng Dụng Mobile (React Native / Flutter):Cho phép học viên và giáo viên nhận thông báo đẩy về lịch học, điểm danh tức thì.</a:t>
            </a:r>
          </a:p>
          <a:p>
            <a:pPr>
              <a:spcBef>
                <a:spcPts val="500"/>
              </a:spcBef>
              <a:defRPr sz="1150">
                <a:solidFill>
                  <a:srgbClr val="1E293B"/>
                </a:solidFill>
              </a:defRPr>
            </a:pPr>
            <a:r>
              <a:rPr sz="1400"/>
              <a:t>• Tích hợp Cổng Thanh Toán Trực Tuyến:Tự động kích hoạt trạng thái hóa đơn qua Webhook VietQR / SeABank / MoMo.</a:t>
            </a:r>
          </a:p>
          <a:p>
            <a:pPr>
              <a:spcBef>
                <a:spcPts val="500"/>
              </a:spcBef>
              <a:defRPr sz="1150">
                <a:solidFill>
                  <a:srgbClr val="1E293B"/>
                </a:solidFill>
              </a:defRPr>
            </a:pPr>
            <a:r>
              <a:rPr sz="1400"/>
              <a:t>• Trợ lý AI Luyện Phát Âm (Audio GenAI):Ứng dụng Gemini Multimodal để phân tích file ghi âm giọng đọc của học viên và chấm điểm phát âm IPA.</a:t>
            </a:r>
          </a:p>
          <a:p>
            <a:pPr>
              <a:spcBef>
                <a:spcPts val="500"/>
              </a:spcBef>
              <a:defRPr sz="1150">
                <a:solidFill>
                  <a:srgbClr val="1E293B"/>
                </a:solidFill>
              </a:defRPr>
            </a:pPr>
            <a:r>
              <a:rPr sz="1400"/>
              <a:t>• Triển khai mô hình AI cục bộ (Ollama/Llama 3):Dự phòng ngoại tuyến cho trung tâm khi mất kết nối mạng quốc tế.</a:t>
            </a:r>
          </a:p>
        </p:txBody>
      </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1000" fill="hold"/>
                                        <p:tgtEl>
                                          <p:spTgt spid="10"/>
                                        </p:tgtEl>
                                        <p:attrNameLst>
                                          <p:attrName>ppt_w</p:attrName>
                                        </p:attrNameLst>
                                      </p:cBhvr>
                                      <p:tavLst>
                                        <p:tav tm="0">
                                          <p:val>
                                            <p:strVal val="#ppt_w*0.70"/>
                                          </p:val>
                                        </p:tav>
                                        <p:tav tm="100000">
                                          <p:val>
                                            <p:strVal val="#ppt_w"/>
                                          </p:val>
                                        </p:tav>
                                      </p:tavLst>
                                    </p:anim>
                                    <p:anim calcmode="lin" valueType="num">
                                      <p:cBhvr>
                                        <p:cTn id="8" dur="1000" fill="hold"/>
                                        <p:tgtEl>
                                          <p:spTgt spid="10"/>
                                        </p:tgtEl>
                                        <p:attrNameLst>
                                          <p:attrName>ppt_h</p:attrName>
                                        </p:attrNameLst>
                                      </p:cBhvr>
                                      <p:tavLst>
                                        <p:tav tm="0">
                                          <p:val>
                                            <p:strVal val="#ppt_h"/>
                                          </p:val>
                                        </p:tav>
                                        <p:tav tm="100000">
                                          <p:val>
                                            <p:strVal val="#ppt_h"/>
                                          </p:val>
                                        </p:tav>
                                      </p:tavLst>
                                    </p:anim>
                                    <p:animEffect transition="in" filter="fade">
                                      <p:cBhvr>
                                        <p:cTn id="9" dur="1000"/>
                                        <p:tgtEl>
                                          <p:spTgt spid="10"/>
                                        </p:tgtEl>
                                      </p:cBhvr>
                                    </p:animEffect>
                                  </p:childTnLst>
                                </p:cTn>
                              </p:par>
                              <p:par>
                                <p:cTn id="10" presetID="55" presetClass="entr" presetSubtype="0" fill="hold" grpId="0" nodeType="with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p:cTn id="12" dur="1000" fill="hold"/>
                                        <p:tgtEl>
                                          <p:spTgt spid="11"/>
                                        </p:tgtEl>
                                        <p:attrNameLst>
                                          <p:attrName>ppt_w</p:attrName>
                                        </p:attrNameLst>
                                      </p:cBhvr>
                                      <p:tavLst>
                                        <p:tav tm="0">
                                          <p:val>
                                            <p:strVal val="#ppt_w*0.70"/>
                                          </p:val>
                                        </p:tav>
                                        <p:tav tm="100000">
                                          <p:val>
                                            <p:strVal val="#ppt_w"/>
                                          </p:val>
                                        </p:tav>
                                      </p:tavLst>
                                    </p:anim>
                                    <p:anim calcmode="lin" valueType="num">
                                      <p:cBhvr>
                                        <p:cTn id="13" dur="1000" fill="hold"/>
                                        <p:tgtEl>
                                          <p:spTgt spid="11"/>
                                        </p:tgtEl>
                                        <p:attrNameLst>
                                          <p:attrName>ppt_h</p:attrName>
                                        </p:attrNameLst>
                                      </p:cBhvr>
                                      <p:tavLst>
                                        <p:tav tm="0">
                                          <p:val>
                                            <p:strVal val="#ppt_h"/>
                                          </p:val>
                                        </p:tav>
                                        <p:tav tm="100000">
                                          <p:val>
                                            <p:strVal val="#ppt_h"/>
                                          </p:val>
                                        </p:tav>
                                      </p:tavLst>
                                    </p:anim>
                                    <p:animEffect transition="in" filter="fade">
                                      <p:cBhvr>
                                        <p:cTn id="14"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9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6327648"/>
            <a:ext cx="10728655" cy="1524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005840"/>
            <a:ext cx="10728655" cy="411480"/>
          </a:xfrm>
          <a:prstGeom prst="rect">
            <a:avLst/>
          </a:prstGeom>
          <a:noFill/>
        </p:spPr>
        <p:txBody>
          <a:bodyPr wrap="none">
            <a:spAutoFit/>
          </a:bodyPr>
          <a:lstStyle/>
          <a:p>
            <a:pPr algn="ctr">
              <a:defRPr sz="1400" b="1">
                <a:solidFill>
                  <a:srgbClr val="38BDF8"/>
                </a:solidFill>
              </a:defRPr>
            </a:pPr>
            <a:r>
              <a:t>PHẦN THUYẾT TRÌNH BÁO CÁO KẾT THÚC</a:t>
            </a:r>
          </a:p>
        </p:txBody>
      </p:sp>
      <p:sp>
        <p:nvSpPr>
          <p:cNvPr id="7" name="TextBox 6"/>
          <p:cNvSpPr txBox="1"/>
          <p:nvPr/>
        </p:nvSpPr>
        <p:spPr>
          <a:xfrm>
            <a:off x="731520" y="1508760"/>
            <a:ext cx="10728655" cy="1318310"/>
          </a:xfrm>
          <a:prstGeom prst="rect">
            <a:avLst/>
          </a:prstGeom>
          <a:noFill/>
        </p:spPr>
        <p:txBody>
          <a:bodyPr wrap="square">
            <a:spAutoFit/>
          </a:bodyPr>
          <a:lstStyle/>
          <a:p>
            <a:pPr algn="ctr">
              <a:defRPr sz="4000" b="1">
                <a:solidFill>
                  <a:srgbClr val="FFFFFF"/>
                </a:solidFill>
              </a:defRPr>
            </a:pPr>
            <a:r>
              <a:t>XIN CHÂN THÀNH CẢM ƠN!</a:t>
            </a:r>
          </a:p>
          <a:p>
            <a:pPr algn="ctr">
              <a:spcBef>
                <a:spcPts val="1400"/>
              </a:spcBef>
              <a:defRPr sz="1500">
                <a:solidFill>
                  <a:srgbClr val="CBD5E1"/>
                </a:solidFill>
              </a:defRPr>
            </a:pPr>
            <a:r>
              <a:rPr sz="1400"/>
              <a:t>Kính gửi lời cảm ơn sâu sắc tới ThS. Nguyễn Đình Dũng cùng Quý Thầy Cô trong Hội đồng phản biện Khoa Công Nghệ Thông Tin – ICTU đã tận tình hướng dẫn và đánh giá đề tài.</a:t>
            </a:r>
          </a:p>
        </p:txBody>
      </p:sp>
      <p:sp>
        <p:nvSpPr>
          <p:cNvPr id="8" name="Rounded Rectangle 7"/>
          <p:cNvSpPr/>
          <p:nvPr/>
        </p:nvSpPr>
        <p:spPr>
          <a:xfrm>
            <a:off x="2377440" y="3383280"/>
            <a:ext cx="7436815" cy="2468880"/>
          </a:xfrm>
          <a:prstGeom prst="roundRect">
            <a:avLst/>
          </a:prstGeom>
          <a:solidFill>
            <a:srgbClr val="1A2639"/>
          </a:solidFill>
          <a:ln w="25400">
            <a:solidFill>
              <a:srgbClr val="38BDF8"/>
            </a:solidFill>
          </a:ln>
        </p:spPr>
        <p:style>
          <a:lnRef idx="1">
            <a:schemeClr val="accent1"/>
          </a:lnRef>
          <a:fillRef idx="3">
            <a:schemeClr val="accent1"/>
          </a:fillRef>
          <a:effectRef idx="2">
            <a:schemeClr val="accent1"/>
          </a:effectRef>
          <a:fontRef idx="minor">
            <a:schemeClr val="lt1"/>
          </a:fontRef>
        </p:style>
        <p:txBody>
          <a:bodyPr wrap="square" lIns="365760" rIns="365760" rtlCol="0" anchor="ctr"/>
          <a:lstStyle/>
          <a:p>
            <a:pPr algn="ctr">
              <a:defRPr sz="2200" b="1">
                <a:solidFill>
                  <a:srgbClr val="38BDF8"/>
                </a:solidFill>
              </a:defRPr>
            </a:pPr>
            <a:r>
              <a:t>PHIÊN HỎI ĐÁP &amp; GÓP Ý (Q&amp;A)</a:t>
            </a:r>
          </a:p>
          <a:p>
            <a:pPr algn="ctr">
              <a:spcBef>
                <a:spcPts val="1400"/>
              </a:spcBef>
              <a:defRPr sz="1400">
                <a:solidFill>
                  <a:srgbClr val="FFFFFF"/>
                </a:solidFill>
              </a:defRPr>
            </a:pPr>
            <a:r>
              <a:t>Nhóm 42 rất mong nhận được những ý kiến đóng góp, nhận xét quý báu từ Quý Thầy Cô để hệ thống quản lý trung tâm ngoại ngữ ngày càng hoàn thiện và ứng dụng hiệu quả hơn trong thực tiễn!</a:t>
            </a:r>
          </a:p>
          <a:p>
            <a:pPr algn="ctr">
              <a:spcBef>
                <a:spcPts val="1400"/>
              </a:spcBef>
              <a:defRPr sz="1200">
                <a:solidFill>
                  <a:srgbClr val="94A3B8"/>
                </a:solidFill>
              </a:defRPr>
            </a:pPr>
            <a:r>
              <a:t>Hệ thống demo: https://etc-native.ictu.edu.vn   |   Mã nguồn: GitHub / ICTU-LMS-AI</a:t>
            </a:r>
          </a:p>
        </p:txBody>
      </p:sp>
    </p:spTree>
  </p:cSld>
  <p:clrMapOvr>
    <a:masterClrMapping/>
  </p:clrMapOvr>
  <p:transition spd="med">
    <p:blinds dir="vert"/>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Chủ đề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549</TotalTime>
  <Words>7194</Words>
  <Application>Microsoft Office PowerPoint</Application>
  <PresentationFormat>Màn hình rộng</PresentationFormat>
  <Paragraphs>533</Paragraphs>
  <Slides>26</Slides>
  <Notes>1</Notes>
  <HiddenSlides>0</HiddenSlides>
  <MMClips>0</MMClips>
  <ScaleCrop>false</ScaleCrop>
  <HeadingPairs>
    <vt:vector size="6" baseType="variant">
      <vt:variant>
        <vt:lpstr>Phông được Dùng</vt:lpstr>
      </vt:variant>
      <vt:variant>
        <vt:i4>4</vt:i4>
      </vt:variant>
      <vt:variant>
        <vt:lpstr>Chủ đề</vt:lpstr>
      </vt:variant>
      <vt:variant>
        <vt:i4>1</vt:i4>
      </vt:variant>
      <vt:variant>
        <vt:lpstr>Tiêu đề Bản chiếu</vt:lpstr>
      </vt:variant>
      <vt:variant>
        <vt:i4>26</vt:i4>
      </vt:variant>
    </vt:vector>
  </HeadingPairs>
  <TitlesOfParts>
    <vt:vector size="31" baseType="lpstr">
      <vt:lpstr>Aptos</vt:lpstr>
      <vt:lpstr>Arial</vt:lpstr>
      <vt:lpstr>Calibri</vt:lpstr>
      <vt:lpstr>Segoe UI</vt:lpstr>
      <vt:lpstr>Office Theme</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Thanh Nguyên Lưu</cp:lastModifiedBy>
  <cp:revision>9</cp:revision>
  <dcterms:created xsi:type="dcterms:W3CDTF">2013-01-27T09:14:16Z</dcterms:created>
  <dcterms:modified xsi:type="dcterms:W3CDTF">2026-10-29T03:09:54Z</dcterms:modified>
  <cp:category/>
</cp:coreProperties>
</file>