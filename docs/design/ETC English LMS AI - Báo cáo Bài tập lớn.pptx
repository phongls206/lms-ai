
<file path=[Content_Types].xml><?xml version="1.0" encoding="utf-8"?>
<ns0:Types xmlns:ns0="http://schemas.openxmlformats.org/package/2006/content-types">
  <ns0:Default Extension="bin" ContentType="application/vnd.openxmlformats-officedocument.presentationml.printerSettings"/>
  <ns0:Default Extension="jpeg" ContentType="image/jpeg"/>
  <ns0:Default Extension="png" ContentType="image/png"/>
  <ns0:Default Extension="rels" ContentType="application/vnd.openxmlformats-package.relationships+xml"/>
  <ns0:Default Extension="xml" ContentType="application/xml"/>
  <ns0:Override PartName="/docProps/app.xml" ContentType="application/vnd.openxmlformats-officedocument.extended-properties+xml"/>
  <ns0:Override PartName="/docProps/core.xml" ContentType="application/vnd.openxmlformats-package.core-properties+xml"/>
  <ns0:Override PartName="/ppt/presProps.xml" ContentType="application/vnd.openxmlformats-officedocument.presentationml.presProps+xml"/>
  <ns0:Override PartName="/ppt/presentation.xml" ContentType="application/vnd.openxmlformats-officedocument.presentationml.presentation.main+xml"/>
  <ns0:Override PartName="/ppt/slideLayouts/slideLayout1.xml" ContentType="application/vnd.openxmlformats-officedocument.presentationml.slideLayout+xml"/>
  <ns0:Override PartName="/ppt/slideLayouts/slideLayout10.xml" ContentType="application/vnd.openxmlformats-officedocument.presentationml.slideLayout+xml"/>
  <ns0:Override PartName="/ppt/slideLayouts/slideLayout11.xml" ContentType="application/vnd.openxmlformats-officedocument.presentationml.slideLayout+xml"/>
  <ns0:Override PartName="/ppt/slideLayouts/slideLayout2.xml" ContentType="application/vnd.openxmlformats-officedocument.presentationml.slideLayout+xml"/>
  <ns0:Override PartName="/ppt/slideLayouts/slideLayout3.xml" ContentType="application/vnd.openxmlformats-officedocument.presentationml.slideLayout+xml"/>
  <ns0:Override PartName="/ppt/slideLayouts/slideLayout4.xml" ContentType="application/vnd.openxmlformats-officedocument.presentationml.slideLayout+xml"/>
  <ns0:Override PartName="/ppt/slideLayouts/slideLayout5.xml" ContentType="application/vnd.openxmlformats-officedocument.presentationml.slideLayout+xml"/>
  <ns0:Override PartName="/ppt/slideLayouts/slideLayout6.xml" ContentType="application/vnd.openxmlformats-officedocument.presentationml.slideLayout+xml"/>
  <ns0:Override PartName="/ppt/slideLayouts/slideLayout7.xml" ContentType="application/vnd.openxmlformats-officedocument.presentationml.slideLayout+xml"/>
  <ns0:Override PartName="/ppt/slideLayouts/slideLayout8.xml" ContentType="application/vnd.openxmlformats-officedocument.presentationml.slideLayout+xml"/>
  <ns0:Override PartName="/ppt/slideLayouts/slideLayout9.xml" ContentType="application/vnd.openxmlformats-officedocument.presentationml.slideLayout+xml"/>
  <ns0:Override PartName="/ppt/slideMasters/slideMaster1.xml" ContentType="application/vnd.openxmlformats-officedocument.presentationml.slideMaster+xml"/>
  <ns0:Override PartName="/ppt/slides/slide1.xml" ContentType="application/vnd.openxmlformats-officedocument.presentationml.slide+xml"/>
  <ns0:Override PartName="/ppt/slides/slide10.xml" ContentType="application/vnd.openxmlformats-officedocument.presentationml.slide+xml"/>
  <ns0:Override PartName="/ppt/slides/slide11.xml" ContentType="application/vnd.openxmlformats-officedocument.presentationml.slide+xml"/>
  <ns0:Override PartName="/ppt/slides/slide12.xml" ContentType="application/vnd.openxmlformats-officedocument.presentationml.slide+xml"/>
  <ns0:Override PartName="/ppt/slides/slide13.xml" ContentType="application/vnd.openxmlformats-officedocument.presentationml.slide+xml"/>
  <ns0:Override PartName="/ppt/slides/slide2.xml" ContentType="application/vnd.openxmlformats-officedocument.presentationml.slide+xml"/>
  <ns0:Override PartName="/ppt/slides/slide3.xml" ContentType="application/vnd.openxmlformats-officedocument.presentationml.slide+xml"/>
  <ns0:Override PartName="/ppt/slides/slide4.xml" ContentType="application/vnd.openxmlformats-officedocument.presentationml.slide+xml"/>
  <ns0:Override PartName="/ppt/slides/slide5.xml" ContentType="application/vnd.openxmlformats-officedocument.presentationml.slide+xml"/>
  <ns0:Override PartName="/ppt/slides/slide6.xml" ContentType="application/vnd.openxmlformats-officedocument.presentationml.slide+xml"/>
  <ns0:Override PartName="/ppt/slides/slide7.xml" ContentType="application/vnd.openxmlformats-officedocument.presentationml.slide+xml"/>
  <ns0:Override PartName="/ppt/slides/slide8.xml" ContentType="application/vnd.openxmlformats-officedocument.presentationml.slide+xml"/>
  <ns0:Override PartName="/ppt/slides/slide9.xml" ContentType="application/vnd.openxmlformats-officedocument.presentationml.slide+xml"/>
  <ns0:Override PartName="/ppt/tableStyles.xml" ContentType="application/vnd.openxmlformats-officedocument.presentationml.tableStyles+xml"/>
  <ns0:Override PartName="/ppt/theme/theme1.xml" ContentType="application/vnd.openxmlformats-officedocument.theme+xml"/>
  <ns0:Override PartName="/ppt/viewProps.xml" ContentType="application/vnd.openxmlformats-officedocument.presentationml.viewProps+xml"/>
  <ns0:Default Extension="fntdata" ContentType="application/x-fontdata"/>
</ns0: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ns0:presentation xmlns:ns0="http://schemas.openxmlformats.org/presentationml/2006/main" xmlns:ns1="http://schemas.openxmlformats.org/officeDocument/2006/relationships" xmlns:ns2="http://schemas.openxmlformats.org/drawingml/2006/main" saveSubsetFonts="1" autoCompressPictures="0" embedTrueTypeFonts="1">
  <ns0:sldMasterIdLst>
    <ns0:sldMasterId id="2147483648" ns1:id="rId1"/>
  </ns0:sldMasterIdLst>
  <ns0:sldIdLst>
    <ns0:sldId id="256" ns1:id="rId7"/>
    <ns0:sldId id="257" ns1:id="rId8"/>
    <ns0:sldId id="258" ns1:id="rId9"/>
    <ns0:sldId id="259" ns1:id="rId10"/>
    <ns0:sldId id="260" ns1:id="rId11"/>
    <ns0:sldId id="261" ns1:id="rId12"/>
    <ns0:sldId id="262" ns1:id="rId13"/>
    <ns0:sldId id="263" ns1:id="rId14"/>
    <ns0:sldId id="264" ns1:id="rId15"/>
    <ns0:sldId id="265" ns1:id="rId16"/>
    <ns0:sldId id="266" ns1:id="rId17"/>
    <ns0:sldId id="267" ns1:id="rId18"/>
    <ns0:sldId id="268" ns1:id="rId19"/>
  </ns0:sldIdLst>
  <ns0:sldSz cx="12192000" cy="6858000" type="screen4x3"/>
  <ns0:notesSz cx="6858000" cy="9144000"/>
  <ns0:embeddedFontLst>
    <ns0:embeddedFont>
      <ns0:font typeface="Plus Jakarta Sans"/>
      <ns0:bold ns1:id="rIdFont20"/>
      <ns0:regular ns1:id="rIdFont21"/>
    </ns0:embeddedFont>
  </ns0:embeddedFontLst>
  <ns0:defaultTextStyle>
    <ns2:defPPr>
      <ns2:defRPr lang="en-US"/>
    </ns2:defPPr>
    <ns2:lvl1pPr marL="0" algn="l" defTabSz="457200" rtl="0" eaLnBrk="1" latinLnBrk="0" hangingPunct="1">
      <ns2:defRPr sz="1800" kern="1200">
        <ns2:solidFill>
          <ns2:schemeClr val="tx1"/>
        </ns2:solidFill>
        <ns2:latin typeface="+mn-lt"/>
        <ns2:ea typeface="+mn-ea"/>
        <ns2:cs typeface="+mn-cs"/>
      </ns2:defRPr>
    </ns2:lvl1pPr>
    <ns2:lvl2pPr marL="457200" algn="l" defTabSz="457200" rtl="0" eaLnBrk="1" latinLnBrk="0" hangingPunct="1">
      <ns2:defRPr sz="1800" kern="1200">
        <ns2:solidFill>
          <ns2:schemeClr val="tx1"/>
        </ns2:solidFill>
        <ns2:latin typeface="+mn-lt"/>
        <ns2:ea typeface="+mn-ea"/>
        <ns2:cs typeface="+mn-cs"/>
      </ns2:defRPr>
    </ns2:lvl2pPr>
    <ns2:lvl3pPr marL="914400" algn="l" defTabSz="457200" rtl="0" eaLnBrk="1" latinLnBrk="0" hangingPunct="1">
      <ns2:defRPr sz="1800" kern="1200">
        <ns2:solidFill>
          <ns2:schemeClr val="tx1"/>
        </ns2:solidFill>
        <ns2:latin typeface="+mn-lt"/>
        <ns2:ea typeface="+mn-ea"/>
        <ns2:cs typeface="+mn-cs"/>
      </ns2:defRPr>
    </ns2:lvl3pPr>
    <ns2:lvl4pPr marL="1371600" algn="l" defTabSz="457200" rtl="0" eaLnBrk="1" latinLnBrk="0" hangingPunct="1">
      <ns2:defRPr sz="1800" kern="1200">
        <ns2:solidFill>
          <ns2:schemeClr val="tx1"/>
        </ns2:solidFill>
        <ns2:latin typeface="+mn-lt"/>
        <ns2:ea typeface="+mn-ea"/>
        <ns2:cs typeface="+mn-cs"/>
      </ns2:defRPr>
    </ns2:lvl4pPr>
    <ns2:lvl5pPr marL="1828800" algn="l" defTabSz="457200" rtl="0" eaLnBrk="1" latinLnBrk="0" hangingPunct="1">
      <ns2:defRPr sz="1800" kern="1200">
        <ns2:solidFill>
          <ns2:schemeClr val="tx1"/>
        </ns2:solidFill>
        <ns2:latin typeface="+mn-lt"/>
        <ns2:ea typeface="+mn-ea"/>
        <ns2:cs typeface="+mn-cs"/>
      </ns2:defRPr>
    </ns2:lvl5pPr>
    <ns2:lvl6pPr marL="2286000" algn="l" defTabSz="457200" rtl="0" eaLnBrk="1" latinLnBrk="0" hangingPunct="1">
      <ns2:defRPr sz="1800" kern="1200">
        <ns2:solidFill>
          <ns2:schemeClr val="tx1"/>
        </ns2:solidFill>
        <ns2:latin typeface="+mn-lt"/>
        <ns2:ea typeface="+mn-ea"/>
        <ns2:cs typeface="+mn-cs"/>
      </ns2:defRPr>
    </ns2:lvl6pPr>
    <ns2:lvl7pPr marL="2743200" algn="l" defTabSz="457200" rtl="0" eaLnBrk="1" latinLnBrk="0" hangingPunct="1">
      <ns2:defRPr sz="1800" kern="1200">
        <ns2:solidFill>
          <ns2:schemeClr val="tx1"/>
        </ns2:solidFill>
        <ns2:latin typeface="+mn-lt"/>
        <ns2:ea typeface="+mn-ea"/>
        <ns2:cs typeface="+mn-cs"/>
      </ns2:defRPr>
    </ns2:lvl7pPr>
    <ns2:lvl8pPr marL="3200400" algn="l" defTabSz="457200" rtl="0" eaLnBrk="1" latinLnBrk="0" hangingPunct="1">
      <ns2:defRPr sz="1800" kern="1200">
        <ns2:solidFill>
          <ns2:schemeClr val="tx1"/>
        </ns2:solidFill>
        <ns2:latin typeface="+mn-lt"/>
        <ns2:ea typeface="+mn-ea"/>
        <ns2:cs typeface="+mn-cs"/>
      </ns2:defRPr>
    </ns2:lvl8pPr>
    <ns2:lvl9pPr marL="3657600" algn="l" defTabSz="457200" rtl="0" eaLnBrk="1" latinLnBrk="0" hangingPunct="1">
      <ns2:defRPr sz="1800" kern="1200">
        <ns2:solidFill>
          <ns2:schemeClr val="tx1"/>
        </ns2:solidFill>
        <ns2:latin typeface="+mn-lt"/>
        <ns2:ea typeface="+mn-ea"/>
        <ns2:cs typeface="+mn-cs"/>
      </ns2:defRPr>
    </ns2:lvl9pPr>
  </ns0:defaultTextStyle>
</ns0: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ns0:Relationships xmlns:ns0="http://schemas.openxmlformats.org/package/2006/relationships"><ns0:Relationship Id="rId1" Type="http://schemas.openxmlformats.org/officeDocument/2006/relationships/slideMaster" Target="slideMasters/slideMaster1.xml" /><ns0:Relationship Id="rId2" Type="http://schemas.openxmlformats.org/officeDocument/2006/relationships/printerSettings" Target="printerSettings/printerSettings1.bin" /><ns0:Relationship Id="rId3" Type="http://schemas.openxmlformats.org/officeDocument/2006/relationships/presProps" Target="presProps.xml" /><ns0:Relationship Id="rId4" Type="http://schemas.openxmlformats.org/officeDocument/2006/relationships/viewProps" Target="viewProps.xml" /><ns0:Relationship Id="rId5" Type="http://schemas.openxmlformats.org/officeDocument/2006/relationships/theme" Target="theme/theme1.xml" /><ns0:Relationship Id="rId6" Type="http://schemas.openxmlformats.org/officeDocument/2006/relationships/tableStyles" Target="tableStyles.xml" /><ns0:Relationship Id="rId7" Type="http://schemas.openxmlformats.org/officeDocument/2006/relationships/slide" Target="slides/slide1.xml" /><ns0:Relationship Id="rId8" Type="http://schemas.openxmlformats.org/officeDocument/2006/relationships/slide" Target="slides/slide2.xml" /><ns0:Relationship Id="rId9" Type="http://schemas.openxmlformats.org/officeDocument/2006/relationships/slide" Target="slides/slide3.xml" /><ns0:Relationship Id="rId10" Type="http://schemas.openxmlformats.org/officeDocument/2006/relationships/slide" Target="slides/slide4.xml" /><ns0:Relationship Id="rId11" Type="http://schemas.openxmlformats.org/officeDocument/2006/relationships/slide" Target="slides/slide5.xml" /><ns0:Relationship Id="rId12" Type="http://schemas.openxmlformats.org/officeDocument/2006/relationships/slide" Target="slides/slide6.xml" /><ns0:Relationship Id="rId13" Type="http://schemas.openxmlformats.org/officeDocument/2006/relationships/slide" Target="slides/slide7.xml" /><ns0:Relationship Id="rId14" Type="http://schemas.openxmlformats.org/officeDocument/2006/relationships/slide" Target="slides/slide8.xml" /><ns0:Relationship Id="rId15" Type="http://schemas.openxmlformats.org/officeDocument/2006/relationships/slide" Target="slides/slide9.xml" /><ns0:Relationship Id="rId16" Type="http://schemas.openxmlformats.org/officeDocument/2006/relationships/slide" Target="slides/slide10.xml" /><ns0:Relationship Id="rId17" Type="http://schemas.openxmlformats.org/officeDocument/2006/relationships/slide" Target="slides/slide11.xml" /><ns0:Relationship Id="rId18" Type="http://schemas.openxmlformats.org/officeDocument/2006/relationships/slide" Target="slides/slide12.xml" /><ns0:Relationship Id="rId19" Type="http://schemas.openxmlformats.org/officeDocument/2006/relationships/slide" Target="slides/slide13.xml" /><ns0:Relationship Id="rIdFont20" Type="http://schemas.openxmlformats.org/officeDocument/2006/relationships/font" Target="fonts/f7e468f1-56a2-4bdd-86ec-2506b58fbc99.fntdata" /><ns0:Relationship Id="rIdFont21" Type="http://schemas.openxmlformats.org/officeDocument/2006/relationships/font" Target="fonts/701f2da1-f4c1-410e-acb8-99ded9ac568b.fntdata" /></ns0: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18.png"/><Relationship Id="rId10" Type="http://schemas.openxmlformats.org/officeDocument/2006/relationships/image" Target="../media/image19.png"/><Relationship Id="rId11" Type="http://schemas.openxmlformats.org/officeDocument/2006/relationships/image" Target="../media/image20.png"/><Relationship Id="rId12" Type="http://schemas.openxmlformats.org/officeDocument/2006/relationships/image" Target="../media/image2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38.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29"/>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762000" y="5505450"/>
            <a:ext cx="10668000" cy="8191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439150" y="542925"/>
            <a:ext cx="2990850" cy="333375"/>
          </a:xfrm>
          <a:prstGeom prst="roundRect">
            <a:avLst>
              <a:gd name="adj" fmla="val 22857"/>
            </a:avLst>
          </a:prstGeom>
          <a:solidFill>
            <a:srgbClr val="132C40"/>
          </a:solidFill>
          <a:ln w="9525">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62000" y="5505450"/>
            <a:ext cx="10668000" cy="952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62000" y="2228850"/>
            <a:ext cx="2933700" cy="247650"/>
          </a:xfrm>
          <a:prstGeom prst="roundRect">
            <a:avLst>
              <a:gd name="adj" fmla="val 23076"/>
            </a:avLst>
          </a:prstGeom>
          <a:solidFill>
            <a:srgbClr val="082F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3"/>
          <a:stretch>
            <a:fillRect/>
          </a:stretch>
        </p:blipFill>
        <p:spPr>
          <a:xfrm>
            <a:off x="762000" y="576262"/>
            <a:ext cx="333375" cy="266700"/>
          </a:xfrm>
          <a:prstGeom prst="rect">
            <a:avLst/>
          </a:prstGeom>
        </p:spPr>
      </p:pic>
      <p:sp>
        <p:nvSpPr>
          <p:cNvPr id="8" name="TextBox 7"/>
          <p:cNvSpPr txBox="1"/>
          <p:nvPr/>
        </p:nvSpPr>
        <p:spPr>
          <a:xfrm>
            <a:off x="8591550" y="600075"/>
            <a:ext cx="2781300" cy="219075"/>
          </a:xfrm>
          <a:prstGeom prst="rect">
            <a:avLst/>
          </a:prstGeom>
          <a:noFill/>
        </p:spPr>
        <p:txBody>
          <a:bodyPr wrap="square" lIns="0" rIns="0" tIns="0" bIns="0" anchor="t">
            <a:spAutoFit/>
          </a:bodyPr>
          <a:lstStyle/>
          <a:p>
            <a:pPr algn="l"/>
            <a:r>
              <a:rPr b="1" sz="1050" i="0" u="none">
                <a:solidFill>
                  <a:srgbClr val="38BDF8"/>
                </a:solidFill>
                <a:latin typeface="Plus Jakarta Sans"/>
              </a:rPr>
              <a:t> HỌC PHẦN: ỨNG DỤNG TRÍ TUỆ NHÂN TẠO </a:t>
            </a:r>
          </a:p>
        </p:txBody>
      </p:sp>
      <p:sp>
        <p:nvSpPr>
          <p:cNvPr id="9" name="TextBox 8"/>
          <p:cNvSpPr txBox="1"/>
          <p:nvPr/>
        </p:nvSpPr>
        <p:spPr>
          <a:xfrm>
            <a:off x="762000" y="2590800"/>
            <a:ext cx="9901237" cy="1047750"/>
          </a:xfrm>
          <a:prstGeom prst="rect">
            <a:avLst/>
          </a:prstGeom>
          <a:noFill/>
        </p:spPr>
        <p:txBody>
          <a:bodyPr wrap="square" lIns="0" rIns="0" tIns="0" bIns="0" anchor="t">
            <a:spAutoFit/>
          </a:bodyPr>
          <a:lstStyle/>
          <a:p>
            <a:pPr algn="l">
              <a:lnSpc>
                <a:spcPts val="4125"/>
              </a:lnSpc>
            </a:pPr>
            <a:r>
              <a:rPr b="1" sz="3300" i="0" u="none">
                <a:solidFill>
                  <a:srgbClr val="FFFFFF"/>
                </a:solidFill>
                <a:latin typeface="Plus Jakarta Sans"/>
              </a:rPr>
              <a:t>Hệ Thống Quản Lý Trung Tâm Ngoại Ngữ Tích Hợp Trí Tuệ Nhân Tạo</a:t>
            </a:r>
          </a:p>
        </p:txBody>
      </p:sp>
      <p:sp>
        <p:nvSpPr>
          <p:cNvPr id="10" name="TextBox 9"/>
          <p:cNvSpPr txBox="1"/>
          <p:nvPr/>
        </p:nvSpPr>
        <p:spPr>
          <a:xfrm>
            <a:off x="762000" y="3790950"/>
            <a:ext cx="9429750" cy="552450"/>
          </a:xfrm>
          <a:prstGeom prst="rect">
            <a:avLst/>
          </a:prstGeom>
          <a:noFill/>
        </p:spPr>
        <p:txBody>
          <a:bodyPr wrap="square" lIns="0" rIns="0" tIns="0" bIns="0" anchor="t">
            <a:spAutoFit/>
          </a:bodyPr>
          <a:lstStyle/>
          <a:p>
            <a:pPr algn="l">
              <a:lnSpc>
                <a:spcPts val="2175"/>
              </a:lnSpc>
            </a:pPr>
            <a:r>
              <a:rPr b="0" sz="1500" i="0" u="none">
                <a:solidFill>
                  <a:srgbClr val="94A3B8"/>
                </a:solidFill>
                <a:latin typeface="Plus Jakarta Sans"/>
              </a:rPr>
              <a:t>Giải pháp chuyển đổi số toàn diện kết hợp Google Gemini AI hỗ trợ tự động hóa nghiệp vụ đào tạo, kiểm soát xung đột tài nguyên và cá nhân hóa trải nghiệm học tập</a:t>
            </a:r>
          </a:p>
        </p:txBody>
      </p:sp>
      <p:sp>
        <p:nvSpPr>
          <p:cNvPr id="11" name="TextBox 10"/>
          <p:cNvSpPr txBox="1"/>
          <p:nvPr/>
        </p:nvSpPr>
        <p:spPr>
          <a:xfrm>
            <a:off x="876300" y="2266950"/>
            <a:ext cx="2800350" cy="171450"/>
          </a:xfrm>
          <a:prstGeom prst="rect">
            <a:avLst/>
          </a:prstGeom>
          <a:noFill/>
        </p:spPr>
        <p:txBody>
          <a:bodyPr wrap="square" lIns="0" rIns="0" tIns="0" bIns="0" anchor="t">
            <a:spAutoFit/>
          </a:bodyPr>
          <a:lstStyle/>
          <a:p>
            <a:pPr algn="l"/>
            <a:r>
              <a:rPr b="1" sz="1050" i="0" u="none">
                <a:solidFill>
                  <a:srgbClr val="38BDF8"/>
                </a:solidFill>
                <a:latin typeface="Plus Jakarta Sans"/>
              </a:rPr>
              <a:t>BÁO CÁO NGHIỆM THU ĐỀ TÀI • NHÓM 42</a:t>
            </a:r>
          </a:p>
        </p:txBody>
      </p:sp>
      <p:sp>
        <p:nvSpPr>
          <p:cNvPr id="12" name="TextBox 11"/>
          <p:cNvSpPr txBox="1"/>
          <p:nvPr/>
        </p:nvSpPr>
        <p:spPr>
          <a:xfrm>
            <a:off x="3790950" y="2266950"/>
            <a:ext cx="2905125" cy="171450"/>
          </a:xfrm>
          <a:prstGeom prst="rect">
            <a:avLst/>
          </a:prstGeom>
          <a:noFill/>
        </p:spPr>
        <p:txBody>
          <a:bodyPr wrap="none" lIns="0" rIns="0" tIns="0" bIns="0" anchor="t">
            <a:spAutoFit/>
          </a:bodyPr>
          <a:lstStyle/>
          <a:p>
            <a:pPr algn="l"/>
            <a:r>
              <a:rPr b="0" sz="1050" i="0" u="none">
                <a:solidFill>
                  <a:srgbClr val="64748B"/>
                </a:solidFill>
                <a:latin typeface="Plus Jakarta Sans"/>
              </a:rPr>
              <a:t>Thời gian: 27/07 - 27/09/2026 (9 Tuần)</a:t>
            </a:r>
          </a:p>
        </p:txBody>
      </p:sp>
      <p:sp>
        <p:nvSpPr>
          <p:cNvPr id="13" name="TextBox 12"/>
          <p:cNvSpPr txBox="1"/>
          <p:nvPr/>
        </p:nvSpPr>
        <p:spPr>
          <a:xfrm>
            <a:off x="9391650" y="6143625"/>
            <a:ext cx="2547937" cy="180975"/>
          </a:xfrm>
          <a:prstGeom prst="rect">
            <a:avLst/>
          </a:prstGeom>
          <a:noFill/>
        </p:spPr>
        <p:txBody>
          <a:bodyPr wrap="none" lIns="0" rIns="0" tIns="0" bIns="0" anchor="t">
            <a:spAutoFit/>
          </a:bodyPr>
          <a:lstStyle/>
          <a:p>
            <a:pPr algn="l"/>
            <a:r>
              <a:rPr b="0" sz="1125" i="0" u="none">
                <a:solidFill>
                  <a:srgbClr val="64748B"/>
                </a:solidFill>
                <a:latin typeface="Plus Jakarta Sans"/>
              </a:rPr>
              <a:t>Thái Nguyên • Tháng 09/2026</a:t>
            </a:r>
          </a:p>
        </p:txBody>
      </p:sp>
      <p:sp>
        <p:nvSpPr>
          <p:cNvPr id="14" name="TextBox 13"/>
          <p:cNvSpPr txBox="1"/>
          <p:nvPr/>
        </p:nvSpPr>
        <p:spPr>
          <a:xfrm>
            <a:off x="1228725" y="533400"/>
            <a:ext cx="6715125" cy="180975"/>
          </a:xfrm>
          <a:prstGeom prst="rect">
            <a:avLst/>
          </a:prstGeom>
          <a:noFill/>
        </p:spPr>
        <p:txBody>
          <a:bodyPr wrap="none" lIns="0" rIns="0" tIns="0" bIns="0" anchor="t">
            <a:spAutoFit/>
          </a:bodyPr>
          <a:lstStyle/>
          <a:p>
            <a:pPr algn="l"/>
            <a:r>
              <a:rPr b="1" sz="1125" i="0" u="none">
                <a:solidFill>
                  <a:srgbClr val="F8FAFC"/>
                </a:solidFill>
                <a:latin typeface="Plus Jakarta Sans"/>
              </a:rPr>
              <a:t>TRƯỜNG ĐẠI HỌC CÔNG NGHỆ THÔNG TIN VÀ TRUYỀN THÔNG (ICTU)</a:t>
            </a:r>
          </a:p>
        </p:txBody>
      </p:sp>
      <p:sp>
        <p:nvSpPr>
          <p:cNvPr id="15" name="TextBox 14"/>
          <p:cNvSpPr txBox="1"/>
          <p:nvPr/>
        </p:nvSpPr>
        <p:spPr>
          <a:xfrm>
            <a:off x="1228725" y="733425"/>
            <a:ext cx="6715125" cy="152400"/>
          </a:xfrm>
          <a:prstGeom prst="rect">
            <a:avLst/>
          </a:prstGeom>
          <a:noFill/>
        </p:spPr>
        <p:txBody>
          <a:bodyPr wrap="none" lIns="0" rIns="0" tIns="0" bIns="0" anchor="t">
            <a:spAutoFit/>
          </a:bodyPr>
          <a:lstStyle/>
          <a:p>
            <a:pPr algn="l"/>
            <a:r>
              <a:rPr b="0" sz="975" i="0" u="none">
                <a:solidFill>
                  <a:srgbClr val="94A3B8"/>
                </a:solidFill>
                <a:latin typeface="Plus Jakarta Sans"/>
              </a:rPr>
              <a:t>Khoa Công Nghệ Thông Tin • Bộ Môn Ứng Dụng Trí Tuệ Nhân Tạo</a:t>
            </a:r>
          </a:p>
        </p:txBody>
      </p:sp>
      <p:sp>
        <p:nvSpPr>
          <p:cNvPr id="16" name="TextBox 15"/>
          <p:cNvSpPr txBox="1"/>
          <p:nvPr/>
        </p:nvSpPr>
        <p:spPr>
          <a:xfrm>
            <a:off x="762000" y="5724525"/>
            <a:ext cx="3786187" cy="152400"/>
          </a:xfrm>
          <a:prstGeom prst="rect">
            <a:avLst/>
          </a:prstGeom>
          <a:noFill/>
        </p:spPr>
        <p:txBody>
          <a:bodyPr wrap="none" lIns="0" rIns="0" tIns="0" bIns="0" anchor="t">
            <a:spAutoFit/>
          </a:bodyPr>
          <a:lstStyle/>
          <a:p>
            <a:pPr algn="l"/>
            <a:r>
              <a:rPr b="1" sz="975" i="0" u="none">
                <a:solidFill>
                  <a:srgbClr val="64748B"/>
                </a:solidFill>
                <a:latin typeface="Plus Jakarta Sans"/>
              </a:rPr>
              <a:t>SINH VIÊN THỰC HIỆN (KTPM K23C)</a:t>
            </a:r>
          </a:p>
        </p:txBody>
      </p:sp>
      <p:sp>
        <p:nvSpPr>
          <p:cNvPr id="17" name="TextBox 16"/>
          <p:cNvSpPr txBox="1"/>
          <p:nvPr/>
        </p:nvSpPr>
        <p:spPr>
          <a:xfrm>
            <a:off x="762000" y="5915025"/>
            <a:ext cx="3786187" cy="219075"/>
          </a:xfrm>
          <a:prstGeom prst="rect">
            <a:avLst/>
          </a:prstGeom>
          <a:noFill/>
        </p:spPr>
        <p:txBody>
          <a:bodyPr wrap="none" lIns="0" rIns="0" tIns="0" bIns="0" anchor="t">
            <a:spAutoFit/>
          </a:bodyPr>
          <a:lstStyle/>
          <a:p>
            <a:pPr algn="l"/>
            <a:r>
              <a:rPr b="1" sz="1350" i="0" u="none">
                <a:solidFill>
                  <a:srgbClr val="F1F5F9"/>
                </a:solidFill>
                <a:latin typeface="Plus Jakarta Sans"/>
              </a:rPr>
              <a:t>Lê Hồng Phong • Lưu Thanh Nguyên</a:t>
            </a:r>
          </a:p>
        </p:txBody>
      </p:sp>
      <p:sp>
        <p:nvSpPr>
          <p:cNvPr id="18" name="TextBox 17"/>
          <p:cNvSpPr txBox="1"/>
          <p:nvPr/>
        </p:nvSpPr>
        <p:spPr>
          <a:xfrm>
            <a:off x="762000" y="6153150"/>
            <a:ext cx="3786187" cy="171450"/>
          </a:xfrm>
          <a:prstGeom prst="rect">
            <a:avLst/>
          </a:prstGeom>
          <a:noFill/>
        </p:spPr>
        <p:txBody>
          <a:bodyPr wrap="none" lIns="0" rIns="0" tIns="0" bIns="0" anchor="t">
            <a:spAutoFit/>
          </a:bodyPr>
          <a:lstStyle/>
          <a:p>
            <a:pPr algn="l"/>
            <a:r>
              <a:rPr b="0" sz="1050" i="0" u="none">
                <a:solidFill>
                  <a:srgbClr val="38BDF8"/>
                </a:solidFill>
                <a:latin typeface="Plus Jakarta Sans"/>
              </a:rPr>
              <a:t>Vai trò: Phân tích, Lập trình Full-Stack &amp; Tích hợp AI</a:t>
            </a:r>
          </a:p>
        </p:txBody>
      </p:sp>
      <p:sp>
        <p:nvSpPr>
          <p:cNvPr id="19" name="TextBox 18"/>
          <p:cNvSpPr txBox="1"/>
          <p:nvPr/>
        </p:nvSpPr>
        <p:spPr>
          <a:xfrm>
            <a:off x="4248150" y="5724525"/>
            <a:ext cx="2571750" cy="152400"/>
          </a:xfrm>
          <a:prstGeom prst="rect">
            <a:avLst/>
          </a:prstGeom>
          <a:noFill/>
        </p:spPr>
        <p:txBody>
          <a:bodyPr wrap="none" lIns="0" rIns="0" tIns="0" bIns="0" anchor="t">
            <a:spAutoFit/>
          </a:bodyPr>
          <a:lstStyle/>
          <a:p>
            <a:pPr algn="l"/>
            <a:r>
              <a:rPr b="1" sz="975" i="0" u="none">
                <a:solidFill>
                  <a:srgbClr val="64748B"/>
                </a:solidFill>
                <a:latin typeface="Plus Jakarta Sans"/>
              </a:rPr>
              <a:t>GIẢNG VIÊN HƯỚNG DẪN</a:t>
            </a:r>
          </a:p>
        </p:txBody>
      </p:sp>
      <p:sp>
        <p:nvSpPr>
          <p:cNvPr id="20" name="TextBox 19"/>
          <p:cNvSpPr txBox="1"/>
          <p:nvPr/>
        </p:nvSpPr>
        <p:spPr>
          <a:xfrm>
            <a:off x="4248150" y="5915025"/>
            <a:ext cx="2571750" cy="219075"/>
          </a:xfrm>
          <a:prstGeom prst="rect">
            <a:avLst/>
          </a:prstGeom>
          <a:noFill/>
        </p:spPr>
        <p:txBody>
          <a:bodyPr wrap="none" lIns="0" rIns="0" tIns="0" bIns="0" anchor="t">
            <a:spAutoFit/>
          </a:bodyPr>
          <a:lstStyle/>
          <a:p>
            <a:pPr algn="l"/>
            <a:r>
              <a:rPr b="1" sz="1350" i="0" u="none">
                <a:solidFill>
                  <a:srgbClr val="38BDF8"/>
                </a:solidFill>
                <a:latin typeface="Plus Jakarta Sans"/>
              </a:rPr>
              <a:t>ThS. Nguyễn Đình Dũng</a:t>
            </a:r>
          </a:p>
        </p:txBody>
      </p:sp>
      <p:sp>
        <p:nvSpPr>
          <p:cNvPr id="21" name="TextBox 20"/>
          <p:cNvSpPr txBox="1"/>
          <p:nvPr/>
        </p:nvSpPr>
        <p:spPr>
          <a:xfrm>
            <a:off x="4248150" y="6153150"/>
            <a:ext cx="2571750" cy="171450"/>
          </a:xfrm>
          <a:prstGeom prst="rect">
            <a:avLst/>
          </a:prstGeom>
          <a:noFill/>
        </p:spPr>
        <p:txBody>
          <a:bodyPr wrap="none" lIns="0" rIns="0" tIns="0" bIns="0" anchor="t">
            <a:spAutoFit/>
          </a:bodyPr>
          <a:lstStyle/>
          <a:p>
            <a:pPr algn="l"/>
            <a:r>
              <a:rPr b="0" sz="1050" i="0" u="none">
                <a:solidFill>
                  <a:srgbClr val="94A3B8"/>
                </a:solidFill>
                <a:latin typeface="Plus Jakarta Sans"/>
              </a:rPr>
              <a:t>Bộ môn Ứng dụng Trí tuệ Nhân tạo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609600" y="2052637"/>
            <a:ext cx="4062412" cy="3552825"/>
          </a:xfrm>
          <a:prstGeom prst="roundRect">
            <a:avLst>
              <a:gd name="adj" fmla="val 375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47725" y="3100387"/>
            <a:ext cx="3586162"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47725" y="4833937"/>
            <a:ext cx="3586162" cy="533400"/>
          </a:xfrm>
          <a:prstGeom prst="roundRect">
            <a:avLst>
              <a:gd name="adj" fmla="val 14285"/>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976812" y="1809750"/>
            <a:ext cx="6605587" cy="923925"/>
          </a:xfrm>
          <a:prstGeom prst="roundRect">
            <a:avLst>
              <a:gd name="adj" fmla="val 12371"/>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976812" y="2847975"/>
            <a:ext cx="6605587" cy="923925"/>
          </a:xfrm>
          <a:prstGeom prst="roundRect">
            <a:avLst>
              <a:gd name="adj" fmla="val 12371"/>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976812" y="3886200"/>
            <a:ext cx="6605587" cy="923925"/>
          </a:xfrm>
          <a:prstGeom prst="roundRect">
            <a:avLst>
              <a:gd name="adj" fmla="val 12371"/>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976812" y="4924425"/>
            <a:ext cx="6605587" cy="923925"/>
          </a:xfrm>
          <a:prstGeom prst="roundRect">
            <a:avLst>
              <a:gd name="adj" fmla="val 12371"/>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2"/>
          <a:stretch>
            <a:fillRect/>
          </a:stretch>
        </p:blipFill>
        <p:spPr>
          <a:xfrm>
            <a:off x="5176837" y="1971675"/>
            <a:ext cx="342900" cy="342900"/>
          </a:xfrm>
          <a:prstGeom prst="rect">
            <a:avLst/>
          </a:prstGeom>
        </p:spPr>
      </p:pic>
      <p:pic>
        <p:nvPicPr>
          <p:cNvPr id="10" name="Picture 9" descr="image.png"/>
          <p:cNvPicPr>
            <a:picLocks noChangeAspect="1"/>
          </p:cNvPicPr>
          <p:nvPr/>
        </p:nvPicPr>
        <p:blipFill>
          <a:blip r:embed="rId3"/>
          <a:stretch>
            <a:fillRect/>
          </a:stretch>
        </p:blipFill>
        <p:spPr>
          <a:xfrm>
            <a:off x="5176837" y="3009900"/>
            <a:ext cx="342900" cy="342900"/>
          </a:xfrm>
          <a:prstGeom prst="rect">
            <a:avLst/>
          </a:prstGeom>
        </p:spPr>
      </p:pic>
      <p:pic>
        <p:nvPicPr>
          <p:cNvPr id="11" name="Picture 10" descr="image.png"/>
          <p:cNvPicPr>
            <a:picLocks noChangeAspect="1"/>
          </p:cNvPicPr>
          <p:nvPr/>
        </p:nvPicPr>
        <p:blipFill>
          <a:blip r:embed="rId4"/>
          <a:stretch>
            <a:fillRect/>
          </a:stretch>
        </p:blipFill>
        <p:spPr>
          <a:xfrm>
            <a:off x="5176837" y="4048125"/>
            <a:ext cx="342900" cy="342900"/>
          </a:xfrm>
          <a:prstGeom prst="rect">
            <a:avLst/>
          </a:prstGeom>
        </p:spPr>
      </p:pic>
      <p:pic>
        <p:nvPicPr>
          <p:cNvPr id="12" name="Picture 11" descr="image.png"/>
          <p:cNvPicPr>
            <a:picLocks noChangeAspect="1"/>
          </p:cNvPicPr>
          <p:nvPr/>
        </p:nvPicPr>
        <p:blipFill>
          <a:blip r:embed="rId5"/>
          <a:stretch>
            <a:fillRect/>
          </a:stretch>
        </p:blipFill>
        <p:spPr>
          <a:xfrm>
            <a:off x="5176837" y="5086350"/>
            <a:ext cx="342900" cy="342900"/>
          </a:xfrm>
          <a:prstGeom prst="rect">
            <a:avLst/>
          </a:prstGeom>
        </p:spPr>
      </p:pic>
      <p:pic>
        <p:nvPicPr>
          <p:cNvPr id="13" name="Picture 12" descr="image.png"/>
          <p:cNvPicPr>
            <a:picLocks noChangeAspect="1"/>
          </p:cNvPicPr>
          <p:nvPr/>
        </p:nvPicPr>
        <p:blipFill>
          <a:blip r:embed="rId6"/>
          <a:stretch>
            <a:fillRect/>
          </a:stretch>
        </p:blipFill>
        <p:spPr>
          <a:xfrm>
            <a:off x="5281612" y="2057400"/>
            <a:ext cx="133350" cy="171450"/>
          </a:xfrm>
          <a:prstGeom prst="rect">
            <a:avLst/>
          </a:prstGeom>
        </p:spPr>
      </p:pic>
      <p:pic>
        <p:nvPicPr>
          <p:cNvPr id="14" name="Picture 13" descr="image.png"/>
          <p:cNvPicPr>
            <a:picLocks noChangeAspect="1"/>
          </p:cNvPicPr>
          <p:nvPr/>
        </p:nvPicPr>
        <p:blipFill>
          <a:blip r:embed="rId7"/>
          <a:stretch>
            <a:fillRect/>
          </a:stretch>
        </p:blipFill>
        <p:spPr>
          <a:xfrm>
            <a:off x="5272087" y="3095625"/>
            <a:ext cx="152400" cy="171450"/>
          </a:xfrm>
          <a:prstGeom prst="rect">
            <a:avLst/>
          </a:prstGeom>
        </p:spPr>
      </p:pic>
      <p:pic>
        <p:nvPicPr>
          <p:cNvPr id="15" name="Picture 14" descr="image.png"/>
          <p:cNvPicPr>
            <a:picLocks noChangeAspect="1"/>
          </p:cNvPicPr>
          <p:nvPr/>
        </p:nvPicPr>
        <p:blipFill>
          <a:blip r:embed="rId8"/>
          <a:stretch>
            <a:fillRect/>
          </a:stretch>
        </p:blipFill>
        <p:spPr>
          <a:xfrm>
            <a:off x="5281612" y="4133850"/>
            <a:ext cx="133350" cy="171450"/>
          </a:xfrm>
          <a:prstGeom prst="rect">
            <a:avLst/>
          </a:prstGeom>
        </p:spPr>
      </p:pic>
      <p:pic>
        <p:nvPicPr>
          <p:cNvPr id="16" name="Picture 15" descr="image.png"/>
          <p:cNvPicPr>
            <a:picLocks noChangeAspect="1"/>
          </p:cNvPicPr>
          <p:nvPr/>
        </p:nvPicPr>
        <p:blipFill>
          <a:blip r:embed="rId9"/>
          <a:stretch>
            <a:fillRect/>
          </a:stretch>
        </p:blipFill>
        <p:spPr>
          <a:xfrm>
            <a:off x="5262562" y="5172075"/>
            <a:ext cx="171450" cy="171450"/>
          </a:xfrm>
          <a:prstGeom prst="rect">
            <a:avLst/>
          </a:prstGeom>
        </p:spPr>
      </p:pic>
      <p:sp>
        <p:nvSpPr>
          <p:cNvPr id="17" name="TextBox 16"/>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0284C7"/>
                </a:solidFill>
                <a:latin typeface="Plus Jakarta Sans"/>
              </a:rPr>
              <a:t>CHƯƠNG 1: KHẢO SÁT HIỆN TRẠNG THỰC TẾ</a:t>
            </a:r>
          </a:p>
        </p:txBody>
      </p:sp>
      <p:sp>
        <p:nvSpPr>
          <p:cNvPr id="18" name="TextBox 17"/>
          <p:cNvSpPr txBox="1"/>
          <p:nvPr/>
        </p:nvSpPr>
        <p:spPr>
          <a:xfrm>
            <a:off x="609600" y="685800"/>
            <a:ext cx="11582400" cy="361950"/>
          </a:xfrm>
          <a:prstGeom prst="rect">
            <a:avLst/>
          </a:prstGeom>
          <a:noFill/>
        </p:spPr>
        <p:txBody>
          <a:bodyPr wrap="none" lIns="0" rIns="0" tIns="0" bIns="0" anchor="t">
            <a:spAutoFit/>
          </a:bodyPr>
          <a:lstStyle/>
          <a:p>
            <a:pPr algn="l"/>
            <a:r>
              <a:rPr b="1" sz="2250" i="0" u="none">
                <a:solidFill>
                  <a:srgbClr val="0F172A"/>
                </a:solidFill>
                <a:latin typeface="Plus Jakarta Sans"/>
              </a:rPr>
              <a:t>Đơn Vị Khảo Sát ETC Native &amp; Điểm Nghẽn Quản Lý</a:t>
            </a:r>
          </a:p>
        </p:txBody>
      </p:sp>
      <p:sp>
        <p:nvSpPr>
          <p:cNvPr id="19" name="TextBox 18"/>
          <p:cNvSpPr txBox="1"/>
          <p:nvPr/>
        </p:nvSpPr>
        <p:spPr>
          <a:xfrm>
            <a:off x="847725" y="2290762"/>
            <a:ext cx="3681412" cy="704850"/>
          </a:xfrm>
          <a:prstGeom prst="rect">
            <a:avLst/>
          </a:prstGeom>
          <a:noFill/>
        </p:spPr>
        <p:txBody>
          <a:bodyPr wrap="square" lIns="0" rIns="0" tIns="0" bIns="0" anchor="t">
            <a:spAutoFit/>
          </a:bodyPr>
          <a:lstStyle/>
          <a:p>
            <a:pPr algn="l"/>
            <a:r>
              <a:rPr b="1" sz="975" i="0" u="none">
                <a:solidFill>
                  <a:srgbClr val="0284C7"/>
                </a:solidFill>
                <a:latin typeface="Plus Jakarta Sans"/>
              </a:rPr>
              <a:t>Cơ sở khảo sát</a:t>
            </a:r>
          </a:p>
        </p:txBody>
      </p:sp>
      <p:sp>
        <p:nvSpPr>
          <p:cNvPr id="20" name="TextBox 19"/>
          <p:cNvSpPr txBox="1"/>
          <p:nvPr/>
        </p:nvSpPr>
        <p:spPr>
          <a:xfrm>
            <a:off x="847725" y="2528887"/>
            <a:ext cx="4706838" cy="238125"/>
          </a:xfrm>
          <a:prstGeom prst="rect">
            <a:avLst/>
          </a:prstGeom>
          <a:noFill/>
        </p:spPr>
        <p:txBody>
          <a:bodyPr wrap="none" lIns="0" rIns="0" tIns="0" bIns="0" anchor="t">
            <a:spAutoFit/>
          </a:bodyPr>
          <a:lstStyle/>
          <a:p>
            <a:pPr algn="l"/>
            <a:r>
              <a:rPr b="1" sz="1500" i="0" u="none">
                <a:solidFill>
                  <a:srgbClr val="0F172A"/>
                </a:solidFill>
                <a:latin typeface="Plus Jakarta Sans"/>
              </a:rPr>
              <a:t>Trung Tâm ETC Native</a:t>
            </a:r>
          </a:p>
        </p:txBody>
      </p:sp>
      <p:sp>
        <p:nvSpPr>
          <p:cNvPr id="21" name="TextBox 20"/>
          <p:cNvSpPr txBox="1"/>
          <p:nvPr/>
        </p:nvSpPr>
        <p:spPr>
          <a:xfrm>
            <a:off x="847725" y="2805112"/>
            <a:ext cx="4482703" cy="180975"/>
          </a:xfrm>
          <a:prstGeom prst="rect">
            <a:avLst/>
          </a:prstGeom>
          <a:noFill/>
        </p:spPr>
        <p:txBody>
          <a:bodyPr wrap="none" lIns="0" rIns="0" tIns="0" bIns="0" anchor="t">
            <a:spAutoFit/>
          </a:bodyPr>
          <a:lstStyle/>
          <a:p>
            <a:pPr algn="l"/>
            <a:r>
              <a:rPr b="0" sz="1125" i="0" u="none">
                <a:solidFill>
                  <a:srgbClr val="64748B"/>
                </a:solidFill>
                <a:latin typeface="Plus Jakarta Sans"/>
              </a:rPr>
              <a:t>308B Bắc Sơn, P. Phan Đình Phùng, TP. Thái Nguyên</a:t>
            </a:r>
          </a:p>
        </p:txBody>
      </p:sp>
      <p:sp>
        <p:nvSpPr>
          <p:cNvPr id="22" name="TextBox 21"/>
          <p:cNvSpPr txBox="1"/>
          <p:nvPr/>
        </p:nvSpPr>
        <p:spPr>
          <a:xfrm>
            <a:off x="847725" y="3243262"/>
            <a:ext cx="4482703" cy="180975"/>
          </a:xfrm>
          <a:prstGeom prst="rect">
            <a:avLst/>
          </a:prstGeom>
          <a:noFill/>
        </p:spPr>
        <p:txBody>
          <a:bodyPr wrap="none" lIns="0" rIns="0" tIns="0" bIns="0" anchor="t">
            <a:spAutoFit/>
          </a:bodyPr>
          <a:lstStyle/>
          <a:p>
            <a:pPr algn="l"/>
            <a:r>
              <a:rPr b="1" sz="1125" i="0" u="none">
                <a:solidFill>
                  <a:srgbClr val="334155"/>
                </a:solidFill>
                <a:latin typeface="Plus Jakarta Sans"/>
              </a:rPr>
              <a:t>3 Khối Nhân Sự Vận Hành Nội Bộ:</a:t>
            </a:r>
          </a:p>
        </p:txBody>
      </p:sp>
      <p:sp>
        <p:nvSpPr>
          <p:cNvPr id="23" name="TextBox 22"/>
          <p:cNvSpPr txBox="1"/>
          <p:nvPr/>
        </p:nvSpPr>
        <p:spPr>
          <a:xfrm>
            <a:off x="847725" y="3500437"/>
            <a:ext cx="3681412" cy="361950"/>
          </a:xfrm>
          <a:prstGeom prst="rect">
            <a:avLst/>
          </a:prstGeom>
          <a:noFill/>
        </p:spPr>
        <p:txBody>
          <a:bodyPr wrap="square" lIns="0" rIns="0" tIns="0" bIns="0" anchor="t">
            <a:spAutoFit/>
          </a:bodyPr>
          <a:lstStyle/>
          <a:p>
            <a:pPr algn="l"/>
            <a:r>
              <a:rPr b="0" sz="1125" i="0" u="none">
                <a:solidFill>
                  <a:srgbClr val="475569"/>
                </a:solidFill>
                <a:latin typeface="Plus Jakarta Sans"/>
              </a:rPr>
              <a:t>• </a:t>
            </a:r>
            <a:r>
              <a:rPr b="1" sz="1125" i="0" u="none">
                <a:solidFill>
                  <a:srgbClr val="475569"/>
                </a:solidFill>
                <a:latin typeface="Plus Jakarta Sans"/>
              </a:rPr>
              <a:t>Ban Quản lý (Admin):</a:t>
            </a:r>
            <a:r>
              <a:rPr b="0" sz="1125" i="0" u="none">
                <a:solidFill>
                  <a:srgbClr val="475569"/>
                </a:solidFill>
                <a:latin typeface="Plus Jakarta Sans"/>
              </a:rPr>
              <a:t> Mở lớp, xếp lịch, phân công, báo cáo.</a:t>
            </a:r>
          </a:p>
        </p:txBody>
      </p:sp>
      <p:sp>
        <p:nvSpPr>
          <p:cNvPr id="24" name="TextBox 23"/>
          <p:cNvSpPr txBox="1"/>
          <p:nvPr/>
        </p:nvSpPr>
        <p:spPr>
          <a:xfrm>
            <a:off x="847725" y="3919537"/>
            <a:ext cx="3681412" cy="361950"/>
          </a:xfrm>
          <a:prstGeom prst="rect">
            <a:avLst/>
          </a:prstGeom>
          <a:noFill/>
        </p:spPr>
        <p:txBody>
          <a:bodyPr wrap="square" lIns="0" rIns="0" tIns="0" bIns="0" anchor="t">
            <a:spAutoFit/>
          </a:bodyPr>
          <a:lstStyle/>
          <a:p>
            <a:pPr algn="l"/>
            <a:r>
              <a:rPr b="0" sz="1125" i="0" u="none">
                <a:solidFill>
                  <a:srgbClr val="475569"/>
                </a:solidFill>
                <a:latin typeface="Plus Jakarta Sans"/>
              </a:rPr>
              <a:t>• </a:t>
            </a:r>
            <a:r>
              <a:rPr b="1" sz="1125" i="0" u="none">
                <a:solidFill>
                  <a:srgbClr val="475569"/>
                </a:solidFill>
                <a:latin typeface="Plus Jakarta Sans"/>
              </a:rPr>
              <a:t>Tư vấn viên (Staff):</a:t>
            </a:r>
            <a:r>
              <a:rPr b="0" sz="1125" i="0" u="none">
                <a:solidFill>
                  <a:srgbClr val="475569"/>
                </a:solidFill>
                <a:latin typeface="Plus Jakarta Sans"/>
              </a:rPr>
              <a:t> Tuyển sinh, test CEFR, thu học phí, nợ.</a:t>
            </a:r>
          </a:p>
        </p:txBody>
      </p:sp>
      <p:sp>
        <p:nvSpPr>
          <p:cNvPr id="25" name="TextBox 24"/>
          <p:cNvSpPr txBox="1"/>
          <p:nvPr/>
        </p:nvSpPr>
        <p:spPr>
          <a:xfrm>
            <a:off x="847725" y="4338637"/>
            <a:ext cx="3681412" cy="361950"/>
          </a:xfrm>
          <a:prstGeom prst="rect">
            <a:avLst/>
          </a:prstGeom>
          <a:noFill/>
        </p:spPr>
        <p:txBody>
          <a:bodyPr wrap="square" lIns="0" rIns="0" tIns="0" bIns="0" anchor="t">
            <a:spAutoFit/>
          </a:bodyPr>
          <a:lstStyle/>
          <a:p>
            <a:pPr algn="l"/>
            <a:r>
              <a:rPr b="0" sz="1125" i="0" u="none">
                <a:solidFill>
                  <a:srgbClr val="475569"/>
                </a:solidFill>
                <a:latin typeface="Plus Jakarta Sans"/>
              </a:rPr>
              <a:t>• </a:t>
            </a:r>
            <a:r>
              <a:rPr b="1" sz="1125" i="0" u="none">
                <a:solidFill>
                  <a:srgbClr val="475569"/>
                </a:solidFill>
                <a:latin typeface="Plus Jakarta Sans"/>
              </a:rPr>
              <a:t>Giáo viên (Teacher):</a:t>
            </a:r>
            <a:r>
              <a:rPr b="0" sz="1125" i="0" u="none">
                <a:solidFill>
                  <a:srgbClr val="475569"/>
                </a:solidFill>
                <a:latin typeface="Plus Jakarta Sans"/>
              </a:rPr>
              <a:t> Dạy học, điểm danh, chấm thi, bài tập.</a:t>
            </a:r>
          </a:p>
        </p:txBody>
      </p:sp>
      <p:sp>
        <p:nvSpPr>
          <p:cNvPr id="26" name="TextBox 25"/>
          <p:cNvSpPr txBox="1"/>
          <p:nvPr/>
        </p:nvSpPr>
        <p:spPr>
          <a:xfrm>
            <a:off x="981075" y="4929187"/>
            <a:ext cx="3414712" cy="342900"/>
          </a:xfrm>
          <a:prstGeom prst="rect">
            <a:avLst/>
          </a:prstGeom>
          <a:noFill/>
        </p:spPr>
        <p:txBody>
          <a:bodyPr wrap="square" lIns="0" rIns="0" tIns="0" bIns="0" anchor="t">
            <a:spAutoFit/>
          </a:bodyPr>
          <a:lstStyle/>
          <a:p>
            <a:pPr algn="l"/>
            <a:r>
              <a:rPr b="1" sz="1050" i="0" u="none">
                <a:solidFill>
                  <a:srgbClr val="0369A1"/>
                </a:solidFill>
                <a:latin typeface="Plus Jakarta Sans"/>
              </a:rPr>
              <a:t>Phương thức cũ: Sổ giấy, Excel rời rạc và nhóm Zalo trao đổi thủ công</a:t>
            </a:r>
          </a:p>
        </p:txBody>
      </p:sp>
      <p:sp>
        <p:nvSpPr>
          <p:cNvPr id="27" name="TextBox 26"/>
          <p:cNvSpPr txBox="1"/>
          <p:nvPr/>
        </p:nvSpPr>
        <p:spPr>
          <a:xfrm>
            <a:off x="5653087" y="1971675"/>
            <a:ext cx="6538912" cy="209550"/>
          </a:xfrm>
          <a:prstGeom prst="rect">
            <a:avLst/>
          </a:prstGeom>
          <a:noFill/>
        </p:spPr>
        <p:txBody>
          <a:bodyPr wrap="none" lIns="0" rIns="0" tIns="0" bIns="0" anchor="t">
            <a:spAutoFit/>
          </a:bodyPr>
          <a:lstStyle/>
          <a:p>
            <a:pPr algn="l"/>
            <a:r>
              <a:rPr b="1" sz="1275" i="0" u="none">
                <a:solidFill>
                  <a:srgbClr val="0F172A"/>
                </a:solidFill>
                <a:latin typeface="Plus Jakarta Sans"/>
              </a:rPr>
              <a:t>Dữ Liệu Phân Tán &amp; Tra Cứu Chậm Trễ</a:t>
            </a:r>
          </a:p>
        </p:txBody>
      </p:sp>
      <p:sp>
        <p:nvSpPr>
          <p:cNvPr id="28" name="TextBox 27"/>
          <p:cNvSpPr txBox="1"/>
          <p:nvPr/>
        </p:nvSpPr>
        <p:spPr>
          <a:xfrm>
            <a:off x="5653087" y="2209800"/>
            <a:ext cx="5824537" cy="361950"/>
          </a:xfrm>
          <a:prstGeom prst="rect">
            <a:avLst/>
          </a:prstGeom>
          <a:noFill/>
        </p:spPr>
        <p:txBody>
          <a:bodyPr wrap="square" lIns="0" rIns="0" tIns="0" bIns="0" anchor="t">
            <a:spAutoFit/>
          </a:bodyPr>
          <a:lstStyle/>
          <a:p>
            <a:pPr algn="l"/>
            <a:r>
              <a:rPr b="0" sz="1125" i="0" u="none">
                <a:solidFill>
                  <a:srgbClr val="64748B"/>
                </a:solidFill>
                <a:latin typeface="Plus Jakarta Sans"/>
              </a:rPr>
              <a:t>Hồ sơ học viên, phiếu thu và bảng điểm lưu rải rác trên nhiều file Excel cá nhân, mất 15-30 phút để đối soát một trường hợp.</a:t>
            </a:r>
          </a:p>
        </p:txBody>
      </p:sp>
      <p:sp>
        <p:nvSpPr>
          <p:cNvPr id="29" name="TextBox 28"/>
          <p:cNvSpPr txBox="1"/>
          <p:nvPr/>
        </p:nvSpPr>
        <p:spPr>
          <a:xfrm>
            <a:off x="5653087" y="3009900"/>
            <a:ext cx="6538912" cy="209550"/>
          </a:xfrm>
          <a:prstGeom prst="rect">
            <a:avLst/>
          </a:prstGeom>
          <a:noFill/>
        </p:spPr>
        <p:txBody>
          <a:bodyPr wrap="none" lIns="0" rIns="0" tIns="0" bIns="0" anchor="t">
            <a:spAutoFit/>
          </a:bodyPr>
          <a:lstStyle/>
          <a:p>
            <a:pPr algn="l"/>
            <a:r>
              <a:rPr b="1" sz="1275" i="0" u="none">
                <a:solidFill>
                  <a:srgbClr val="0F172A"/>
                </a:solidFill>
                <a:latin typeface="Plus Jakarta Sans"/>
              </a:rPr>
              <a:t>Xung Đột Lịch Học &amp; Trùng Phòng Học</a:t>
            </a:r>
          </a:p>
        </p:txBody>
      </p:sp>
      <p:sp>
        <p:nvSpPr>
          <p:cNvPr id="30" name="TextBox 29"/>
          <p:cNvSpPr txBox="1"/>
          <p:nvPr/>
        </p:nvSpPr>
        <p:spPr>
          <a:xfrm>
            <a:off x="5653087" y="3248025"/>
            <a:ext cx="5824537" cy="361950"/>
          </a:xfrm>
          <a:prstGeom prst="rect">
            <a:avLst/>
          </a:prstGeom>
          <a:noFill/>
        </p:spPr>
        <p:txBody>
          <a:bodyPr wrap="square" lIns="0" rIns="0" tIns="0" bIns="0" anchor="t">
            <a:spAutoFit/>
          </a:bodyPr>
          <a:lstStyle/>
          <a:p>
            <a:pPr algn="l"/>
            <a:r>
              <a:rPr b="0" sz="1125" i="0" u="none">
                <a:solidFill>
                  <a:srgbClr val="64748B"/>
                </a:solidFill>
                <a:latin typeface="Plus Jakarta Sans"/>
              </a:rPr>
              <a:t>Xếp thời khóa biểu bằng mắt thường gây trùng phòng học hoặc trùng giờ dạy của giáo viên khi trung tâm mở rộng quy mô lớp.</a:t>
            </a:r>
          </a:p>
        </p:txBody>
      </p:sp>
      <p:sp>
        <p:nvSpPr>
          <p:cNvPr id="31" name="TextBox 30"/>
          <p:cNvSpPr txBox="1"/>
          <p:nvPr/>
        </p:nvSpPr>
        <p:spPr>
          <a:xfrm>
            <a:off x="5653087" y="4048125"/>
            <a:ext cx="6538912" cy="209550"/>
          </a:xfrm>
          <a:prstGeom prst="rect">
            <a:avLst/>
          </a:prstGeom>
          <a:noFill/>
        </p:spPr>
        <p:txBody>
          <a:bodyPr wrap="none" lIns="0" rIns="0" tIns="0" bIns="0" anchor="t">
            <a:spAutoFit/>
          </a:bodyPr>
          <a:lstStyle/>
          <a:p>
            <a:pPr algn="l"/>
            <a:r>
              <a:rPr b="1" sz="1275" i="0" u="none">
                <a:solidFill>
                  <a:srgbClr val="0F172A"/>
                </a:solidFill>
                <a:latin typeface="Plus Jakarta Sans"/>
              </a:rPr>
              <a:t>Thất Thoát &amp; Khó Theo Dõi Công Nợ Đóng Phí Nhiều Đợt</a:t>
            </a:r>
          </a:p>
        </p:txBody>
      </p:sp>
      <p:sp>
        <p:nvSpPr>
          <p:cNvPr id="32" name="TextBox 31"/>
          <p:cNvSpPr txBox="1"/>
          <p:nvPr/>
        </p:nvSpPr>
        <p:spPr>
          <a:xfrm>
            <a:off x="5653087" y="4286250"/>
            <a:ext cx="5824537" cy="361950"/>
          </a:xfrm>
          <a:prstGeom prst="rect">
            <a:avLst/>
          </a:prstGeom>
          <a:noFill/>
        </p:spPr>
        <p:txBody>
          <a:bodyPr wrap="square" lIns="0" rIns="0" tIns="0" bIns="0" anchor="t">
            <a:spAutoFit/>
          </a:bodyPr>
          <a:lstStyle/>
          <a:p>
            <a:pPr algn="l"/>
            <a:r>
              <a:rPr b="0" sz="1125" i="0" u="none">
                <a:solidFill>
                  <a:srgbClr val="64748B"/>
                </a:solidFill>
                <a:latin typeface="Plus Jakarta Sans"/>
              </a:rPr>
              <a:t>Ghi chép sổ tay các đợt nộp học phí từng phần dễ nhầm lẫn số dư nợ, khó tổng hợp doanh thu chính xác theo thời gian thực.</a:t>
            </a:r>
          </a:p>
        </p:txBody>
      </p:sp>
      <p:sp>
        <p:nvSpPr>
          <p:cNvPr id="33" name="TextBox 32"/>
          <p:cNvSpPr txBox="1"/>
          <p:nvPr/>
        </p:nvSpPr>
        <p:spPr>
          <a:xfrm>
            <a:off x="5653087" y="5086350"/>
            <a:ext cx="6538912" cy="209550"/>
          </a:xfrm>
          <a:prstGeom prst="rect">
            <a:avLst/>
          </a:prstGeom>
          <a:noFill/>
        </p:spPr>
        <p:txBody>
          <a:bodyPr wrap="none" lIns="0" rIns="0" tIns="0" bIns="0" anchor="t">
            <a:spAutoFit/>
          </a:bodyPr>
          <a:lstStyle/>
          <a:p>
            <a:pPr algn="l"/>
            <a:r>
              <a:rPr b="1" sz="1275" i="0" u="none">
                <a:solidFill>
                  <a:srgbClr val="0F172A"/>
                </a:solidFill>
                <a:latin typeface="Plus Jakarta Sans"/>
              </a:rPr>
              <a:t>Thiếu Công Cụ Trợ Giảng &amp; Tư Vấn Thông Minh</a:t>
            </a:r>
          </a:p>
        </p:txBody>
      </p:sp>
      <p:sp>
        <p:nvSpPr>
          <p:cNvPr id="34" name="TextBox 33"/>
          <p:cNvSpPr txBox="1"/>
          <p:nvPr/>
        </p:nvSpPr>
        <p:spPr>
          <a:xfrm>
            <a:off x="5653087" y="5324475"/>
            <a:ext cx="5824537" cy="361950"/>
          </a:xfrm>
          <a:prstGeom prst="rect">
            <a:avLst/>
          </a:prstGeom>
          <a:noFill/>
        </p:spPr>
        <p:txBody>
          <a:bodyPr wrap="square" lIns="0" rIns="0" tIns="0" bIns="0" anchor="t">
            <a:spAutoFit/>
          </a:bodyPr>
          <a:lstStyle/>
          <a:p>
            <a:pPr algn="l"/>
            <a:r>
              <a:rPr b="0" sz="1125" i="0" u="none">
                <a:solidFill>
                  <a:srgbClr val="64748B"/>
                </a:solidFill>
                <a:latin typeface="Plus Jakarta Sans"/>
              </a:rPr>
              <a:t>Tư vấn viên mất nhiều thời gian chọn lớp thủ công; giáo viên tốn hàng giờ biên soạn đề trắc nghiệm bổ trợ theo trình độ CEFR.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4819650"/>
            <a:ext cx="10972800" cy="495300"/>
          </a:xfrm>
          <a:prstGeom prst="roundRect">
            <a:avLst>
              <a:gd name="adj" fmla="val 1923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2362200"/>
            <a:ext cx="2072580" cy="2305050"/>
          </a:xfrm>
          <a:prstGeom prst="roundRect">
            <a:avLst>
              <a:gd name="adj" fmla="val 551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834580" y="2362200"/>
            <a:ext cx="2072580" cy="2305050"/>
          </a:xfrm>
          <a:prstGeom prst="roundRect">
            <a:avLst>
              <a:gd name="adj" fmla="val 551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59560" y="2362200"/>
            <a:ext cx="2072580" cy="2305050"/>
          </a:xfrm>
          <a:prstGeom prst="roundRect">
            <a:avLst>
              <a:gd name="adj" fmla="val 551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284541" y="2362200"/>
            <a:ext cx="2072580" cy="2305050"/>
          </a:xfrm>
          <a:prstGeom prst="roundRect">
            <a:avLst>
              <a:gd name="adj" fmla="val 551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509521" y="2362200"/>
            <a:ext cx="2072580" cy="2305050"/>
          </a:xfrm>
          <a:prstGeom prst="roundRect">
            <a:avLst>
              <a:gd name="adj" fmla="val 5514"/>
            </a:avLst>
          </a:prstGeom>
          <a:solidFill>
            <a:srgbClr val="F0FDFA"/>
          </a:solidFill>
          <a:ln w="9525">
            <a:solidFill>
              <a:srgbClr val="99F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763125" y="4953000"/>
            <a:ext cx="1628775" cy="228600"/>
          </a:xfrm>
          <a:prstGeom prst="roundRect">
            <a:avLst>
              <a:gd name="adj" fmla="val 25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2"/>
          <a:stretch>
            <a:fillRect/>
          </a:stretch>
        </p:blipFill>
        <p:spPr>
          <a:xfrm>
            <a:off x="790575" y="2581275"/>
            <a:ext cx="361950" cy="361950"/>
          </a:xfrm>
          <a:prstGeom prst="rect">
            <a:avLst/>
          </a:prstGeom>
        </p:spPr>
      </p:pic>
      <p:pic>
        <p:nvPicPr>
          <p:cNvPr id="10" name="Picture 9" descr="image.png"/>
          <p:cNvPicPr>
            <a:picLocks noChangeAspect="1"/>
          </p:cNvPicPr>
          <p:nvPr/>
        </p:nvPicPr>
        <p:blipFill>
          <a:blip r:embed="rId3"/>
          <a:stretch>
            <a:fillRect/>
          </a:stretch>
        </p:blipFill>
        <p:spPr>
          <a:xfrm>
            <a:off x="3015555" y="2581275"/>
            <a:ext cx="361950" cy="361950"/>
          </a:xfrm>
          <a:prstGeom prst="rect">
            <a:avLst/>
          </a:prstGeom>
        </p:spPr>
      </p:pic>
      <p:pic>
        <p:nvPicPr>
          <p:cNvPr id="11" name="Picture 10" descr="image.png"/>
          <p:cNvPicPr>
            <a:picLocks noChangeAspect="1"/>
          </p:cNvPicPr>
          <p:nvPr/>
        </p:nvPicPr>
        <p:blipFill>
          <a:blip r:embed="rId4"/>
          <a:stretch>
            <a:fillRect/>
          </a:stretch>
        </p:blipFill>
        <p:spPr>
          <a:xfrm>
            <a:off x="5240535" y="2581275"/>
            <a:ext cx="361950" cy="361950"/>
          </a:xfrm>
          <a:prstGeom prst="rect">
            <a:avLst/>
          </a:prstGeom>
        </p:spPr>
      </p:pic>
      <p:pic>
        <p:nvPicPr>
          <p:cNvPr id="12" name="Picture 11" descr="image.png"/>
          <p:cNvPicPr>
            <a:picLocks noChangeAspect="1"/>
          </p:cNvPicPr>
          <p:nvPr/>
        </p:nvPicPr>
        <p:blipFill>
          <a:blip r:embed="rId5"/>
          <a:stretch>
            <a:fillRect/>
          </a:stretch>
        </p:blipFill>
        <p:spPr>
          <a:xfrm>
            <a:off x="7465516" y="2581275"/>
            <a:ext cx="361950" cy="361950"/>
          </a:xfrm>
          <a:prstGeom prst="rect">
            <a:avLst/>
          </a:prstGeom>
        </p:spPr>
      </p:pic>
      <p:pic>
        <p:nvPicPr>
          <p:cNvPr id="13" name="Picture 12" descr="image.png"/>
          <p:cNvPicPr>
            <a:picLocks noChangeAspect="1"/>
          </p:cNvPicPr>
          <p:nvPr/>
        </p:nvPicPr>
        <p:blipFill>
          <a:blip r:embed="rId6"/>
          <a:stretch>
            <a:fillRect/>
          </a:stretch>
        </p:blipFill>
        <p:spPr>
          <a:xfrm>
            <a:off x="9690496" y="2581275"/>
            <a:ext cx="361950" cy="361950"/>
          </a:xfrm>
          <a:prstGeom prst="rect">
            <a:avLst/>
          </a:prstGeom>
        </p:spPr>
      </p:pic>
      <p:pic>
        <p:nvPicPr>
          <p:cNvPr id="14" name="Picture 13" descr="image.png"/>
          <p:cNvPicPr>
            <a:picLocks noChangeAspect="1"/>
          </p:cNvPicPr>
          <p:nvPr/>
        </p:nvPicPr>
        <p:blipFill>
          <a:blip r:embed="rId7"/>
          <a:stretch>
            <a:fillRect/>
          </a:stretch>
        </p:blipFill>
        <p:spPr>
          <a:xfrm>
            <a:off x="800100" y="5005387"/>
            <a:ext cx="142875" cy="142875"/>
          </a:xfrm>
          <a:prstGeom prst="rect">
            <a:avLst/>
          </a:prstGeom>
        </p:spPr>
      </p:pic>
      <p:pic>
        <p:nvPicPr>
          <p:cNvPr id="15" name="Picture 14" descr="image.png"/>
          <p:cNvPicPr>
            <a:picLocks noChangeAspect="1"/>
          </p:cNvPicPr>
          <p:nvPr/>
        </p:nvPicPr>
        <p:blipFill>
          <a:blip r:embed="rId8"/>
          <a:stretch>
            <a:fillRect/>
          </a:stretch>
        </p:blipFill>
        <p:spPr>
          <a:xfrm>
            <a:off x="885825" y="2676525"/>
            <a:ext cx="171450" cy="171450"/>
          </a:xfrm>
          <a:prstGeom prst="rect">
            <a:avLst/>
          </a:prstGeom>
        </p:spPr>
      </p:pic>
      <p:pic>
        <p:nvPicPr>
          <p:cNvPr id="16" name="Picture 15" descr="image.png"/>
          <p:cNvPicPr>
            <a:picLocks noChangeAspect="1"/>
          </p:cNvPicPr>
          <p:nvPr/>
        </p:nvPicPr>
        <p:blipFill>
          <a:blip r:embed="rId9"/>
          <a:stretch>
            <a:fillRect/>
          </a:stretch>
        </p:blipFill>
        <p:spPr>
          <a:xfrm>
            <a:off x="3086992" y="2676525"/>
            <a:ext cx="219075" cy="171450"/>
          </a:xfrm>
          <a:prstGeom prst="rect">
            <a:avLst/>
          </a:prstGeom>
        </p:spPr>
      </p:pic>
      <p:pic>
        <p:nvPicPr>
          <p:cNvPr id="17" name="Picture 16" descr="image.png"/>
          <p:cNvPicPr>
            <a:picLocks noChangeAspect="1"/>
          </p:cNvPicPr>
          <p:nvPr/>
        </p:nvPicPr>
        <p:blipFill>
          <a:blip r:embed="rId10"/>
          <a:stretch>
            <a:fillRect/>
          </a:stretch>
        </p:blipFill>
        <p:spPr>
          <a:xfrm>
            <a:off x="5354835" y="2676525"/>
            <a:ext cx="133350" cy="171450"/>
          </a:xfrm>
          <a:prstGeom prst="rect">
            <a:avLst/>
          </a:prstGeom>
        </p:spPr>
      </p:pic>
      <p:pic>
        <p:nvPicPr>
          <p:cNvPr id="18" name="Picture 17" descr="image.png"/>
          <p:cNvPicPr>
            <a:picLocks noChangeAspect="1"/>
          </p:cNvPicPr>
          <p:nvPr/>
        </p:nvPicPr>
        <p:blipFill>
          <a:blip r:embed="rId11"/>
          <a:stretch>
            <a:fillRect/>
          </a:stretch>
        </p:blipFill>
        <p:spPr>
          <a:xfrm>
            <a:off x="7551241" y="2676525"/>
            <a:ext cx="190500" cy="171450"/>
          </a:xfrm>
          <a:prstGeom prst="rect">
            <a:avLst/>
          </a:prstGeom>
        </p:spPr>
      </p:pic>
      <p:pic>
        <p:nvPicPr>
          <p:cNvPr id="19" name="Picture 18" descr="image.png"/>
          <p:cNvPicPr>
            <a:picLocks noChangeAspect="1"/>
          </p:cNvPicPr>
          <p:nvPr/>
        </p:nvPicPr>
        <p:blipFill>
          <a:blip r:embed="rId12"/>
          <a:stretch>
            <a:fillRect/>
          </a:stretch>
        </p:blipFill>
        <p:spPr>
          <a:xfrm>
            <a:off x="9776221" y="2676525"/>
            <a:ext cx="190500" cy="171450"/>
          </a:xfrm>
          <a:prstGeom prst="rect">
            <a:avLst/>
          </a:prstGeom>
        </p:spPr>
      </p:pic>
      <p:sp>
        <p:nvSpPr>
          <p:cNvPr id="20" name="TextBox 19"/>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0284C7"/>
                </a:solidFill>
                <a:latin typeface="Plus Jakarta Sans"/>
              </a:rPr>
              <a:t>KIẾN TRÚC CHỨC NĂNG</a:t>
            </a:r>
          </a:p>
        </p:txBody>
      </p:sp>
      <p:sp>
        <p:nvSpPr>
          <p:cNvPr id="21" name="TextBox 20"/>
          <p:cNvSpPr txBox="1"/>
          <p:nvPr/>
        </p:nvSpPr>
        <p:spPr>
          <a:xfrm>
            <a:off x="609600" y="685800"/>
            <a:ext cx="11582400" cy="361950"/>
          </a:xfrm>
          <a:prstGeom prst="rect">
            <a:avLst/>
          </a:prstGeom>
          <a:noFill/>
        </p:spPr>
        <p:txBody>
          <a:bodyPr wrap="none" lIns="0" rIns="0" tIns="0" bIns="0" anchor="t">
            <a:spAutoFit/>
          </a:bodyPr>
          <a:lstStyle/>
          <a:p>
            <a:pPr algn="l"/>
            <a:r>
              <a:rPr b="1" sz="2250" i="0" u="none">
                <a:solidFill>
                  <a:srgbClr val="0F172A"/>
                </a:solidFill>
                <a:latin typeface="Plus Jakarta Sans"/>
              </a:rPr>
              <a:t>Mục Tiêu Đề Tài &amp; 5 Nhóm Chức Năng Cốt Lõi</a:t>
            </a:r>
          </a:p>
        </p:txBody>
      </p:sp>
      <p:sp>
        <p:nvSpPr>
          <p:cNvPr id="22" name="TextBox 21"/>
          <p:cNvSpPr txBox="1"/>
          <p:nvPr/>
        </p:nvSpPr>
        <p:spPr>
          <a:xfrm>
            <a:off x="800100" y="4976812"/>
            <a:ext cx="9798843" cy="180975"/>
          </a:xfrm>
          <a:prstGeom prst="rect">
            <a:avLst/>
          </a:prstGeom>
          <a:noFill/>
        </p:spPr>
        <p:txBody>
          <a:bodyPr wrap="none" lIns="219075" rIns="0" tIns="0" bIns="0" anchor="t">
            <a:spAutoFit/>
          </a:bodyPr>
          <a:lstStyle/>
          <a:p>
            <a:pPr algn="l"/>
            <a:r>
              <a:rPr b="1" sz="1125" i="0" u="none">
                <a:solidFill>
                  <a:srgbClr val="334155"/>
                </a:solidFill>
                <a:latin typeface="Plus Jakarta Sans"/>
              </a:rPr>
              <a:t>Hệ thống bao phủ đầy đủ 14 Use Cases nghiệp vụ, ánh xạ 1-1 với 32 Endpoints RESTful và 14 bảng quan hệ 3NF.</a:t>
            </a:r>
          </a:p>
        </p:txBody>
      </p:sp>
      <p:sp>
        <p:nvSpPr>
          <p:cNvPr id="23" name="TextBox 22"/>
          <p:cNvSpPr txBox="1"/>
          <p:nvPr/>
        </p:nvSpPr>
        <p:spPr>
          <a:xfrm>
            <a:off x="9858375" y="4991100"/>
            <a:ext cx="1533525" cy="152400"/>
          </a:xfrm>
          <a:prstGeom prst="rect">
            <a:avLst/>
          </a:prstGeom>
          <a:noFill/>
        </p:spPr>
        <p:txBody>
          <a:bodyPr wrap="square" lIns="0" rIns="0" tIns="0" bIns="0" anchor="t">
            <a:spAutoFit/>
          </a:bodyPr>
          <a:lstStyle/>
          <a:p>
            <a:pPr algn="l"/>
            <a:r>
              <a:rPr b="1" sz="975" i="0" u="none">
                <a:solidFill>
                  <a:srgbClr val="0284C7"/>
                </a:solidFill>
                <a:latin typeface="Plus Jakarta Sans"/>
              </a:rPr>
              <a:t>MÔ HÌNH AGLE + GENAI</a:t>
            </a:r>
          </a:p>
        </p:txBody>
      </p:sp>
      <p:sp>
        <p:nvSpPr>
          <p:cNvPr id="24" name="TextBox 23"/>
          <p:cNvSpPr txBox="1"/>
          <p:nvPr/>
        </p:nvSpPr>
        <p:spPr>
          <a:xfrm>
            <a:off x="790575" y="3057525"/>
            <a:ext cx="2245202" cy="209550"/>
          </a:xfrm>
          <a:prstGeom prst="rect">
            <a:avLst/>
          </a:prstGeom>
          <a:noFill/>
        </p:spPr>
        <p:txBody>
          <a:bodyPr wrap="none" lIns="0" rIns="0" tIns="0" bIns="0" anchor="t">
            <a:spAutoFit/>
          </a:bodyPr>
          <a:lstStyle/>
          <a:p>
            <a:pPr algn="l"/>
            <a:r>
              <a:rPr b="1" sz="1275" i="0" u="none">
                <a:solidFill>
                  <a:srgbClr val="0F172A"/>
                </a:solidFill>
                <a:latin typeface="Plus Jakarta Sans"/>
              </a:rPr>
              <a:t>1. Quản Lý Truy Cập</a:t>
            </a:r>
          </a:p>
        </p:txBody>
      </p:sp>
      <p:sp>
        <p:nvSpPr>
          <p:cNvPr id="25" name="TextBox 24"/>
          <p:cNvSpPr txBox="1"/>
          <p:nvPr/>
        </p:nvSpPr>
        <p:spPr>
          <a:xfrm>
            <a:off x="790575" y="3343275"/>
            <a:ext cx="1805880" cy="342900"/>
          </a:xfrm>
          <a:prstGeom prst="rect">
            <a:avLst/>
          </a:prstGeom>
          <a:noFill/>
        </p:spPr>
        <p:txBody>
          <a:bodyPr wrap="square" lIns="0" rIns="0" tIns="0" bIns="0" anchor="t">
            <a:spAutoFit/>
          </a:bodyPr>
          <a:lstStyle/>
          <a:p>
            <a:pPr algn="l"/>
            <a:r>
              <a:rPr b="0" sz="1050" i="0" u="none">
                <a:solidFill>
                  <a:srgbClr val="64748B"/>
                </a:solidFill>
                <a:latin typeface="Plus Jakarta Sans"/>
              </a:rPr>
              <a:t>• Đăng nhập bảo mật Argon2</a:t>
            </a:r>
          </a:p>
        </p:txBody>
      </p:sp>
      <p:sp>
        <p:nvSpPr>
          <p:cNvPr id="26" name="TextBox 25"/>
          <p:cNvSpPr txBox="1"/>
          <p:nvPr/>
        </p:nvSpPr>
        <p:spPr>
          <a:xfrm>
            <a:off x="790575" y="3724275"/>
            <a:ext cx="1805880" cy="342900"/>
          </a:xfrm>
          <a:prstGeom prst="rect">
            <a:avLst/>
          </a:prstGeom>
          <a:noFill/>
        </p:spPr>
        <p:txBody>
          <a:bodyPr wrap="square" lIns="0" rIns="0" tIns="0" bIns="0" anchor="t">
            <a:spAutoFit/>
          </a:bodyPr>
          <a:lstStyle/>
          <a:p>
            <a:pPr algn="l"/>
            <a:r>
              <a:rPr b="0" sz="1050" i="0" u="none">
                <a:solidFill>
                  <a:srgbClr val="64748B"/>
                </a:solidFill>
                <a:latin typeface="Plus Jakarta Sans"/>
              </a:rPr>
              <a:t>• Phân quyền 4 vai trò RBAC</a:t>
            </a:r>
          </a:p>
        </p:txBody>
      </p:sp>
      <p:sp>
        <p:nvSpPr>
          <p:cNvPr id="27" name="TextBox 26"/>
          <p:cNvSpPr txBox="1"/>
          <p:nvPr/>
        </p:nvSpPr>
        <p:spPr>
          <a:xfrm>
            <a:off x="790575" y="4105275"/>
            <a:ext cx="1805880" cy="342900"/>
          </a:xfrm>
          <a:prstGeom prst="rect">
            <a:avLst/>
          </a:prstGeom>
          <a:noFill/>
        </p:spPr>
        <p:txBody>
          <a:bodyPr wrap="square" lIns="0" rIns="0" tIns="0" bIns="0" anchor="t">
            <a:spAutoFit/>
          </a:bodyPr>
          <a:lstStyle/>
          <a:p>
            <a:pPr algn="l"/>
            <a:r>
              <a:rPr b="0" sz="1050" i="0" u="none">
                <a:solidFill>
                  <a:srgbClr val="64748B"/>
                </a:solidFill>
                <a:latin typeface="Plus Jakarta Sans"/>
              </a:rPr>
              <a:t>• Cấp phiên JWT thời hạn 24h</a:t>
            </a:r>
          </a:p>
        </p:txBody>
      </p:sp>
      <p:sp>
        <p:nvSpPr>
          <p:cNvPr id="28" name="TextBox 27"/>
          <p:cNvSpPr txBox="1"/>
          <p:nvPr/>
        </p:nvSpPr>
        <p:spPr>
          <a:xfrm>
            <a:off x="3015555" y="3057525"/>
            <a:ext cx="2245202" cy="209550"/>
          </a:xfrm>
          <a:prstGeom prst="rect">
            <a:avLst/>
          </a:prstGeom>
          <a:noFill/>
        </p:spPr>
        <p:txBody>
          <a:bodyPr wrap="none" lIns="0" rIns="0" tIns="0" bIns="0" anchor="t">
            <a:spAutoFit/>
          </a:bodyPr>
          <a:lstStyle/>
          <a:p>
            <a:pPr algn="l"/>
            <a:r>
              <a:rPr b="1" sz="1275" i="0" u="none">
                <a:solidFill>
                  <a:srgbClr val="0F172A"/>
                </a:solidFill>
                <a:latin typeface="Plus Jakarta Sans"/>
              </a:rPr>
              <a:t>2. Quản Lý Đào Tạo</a:t>
            </a:r>
          </a:p>
        </p:txBody>
      </p:sp>
      <p:sp>
        <p:nvSpPr>
          <p:cNvPr id="29" name="TextBox 28"/>
          <p:cNvSpPr txBox="1"/>
          <p:nvPr/>
        </p:nvSpPr>
        <p:spPr>
          <a:xfrm>
            <a:off x="3015555" y="3343275"/>
            <a:ext cx="2138288" cy="171450"/>
          </a:xfrm>
          <a:prstGeom prst="rect">
            <a:avLst/>
          </a:prstGeom>
          <a:noFill/>
        </p:spPr>
        <p:txBody>
          <a:bodyPr wrap="none" lIns="0" rIns="0" tIns="0" bIns="0" anchor="t">
            <a:spAutoFit/>
          </a:bodyPr>
          <a:lstStyle/>
          <a:p>
            <a:pPr algn="l"/>
            <a:r>
              <a:rPr b="0" sz="1050" i="0" u="none">
                <a:solidFill>
                  <a:srgbClr val="64748B"/>
                </a:solidFill>
                <a:latin typeface="Plus Jakarta Sans"/>
              </a:rPr>
              <a:t>• Khóa học &amp; chuẩn CEFR</a:t>
            </a:r>
          </a:p>
        </p:txBody>
      </p:sp>
      <p:sp>
        <p:nvSpPr>
          <p:cNvPr id="30" name="TextBox 29"/>
          <p:cNvSpPr txBox="1"/>
          <p:nvPr/>
        </p:nvSpPr>
        <p:spPr>
          <a:xfrm>
            <a:off x="3015555" y="3552825"/>
            <a:ext cx="2138288" cy="171450"/>
          </a:xfrm>
          <a:prstGeom prst="rect">
            <a:avLst/>
          </a:prstGeom>
          <a:noFill/>
        </p:spPr>
        <p:txBody>
          <a:bodyPr wrap="none" lIns="0" rIns="0" tIns="0" bIns="0" anchor="t">
            <a:spAutoFit/>
          </a:bodyPr>
          <a:lstStyle/>
          <a:p>
            <a:pPr algn="l"/>
            <a:r>
              <a:rPr b="0" sz="1050" i="0" u="none">
                <a:solidFill>
                  <a:srgbClr val="64748B"/>
                </a:solidFill>
                <a:latin typeface="Plus Jakarta Sans"/>
              </a:rPr>
              <a:t>• Mở lớp &amp; khống chế 25 HV</a:t>
            </a:r>
          </a:p>
        </p:txBody>
      </p:sp>
      <p:sp>
        <p:nvSpPr>
          <p:cNvPr id="31" name="TextBox 30"/>
          <p:cNvSpPr txBox="1"/>
          <p:nvPr/>
        </p:nvSpPr>
        <p:spPr>
          <a:xfrm>
            <a:off x="3015555" y="3762375"/>
            <a:ext cx="2138288" cy="171450"/>
          </a:xfrm>
          <a:prstGeom prst="rect">
            <a:avLst/>
          </a:prstGeom>
          <a:noFill/>
        </p:spPr>
        <p:txBody>
          <a:bodyPr wrap="none" lIns="0" rIns="0" tIns="0" bIns="0" anchor="t">
            <a:spAutoFit/>
          </a:bodyPr>
          <a:lstStyle/>
          <a:p>
            <a:pPr algn="l"/>
            <a:r>
              <a:rPr b="0" sz="1050" i="0" u="none">
                <a:solidFill>
                  <a:srgbClr val="64748B"/>
                </a:solidFill>
                <a:latin typeface="Plus Jakarta Sans"/>
              </a:rPr>
              <a:t>• Xếp lịch chống trùng ca</a:t>
            </a:r>
          </a:p>
        </p:txBody>
      </p:sp>
      <p:sp>
        <p:nvSpPr>
          <p:cNvPr id="32" name="TextBox 31"/>
          <p:cNvSpPr txBox="1"/>
          <p:nvPr/>
        </p:nvSpPr>
        <p:spPr>
          <a:xfrm>
            <a:off x="3015555" y="3971925"/>
            <a:ext cx="1805880" cy="342900"/>
          </a:xfrm>
          <a:prstGeom prst="rect">
            <a:avLst/>
          </a:prstGeom>
          <a:noFill/>
        </p:spPr>
        <p:txBody>
          <a:bodyPr wrap="square" lIns="0" rIns="0" tIns="0" bIns="0" anchor="t">
            <a:spAutoFit/>
          </a:bodyPr>
          <a:lstStyle/>
          <a:p>
            <a:pPr algn="l"/>
            <a:r>
              <a:rPr b="0" sz="1050" i="0" u="none">
                <a:solidFill>
                  <a:srgbClr val="64748B"/>
                </a:solidFill>
                <a:latin typeface="Plus Jakarta Sans"/>
              </a:rPr>
              <a:t>• Phân công GV theo chuyên môn</a:t>
            </a:r>
          </a:p>
        </p:txBody>
      </p:sp>
      <p:sp>
        <p:nvSpPr>
          <p:cNvPr id="33" name="TextBox 32"/>
          <p:cNvSpPr txBox="1"/>
          <p:nvPr/>
        </p:nvSpPr>
        <p:spPr>
          <a:xfrm>
            <a:off x="5240535" y="3057525"/>
            <a:ext cx="2245202" cy="209550"/>
          </a:xfrm>
          <a:prstGeom prst="rect">
            <a:avLst/>
          </a:prstGeom>
          <a:noFill/>
        </p:spPr>
        <p:txBody>
          <a:bodyPr wrap="none" lIns="0" rIns="0" tIns="0" bIns="0" anchor="t">
            <a:spAutoFit/>
          </a:bodyPr>
          <a:lstStyle/>
          <a:p>
            <a:pPr algn="l"/>
            <a:r>
              <a:rPr b="1" sz="1275" i="0" u="none">
                <a:solidFill>
                  <a:srgbClr val="0F172A"/>
                </a:solidFill>
                <a:latin typeface="Plus Jakarta Sans"/>
              </a:rPr>
              <a:t>3. Học Tập &amp; Học Phí</a:t>
            </a:r>
          </a:p>
        </p:txBody>
      </p:sp>
      <p:sp>
        <p:nvSpPr>
          <p:cNvPr id="34" name="TextBox 33"/>
          <p:cNvSpPr txBox="1"/>
          <p:nvPr/>
        </p:nvSpPr>
        <p:spPr>
          <a:xfrm>
            <a:off x="5240535" y="3343275"/>
            <a:ext cx="2138288" cy="171450"/>
          </a:xfrm>
          <a:prstGeom prst="rect">
            <a:avLst/>
          </a:prstGeom>
          <a:noFill/>
        </p:spPr>
        <p:txBody>
          <a:bodyPr wrap="none" lIns="0" rIns="0" tIns="0" bIns="0" anchor="t">
            <a:spAutoFit/>
          </a:bodyPr>
          <a:lstStyle/>
          <a:p>
            <a:pPr algn="l"/>
            <a:r>
              <a:rPr b="0" sz="1050" i="0" u="none">
                <a:solidFill>
                  <a:srgbClr val="64748B"/>
                </a:solidFill>
                <a:latin typeface="Plus Jakarta Sans"/>
              </a:rPr>
              <a:t>• Ghi danh tự tạo hóa đơn</a:t>
            </a:r>
          </a:p>
        </p:txBody>
      </p:sp>
      <p:sp>
        <p:nvSpPr>
          <p:cNvPr id="35" name="TextBox 34"/>
          <p:cNvSpPr txBox="1"/>
          <p:nvPr/>
        </p:nvSpPr>
        <p:spPr>
          <a:xfrm>
            <a:off x="5240535" y="3552825"/>
            <a:ext cx="2138288" cy="171450"/>
          </a:xfrm>
          <a:prstGeom prst="rect">
            <a:avLst/>
          </a:prstGeom>
          <a:noFill/>
        </p:spPr>
        <p:txBody>
          <a:bodyPr wrap="none" lIns="0" rIns="0" tIns="0" bIns="0" anchor="t">
            <a:spAutoFit/>
          </a:bodyPr>
          <a:lstStyle/>
          <a:p>
            <a:pPr algn="l"/>
            <a:r>
              <a:rPr b="0" sz="1050" i="0" u="none">
                <a:solidFill>
                  <a:srgbClr val="64748B"/>
                </a:solidFill>
                <a:latin typeface="Plus Jakarta Sans"/>
              </a:rPr>
              <a:t>• Thu phí đợt (Tiền mặt / CK)</a:t>
            </a:r>
          </a:p>
        </p:txBody>
      </p:sp>
      <p:sp>
        <p:nvSpPr>
          <p:cNvPr id="36" name="TextBox 35"/>
          <p:cNvSpPr txBox="1"/>
          <p:nvPr/>
        </p:nvSpPr>
        <p:spPr>
          <a:xfrm>
            <a:off x="5240535" y="3762375"/>
            <a:ext cx="2138288" cy="171450"/>
          </a:xfrm>
          <a:prstGeom prst="rect">
            <a:avLst/>
          </a:prstGeom>
          <a:noFill/>
        </p:spPr>
        <p:txBody>
          <a:bodyPr wrap="none" lIns="0" rIns="0" tIns="0" bIns="0" anchor="t">
            <a:spAutoFit/>
          </a:bodyPr>
          <a:lstStyle/>
          <a:p>
            <a:pPr algn="l"/>
            <a:r>
              <a:rPr b="0" sz="1050" i="0" u="none">
                <a:solidFill>
                  <a:srgbClr val="64748B"/>
                </a:solidFill>
                <a:latin typeface="Plus Jakarta Sans"/>
              </a:rPr>
              <a:t>• Điểm danh 4 trạng thái</a:t>
            </a:r>
          </a:p>
        </p:txBody>
      </p:sp>
      <p:sp>
        <p:nvSpPr>
          <p:cNvPr id="37" name="TextBox 36"/>
          <p:cNvSpPr txBox="1"/>
          <p:nvPr/>
        </p:nvSpPr>
        <p:spPr>
          <a:xfrm>
            <a:off x="5240535" y="3971925"/>
            <a:ext cx="1805880" cy="342900"/>
          </a:xfrm>
          <a:prstGeom prst="rect">
            <a:avLst/>
          </a:prstGeom>
          <a:noFill/>
        </p:spPr>
        <p:txBody>
          <a:bodyPr wrap="square" lIns="0" rIns="0" tIns="0" bIns="0" anchor="t">
            <a:spAutoFit/>
          </a:bodyPr>
          <a:lstStyle/>
          <a:p>
            <a:pPr algn="l"/>
            <a:r>
              <a:rPr b="0" sz="1050" i="0" u="none">
                <a:solidFill>
                  <a:srgbClr val="64748B"/>
                </a:solidFill>
                <a:latin typeface="Plus Jakarta Sans"/>
              </a:rPr>
              <a:t>• Điểm có trọng số: 20-30-50</a:t>
            </a:r>
          </a:p>
        </p:txBody>
      </p:sp>
      <p:sp>
        <p:nvSpPr>
          <p:cNvPr id="38" name="TextBox 37"/>
          <p:cNvSpPr txBox="1"/>
          <p:nvPr/>
        </p:nvSpPr>
        <p:spPr>
          <a:xfrm>
            <a:off x="7465516" y="3057525"/>
            <a:ext cx="2245202" cy="209550"/>
          </a:xfrm>
          <a:prstGeom prst="rect">
            <a:avLst/>
          </a:prstGeom>
          <a:noFill/>
        </p:spPr>
        <p:txBody>
          <a:bodyPr wrap="none" lIns="0" rIns="0" tIns="0" bIns="0" anchor="t">
            <a:spAutoFit/>
          </a:bodyPr>
          <a:lstStyle/>
          <a:p>
            <a:pPr algn="l"/>
            <a:r>
              <a:rPr b="1" sz="1275" i="0" u="none">
                <a:solidFill>
                  <a:srgbClr val="0F172A"/>
                </a:solidFill>
                <a:latin typeface="Plus Jakarta Sans"/>
              </a:rPr>
              <a:t>4. Tra Cứu &amp; Báo Cáo</a:t>
            </a:r>
          </a:p>
        </p:txBody>
      </p:sp>
      <p:sp>
        <p:nvSpPr>
          <p:cNvPr id="39" name="TextBox 38"/>
          <p:cNvSpPr txBox="1"/>
          <p:nvPr/>
        </p:nvSpPr>
        <p:spPr>
          <a:xfrm>
            <a:off x="7465516" y="3343275"/>
            <a:ext cx="2138288" cy="171450"/>
          </a:xfrm>
          <a:prstGeom prst="rect">
            <a:avLst/>
          </a:prstGeom>
          <a:noFill/>
        </p:spPr>
        <p:txBody>
          <a:bodyPr wrap="none" lIns="0" rIns="0" tIns="0" bIns="0" anchor="t">
            <a:spAutoFit/>
          </a:bodyPr>
          <a:lstStyle/>
          <a:p>
            <a:pPr algn="l"/>
            <a:r>
              <a:rPr b="0" sz="1050" i="0" u="none">
                <a:solidFill>
                  <a:srgbClr val="64748B"/>
                </a:solidFill>
                <a:latin typeface="Plus Jakarta Sans"/>
              </a:rPr>
              <a:t>• Tra cứu lịch dạy, lịch học</a:t>
            </a:r>
          </a:p>
        </p:txBody>
      </p:sp>
      <p:sp>
        <p:nvSpPr>
          <p:cNvPr id="40" name="TextBox 39"/>
          <p:cNvSpPr txBox="1"/>
          <p:nvPr/>
        </p:nvSpPr>
        <p:spPr>
          <a:xfrm>
            <a:off x="7465516" y="3552825"/>
            <a:ext cx="2138288" cy="171450"/>
          </a:xfrm>
          <a:prstGeom prst="rect">
            <a:avLst/>
          </a:prstGeom>
          <a:noFill/>
        </p:spPr>
        <p:txBody>
          <a:bodyPr wrap="none" lIns="0" rIns="0" tIns="0" bIns="0" anchor="t">
            <a:spAutoFit/>
          </a:bodyPr>
          <a:lstStyle/>
          <a:p>
            <a:pPr algn="l"/>
            <a:r>
              <a:rPr b="0" sz="1050" i="0" u="none">
                <a:solidFill>
                  <a:srgbClr val="64748B"/>
                </a:solidFill>
                <a:latin typeface="Plus Jakarta Sans"/>
              </a:rPr>
              <a:t>• Bảng điểm &amp; công nợ HV</a:t>
            </a:r>
          </a:p>
        </p:txBody>
      </p:sp>
      <p:sp>
        <p:nvSpPr>
          <p:cNvPr id="41" name="TextBox 40"/>
          <p:cNvSpPr txBox="1"/>
          <p:nvPr/>
        </p:nvSpPr>
        <p:spPr>
          <a:xfrm>
            <a:off x="7465516" y="3762375"/>
            <a:ext cx="2138288" cy="171450"/>
          </a:xfrm>
          <a:prstGeom prst="rect">
            <a:avLst/>
          </a:prstGeom>
          <a:noFill/>
        </p:spPr>
        <p:txBody>
          <a:bodyPr wrap="none" lIns="0" rIns="0" tIns="0" bIns="0" anchor="t">
            <a:spAutoFit/>
          </a:bodyPr>
          <a:lstStyle/>
          <a:p>
            <a:pPr algn="l"/>
            <a:r>
              <a:rPr b="0" sz="1050" i="0" u="none">
                <a:solidFill>
                  <a:srgbClr val="64748B"/>
                </a:solidFill>
                <a:latin typeface="Plus Jakarta Sans"/>
              </a:rPr>
              <a:t>• Thống kê doanh thu tháng</a:t>
            </a:r>
          </a:p>
        </p:txBody>
      </p:sp>
      <p:sp>
        <p:nvSpPr>
          <p:cNvPr id="42" name="TextBox 41"/>
          <p:cNvSpPr txBox="1"/>
          <p:nvPr/>
        </p:nvSpPr>
        <p:spPr>
          <a:xfrm>
            <a:off x="7465516" y="3971925"/>
            <a:ext cx="2138288" cy="171450"/>
          </a:xfrm>
          <a:prstGeom prst="rect">
            <a:avLst/>
          </a:prstGeom>
          <a:noFill/>
        </p:spPr>
        <p:txBody>
          <a:bodyPr wrap="none" lIns="0" rIns="0" tIns="0" bIns="0" anchor="t">
            <a:spAutoFit/>
          </a:bodyPr>
          <a:lstStyle/>
          <a:p>
            <a:pPr algn="l"/>
            <a:r>
              <a:rPr b="0" sz="1050" i="0" u="none">
                <a:solidFill>
                  <a:srgbClr val="64748B"/>
                </a:solidFill>
                <a:latin typeface="Plus Jakarta Sans"/>
              </a:rPr>
              <a:t>• Báo cáo tỷ lệ đạt chuẩn</a:t>
            </a:r>
          </a:p>
        </p:txBody>
      </p:sp>
      <p:sp>
        <p:nvSpPr>
          <p:cNvPr id="43" name="TextBox 42"/>
          <p:cNvSpPr txBox="1"/>
          <p:nvPr/>
        </p:nvSpPr>
        <p:spPr>
          <a:xfrm>
            <a:off x="9690496" y="3057525"/>
            <a:ext cx="2245202" cy="209550"/>
          </a:xfrm>
          <a:prstGeom prst="rect">
            <a:avLst/>
          </a:prstGeom>
          <a:noFill/>
        </p:spPr>
        <p:txBody>
          <a:bodyPr wrap="none" lIns="0" rIns="0" tIns="0" bIns="0" anchor="t">
            <a:spAutoFit/>
          </a:bodyPr>
          <a:lstStyle/>
          <a:p>
            <a:pPr algn="l"/>
            <a:r>
              <a:rPr b="1" sz="1275" i="0" u="none">
                <a:solidFill>
                  <a:srgbClr val="0F172A"/>
                </a:solidFill>
                <a:latin typeface="Plus Jakarta Sans"/>
              </a:rPr>
              <a:t>5. Tích Hợp GenAI</a:t>
            </a:r>
          </a:p>
        </p:txBody>
      </p:sp>
      <p:sp>
        <p:nvSpPr>
          <p:cNvPr id="44" name="TextBox 43"/>
          <p:cNvSpPr txBox="1"/>
          <p:nvPr/>
        </p:nvSpPr>
        <p:spPr>
          <a:xfrm>
            <a:off x="9690496" y="3343275"/>
            <a:ext cx="2138288" cy="171450"/>
          </a:xfrm>
          <a:prstGeom prst="rect">
            <a:avLst/>
          </a:prstGeom>
          <a:noFill/>
        </p:spPr>
        <p:txBody>
          <a:bodyPr wrap="none" lIns="0" rIns="0" tIns="0" bIns="0" anchor="t">
            <a:spAutoFit/>
          </a:bodyPr>
          <a:lstStyle/>
          <a:p>
            <a:pPr algn="l"/>
            <a:r>
              <a:rPr b="0" sz="1050" i="0" u="none">
                <a:solidFill>
                  <a:srgbClr val="0F766E"/>
                </a:solidFill>
                <a:latin typeface="Plus Jakarta Sans"/>
              </a:rPr>
              <a:t>• </a:t>
            </a:r>
            <a:r>
              <a:rPr b="1" sz="1050" i="0" u="none">
                <a:solidFill>
                  <a:srgbClr val="0F766E"/>
                </a:solidFill>
                <a:latin typeface="Plus Jakarta Sans"/>
              </a:rPr>
              <a:t>UC012:</a:t>
            </a:r>
            <a:r>
              <a:rPr b="0" sz="1050" i="0" u="none">
                <a:solidFill>
                  <a:srgbClr val="0F766E"/>
                </a:solidFill>
                <a:latin typeface="Plus Jakarta Sans"/>
              </a:rPr>
              <a:t> AI tư vấn xếp lớp</a:t>
            </a:r>
          </a:p>
        </p:txBody>
      </p:sp>
      <p:sp>
        <p:nvSpPr>
          <p:cNvPr id="45" name="TextBox 44"/>
          <p:cNvSpPr txBox="1"/>
          <p:nvPr/>
        </p:nvSpPr>
        <p:spPr>
          <a:xfrm>
            <a:off x="9690496" y="3552825"/>
            <a:ext cx="1805880" cy="342900"/>
          </a:xfrm>
          <a:prstGeom prst="rect">
            <a:avLst/>
          </a:prstGeom>
          <a:noFill/>
        </p:spPr>
        <p:txBody>
          <a:bodyPr wrap="square" lIns="0" rIns="0" tIns="0" bIns="0" anchor="t">
            <a:spAutoFit/>
          </a:bodyPr>
          <a:lstStyle/>
          <a:p>
            <a:pPr algn="l"/>
            <a:r>
              <a:rPr b="0" sz="1050" i="0" u="none">
                <a:solidFill>
                  <a:srgbClr val="0F766E"/>
                </a:solidFill>
                <a:latin typeface="Plus Jakarta Sans"/>
              </a:rPr>
              <a:t>• </a:t>
            </a:r>
            <a:r>
              <a:rPr b="1" sz="1050" i="0" u="none">
                <a:solidFill>
                  <a:srgbClr val="0F766E"/>
                </a:solidFill>
                <a:latin typeface="Plus Jakarta Sans"/>
              </a:rPr>
              <a:t>UC013:</a:t>
            </a:r>
            <a:r>
              <a:rPr b="0" sz="1050" i="0" u="none">
                <a:solidFill>
                  <a:srgbClr val="0F766E"/>
                </a:solidFill>
                <a:latin typeface="Plus Jakarta Sans"/>
              </a:rPr>
              <a:t> AI sinh bài trắc nghiệm</a:t>
            </a:r>
          </a:p>
        </p:txBody>
      </p:sp>
      <p:sp>
        <p:nvSpPr>
          <p:cNvPr id="46" name="TextBox 45"/>
          <p:cNvSpPr txBox="1"/>
          <p:nvPr/>
        </p:nvSpPr>
        <p:spPr>
          <a:xfrm>
            <a:off x="9690496" y="3933825"/>
            <a:ext cx="2138288" cy="171450"/>
          </a:xfrm>
          <a:prstGeom prst="rect">
            <a:avLst/>
          </a:prstGeom>
          <a:noFill/>
        </p:spPr>
        <p:txBody>
          <a:bodyPr wrap="none" lIns="0" rIns="0" tIns="0" bIns="0" anchor="t">
            <a:spAutoFit/>
          </a:bodyPr>
          <a:lstStyle/>
          <a:p>
            <a:pPr algn="l"/>
            <a:r>
              <a:rPr b="0" sz="1050" i="0" u="none">
                <a:solidFill>
                  <a:srgbClr val="0F766E"/>
                </a:solidFill>
                <a:latin typeface="Plus Jakarta Sans"/>
              </a:rPr>
              <a:t>• </a:t>
            </a:r>
            <a:r>
              <a:rPr b="1" sz="1050" i="0" u="none">
                <a:solidFill>
                  <a:srgbClr val="0F766E"/>
                </a:solidFill>
                <a:latin typeface="Plus Jakarta Sans"/>
              </a:rPr>
              <a:t>UC014:</a:t>
            </a:r>
            <a:r>
              <a:rPr b="0" sz="1050" i="0" u="none">
                <a:solidFill>
                  <a:srgbClr val="0F766E"/>
                </a:solidFill>
                <a:latin typeface="Plus Jakarta Sans"/>
              </a:rPr>
              <a:t> AI tóm tắt tiến độ</a:t>
            </a:r>
          </a:p>
        </p:txBody>
      </p:sp>
      <p:sp>
        <p:nvSpPr>
          <p:cNvPr id="47" name="TextBox 46"/>
          <p:cNvSpPr txBox="1"/>
          <p:nvPr/>
        </p:nvSpPr>
        <p:spPr>
          <a:xfrm>
            <a:off x="9690496" y="4143375"/>
            <a:ext cx="2138288" cy="171450"/>
          </a:xfrm>
          <a:prstGeom prst="rect">
            <a:avLst/>
          </a:prstGeom>
          <a:noFill/>
        </p:spPr>
        <p:txBody>
          <a:bodyPr wrap="none" lIns="0" rIns="0" tIns="0" bIns="0" anchor="t">
            <a:spAutoFit/>
          </a:bodyPr>
          <a:lstStyle/>
          <a:p>
            <a:pPr algn="l"/>
            <a:r>
              <a:rPr b="0" sz="1050" i="0" u="none">
                <a:solidFill>
                  <a:srgbClr val="0F766E"/>
                </a:solidFill>
                <a:latin typeface="Plus Jakarta Sans"/>
              </a:rPr>
              <a:t>• Fallback &amp; Audit Log CSDL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609600" y="5022056"/>
            <a:ext cx="10972800" cy="942975"/>
          </a:xfrm>
          <a:prstGeom prst="roundRect">
            <a:avLst>
              <a:gd name="adj" fmla="val 12121"/>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1712118"/>
            <a:ext cx="2614612" cy="2438400"/>
          </a:xfrm>
          <a:prstGeom prst="roundRect">
            <a:avLst>
              <a:gd name="adj" fmla="val 468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395662" y="1712118"/>
            <a:ext cx="2614612" cy="2438400"/>
          </a:xfrm>
          <a:prstGeom prst="roundRect">
            <a:avLst>
              <a:gd name="adj" fmla="val 468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181725" y="1712118"/>
            <a:ext cx="2614612" cy="2438400"/>
          </a:xfrm>
          <a:prstGeom prst="roundRect">
            <a:avLst>
              <a:gd name="adj" fmla="val 468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967787" y="1712118"/>
            <a:ext cx="2614612" cy="2438400"/>
          </a:xfrm>
          <a:prstGeom prst="roundRect">
            <a:avLst>
              <a:gd name="adj" fmla="val 468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08317" y="5264943"/>
            <a:ext cx="3135957" cy="457200"/>
          </a:xfrm>
          <a:prstGeom prst="roundRect">
            <a:avLst>
              <a:gd name="adj" fmla="val 125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09600" y="4140993"/>
            <a:ext cx="261461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09600" y="1712118"/>
            <a:ext cx="2614612" cy="3810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9600" y="1712118"/>
            <a:ext cx="9525" cy="2438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14687" y="1712118"/>
            <a:ext cx="9525" cy="2438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95662" y="4140993"/>
            <a:ext cx="261461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95662" y="1712118"/>
            <a:ext cx="2614612" cy="381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95662" y="1712118"/>
            <a:ext cx="9525" cy="2438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00750" y="1712118"/>
            <a:ext cx="9525" cy="2438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81725" y="4140993"/>
            <a:ext cx="261461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1725" y="1712118"/>
            <a:ext cx="2614612" cy="381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81725" y="1712118"/>
            <a:ext cx="9525" cy="2438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786812" y="1712118"/>
            <a:ext cx="9525" cy="2438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67787" y="4140993"/>
            <a:ext cx="261461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967787" y="1712118"/>
            <a:ext cx="2614612" cy="381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67787" y="1712118"/>
            <a:ext cx="9525" cy="2438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572875" y="1712118"/>
            <a:ext cx="9525" cy="2438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300287" y="1959768"/>
            <a:ext cx="723900" cy="180975"/>
          </a:xfrm>
          <a:prstGeom prst="roundRect">
            <a:avLst>
              <a:gd name="adj" fmla="val 21052"/>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10150" y="1959768"/>
            <a:ext cx="800100" cy="180975"/>
          </a:xfrm>
          <a:prstGeom prst="roundRect">
            <a:avLst>
              <a:gd name="adj" fmla="val 21052"/>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643812" y="1959768"/>
            <a:ext cx="952500" cy="180975"/>
          </a:xfrm>
          <a:prstGeom prst="roundRect">
            <a:avLst>
              <a:gd name="adj" fmla="val 21052"/>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0620375" y="1959768"/>
            <a:ext cx="762000" cy="180975"/>
          </a:xfrm>
          <a:prstGeom prst="roundRect">
            <a:avLst>
              <a:gd name="adj" fmla="val 21052"/>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0284C7"/>
                </a:solidFill>
                <a:latin typeface="Plus Jakarta Sans"/>
              </a:rPr>
              <a:t>CHƯƠNG 2 &amp; 3: THIẾT KẾ &amp; PHÂN QUYỀN</a:t>
            </a:r>
          </a:p>
        </p:txBody>
      </p:sp>
      <p:sp>
        <p:nvSpPr>
          <p:cNvPr id="29" name="TextBox 28"/>
          <p:cNvSpPr txBox="1"/>
          <p:nvPr/>
        </p:nvSpPr>
        <p:spPr>
          <a:xfrm>
            <a:off x="609600" y="685800"/>
            <a:ext cx="11582400" cy="361950"/>
          </a:xfrm>
          <a:prstGeom prst="rect">
            <a:avLst/>
          </a:prstGeom>
          <a:noFill/>
        </p:spPr>
        <p:txBody>
          <a:bodyPr wrap="none" lIns="0" rIns="0" tIns="0" bIns="0" anchor="t">
            <a:spAutoFit/>
          </a:bodyPr>
          <a:lstStyle/>
          <a:p>
            <a:pPr algn="l"/>
            <a:r>
              <a:rPr b="1" sz="2250" i="0" u="none">
                <a:solidFill>
                  <a:srgbClr val="0F172A"/>
                </a:solidFill>
                <a:latin typeface="Plus Jakarta Sans"/>
              </a:rPr>
              <a:t>4 Nhóm Tác Nhân &amp; Ma Trận Phân Quyền RBAC</a:t>
            </a:r>
          </a:p>
        </p:txBody>
      </p:sp>
      <p:sp>
        <p:nvSpPr>
          <p:cNvPr id="30" name="TextBox 29"/>
          <p:cNvSpPr txBox="1"/>
          <p:nvPr/>
        </p:nvSpPr>
        <p:spPr>
          <a:xfrm>
            <a:off x="8322617" y="5322093"/>
            <a:ext cx="3002607" cy="342900"/>
          </a:xfrm>
          <a:prstGeom prst="rect">
            <a:avLst/>
          </a:prstGeom>
          <a:noFill/>
        </p:spPr>
        <p:txBody>
          <a:bodyPr wrap="square" lIns="0" rIns="0" tIns="0" bIns="0" anchor="t">
            <a:spAutoFit/>
          </a:bodyPr>
          <a:lstStyle/>
          <a:p>
            <a:pPr algn="l"/>
            <a:r>
              <a:rPr b="1" sz="1050" i="0" u="none">
                <a:solidFill>
                  <a:srgbClr val="EF4444"/>
                </a:solidFill>
                <a:latin typeface="Plus Jakarta Sans"/>
              </a:rPr>
              <a:t>Chặn 100% truy cập trái quyền (403 Forbidden)</a:t>
            </a:r>
          </a:p>
        </p:txBody>
      </p:sp>
      <p:sp>
        <p:nvSpPr>
          <p:cNvPr id="31" name="TextBox 30"/>
          <p:cNvSpPr txBox="1"/>
          <p:nvPr/>
        </p:nvSpPr>
        <p:spPr>
          <a:xfrm>
            <a:off x="809625" y="2255043"/>
            <a:ext cx="2309812" cy="600075"/>
          </a:xfrm>
          <a:prstGeom prst="rect">
            <a:avLst/>
          </a:prstGeom>
          <a:noFill/>
        </p:spPr>
        <p:txBody>
          <a:bodyPr wrap="square" lIns="0" rIns="0" tIns="0" bIns="0" anchor="t">
            <a:spAutoFit/>
          </a:bodyPr>
          <a:lstStyle/>
          <a:p>
            <a:pPr algn="l">
              <a:lnSpc>
                <a:spcPts val="1575"/>
              </a:lnSpc>
            </a:pPr>
            <a:r>
              <a:rPr b="0" sz="1125" i="0" u="none">
                <a:solidFill>
                  <a:srgbClr val="64748B"/>
                </a:solidFill>
                <a:latin typeface="Plus Jakarta Sans"/>
              </a:rPr>
              <a:t>Toàn quyền quản trị danh mục đào tạo, tài chính và cấu hình hệ thống.</a:t>
            </a:r>
          </a:p>
        </p:txBody>
      </p:sp>
      <p:sp>
        <p:nvSpPr>
          <p:cNvPr id="32" name="TextBox 31"/>
          <p:cNvSpPr txBox="1"/>
          <p:nvPr/>
        </p:nvSpPr>
        <p:spPr>
          <a:xfrm>
            <a:off x="3595687" y="2255043"/>
            <a:ext cx="2309812" cy="600075"/>
          </a:xfrm>
          <a:prstGeom prst="rect">
            <a:avLst/>
          </a:prstGeom>
          <a:noFill/>
        </p:spPr>
        <p:txBody>
          <a:bodyPr wrap="square" lIns="0" rIns="0" tIns="0" bIns="0" anchor="t">
            <a:spAutoFit/>
          </a:bodyPr>
          <a:lstStyle/>
          <a:p>
            <a:pPr algn="l">
              <a:lnSpc>
                <a:spcPts val="1575"/>
              </a:lnSpc>
            </a:pPr>
            <a:r>
              <a:rPr b="0" sz="1125" i="0" u="none">
                <a:solidFill>
                  <a:srgbClr val="64748B"/>
                </a:solidFill>
                <a:latin typeface="Plus Jakarta Sans"/>
              </a:rPr>
              <a:t>Quản lý chuyên môn các lớp học được phân công phụ trách giảng dạy.</a:t>
            </a:r>
          </a:p>
        </p:txBody>
      </p:sp>
      <p:sp>
        <p:nvSpPr>
          <p:cNvPr id="33" name="TextBox 32"/>
          <p:cNvSpPr txBox="1"/>
          <p:nvPr/>
        </p:nvSpPr>
        <p:spPr>
          <a:xfrm>
            <a:off x="6381750" y="2255043"/>
            <a:ext cx="2309812" cy="600075"/>
          </a:xfrm>
          <a:prstGeom prst="rect">
            <a:avLst/>
          </a:prstGeom>
          <a:noFill/>
        </p:spPr>
        <p:txBody>
          <a:bodyPr wrap="square" lIns="0" rIns="0" tIns="0" bIns="0" anchor="t">
            <a:spAutoFit/>
          </a:bodyPr>
          <a:lstStyle/>
          <a:p>
            <a:pPr algn="l">
              <a:lnSpc>
                <a:spcPts val="1575"/>
              </a:lnSpc>
            </a:pPr>
            <a:r>
              <a:rPr b="0" sz="1125" i="0" u="none">
                <a:solidFill>
                  <a:srgbClr val="64748B"/>
                </a:solidFill>
                <a:latin typeface="Plus Jakarta Sans"/>
              </a:rPr>
              <a:t>Bộ phận tuyển sinh, tiếp đón học viên và theo dõi thu chi học phí.</a:t>
            </a:r>
          </a:p>
        </p:txBody>
      </p:sp>
      <p:sp>
        <p:nvSpPr>
          <p:cNvPr id="34" name="TextBox 33"/>
          <p:cNvSpPr txBox="1"/>
          <p:nvPr/>
        </p:nvSpPr>
        <p:spPr>
          <a:xfrm>
            <a:off x="9167812" y="2255043"/>
            <a:ext cx="2309812" cy="600075"/>
          </a:xfrm>
          <a:prstGeom prst="rect">
            <a:avLst/>
          </a:prstGeom>
          <a:noFill/>
        </p:spPr>
        <p:txBody>
          <a:bodyPr wrap="square" lIns="0" rIns="0" tIns="0" bIns="0" anchor="t">
            <a:spAutoFit/>
          </a:bodyPr>
          <a:lstStyle/>
          <a:p>
            <a:pPr algn="l">
              <a:lnSpc>
                <a:spcPts val="1575"/>
              </a:lnSpc>
            </a:pPr>
            <a:r>
              <a:rPr b="0" sz="1125" i="0" u="none">
                <a:solidFill>
                  <a:srgbClr val="64748B"/>
                </a:solidFill>
                <a:latin typeface="Plus Jakarta Sans"/>
              </a:rPr>
              <a:t>Tra cứu tiến độ cá nhân và tương tác với các công cụ học tập thông minh.</a:t>
            </a:r>
          </a:p>
        </p:txBody>
      </p:sp>
      <p:sp>
        <p:nvSpPr>
          <p:cNvPr id="35" name="TextBox 34"/>
          <p:cNvSpPr txBox="1"/>
          <p:nvPr/>
        </p:nvSpPr>
        <p:spPr>
          <a:xfrm>
            <a:off x="847725" y="5183981"/>
            <a:ext cx="1984771" cy="619125"/>
          </a:xfrm>
          <a:prstGeom prst="rect">
            <a:avLst/>
          </a:prstGeom>
          <a:noFill/>
        </p:spPr>
        <p:txBody>
          <a:bodyPr wrap="square" lIns="0" rIns="0" tIns="0" bIns="0" anchor="t">
            <a:spAutoFit/>
          </a:bodyPr>
          <a:lstStyle/>
          <a:p>
            <a:pPr algn="l"/>
            <a:r>
              <a:rPr b="1" sz="975" i="0" u="none">
                <a:solidFill>
                  <a:srgbClr val="64748B"/>
                </a:solidFill>
                <a:latin typeface="Plus Jakarta Sans"/>
              </a:rPr>
              <a:t>Cơ chế xác thực</a:t>
            </a:r>
          </a:p>
        </p:txBody>
      </p:sp>
      <p:sp>
        <p:nvSpPr>
          <p:cNvPr id="36" name="TextBox 35"/>
          <p:cNvSpPr txBox="1"/>
          <p:nvPr/>
        </p:nvSpPr>
        <p:spPr>
          <a:xfrm>
            <a:off x="3042046" y="5183981"/>
            <a:ext cx="2333327" cy="619125"/>
          </a:xfrm>
          <a:prstGeom prst="rect">
            <a:avLst/>
          </a:prstGeom>
          <a:noFill/>
        </p:spPr>
        <p:txBody>
          <a:bodyPr wrap="square" lIns="0" rIns="0" tIns="0" bIns="0" anchor="t">
            <a:spAutoFit/>
          </a:bodyPr>
          <a:lstStyle/>
          <a:p>
            <a:pPr algn="l"/>
            <a:r>
              <a:rPr b="1" sz="975" i="0" u="none">
                <a:solidFill>
                  <a:srgbClr val="64748B"/>
                </a:solidFill>
                <a:latin typeface="Plus Jakarta Sans"/>
              </a:rPr>
              <a:t>Bảo mật mật khẩu</a:t>
            </a:r>
          </a:p>
        </p:txBody>
      </p:sp>
      <p:sp>
        <p:nvSpPr>
          <p:cNvPr id="37" name="TextBox 36"/>
          <p:cNvSpPr txBox="1"/>
          <p:nvPr/>
        </p:nvSpPr>
        <p:spPr>
          <a:xfrm>
            <a:off x="5584924" y="5183981"/>
            <a:ext cx="2718643" cy="619125"/>
          </a:xfrm>
          <a:prstGeom prst="rect">
            <a:avLst/>
          </a:prstGeom>
          <a:noFill/>
        </p:spPr>
        <p:txBody>
          <a:bodyPr wrap="square" lIns="0" rIns="0" tIns="0" bIns="0" anchor="t">
            <a:spAutoFit/>
          </a:bodyPr>
          <a:lstStyle/>
          <a:p>
            <a:pPr algn="l"/>
            <a:r>
              <a:rPr b="1" sz="975" i="0" u="none">
                <a:solidFill>
                  <a:srgbClr val="64748B"/>
                </a:solidFill>
                <a:latin typeface="Plus Jakarta Sans"/>
              </a:rPr>
              <a:t>Kiểm soát phân quyền</a:t>
            </a:r>
          </a:p>
        </p:txBody>
      </p:sp>
      <p:sp>
        <p:nvSpPr>
          <p:cNvPr id="38" name="TextBox 37"/>
          <p:cNvSpPr txBox="1"/>
          <p:nvPr/>
        </p:nvSpPr>
        <p:spPr>
          <a:xfrm>
            <a:off x="809625" y="1940718"/>
            <a:ext cx="1612701" cy="219075"/>
          </a:xfrm>
          <a:prstGeom prst="rect">
            <a:avLst/>
          </a:prstGeom>
          <a:noFill/>
        </p:spPr>
        <p:txBody>
          <a:bodyPr wrap="none" lIns="0" rIns="0" tIns="0" bIns="0" anchor="t">
            <a:spAutoFit/>
          </a:bodyPr>
          <a:lstStyle/>
          <a:p>
            <a:pPr algn="l"/>
            <a:r>
              <a:rPr b="1" sz="1350" i="0" u="none">
                <a:solidFill>
                  <a:srgbClr val="0F172A"/>
                </a:solidFill>
                <a:latin typeface="Plus Jakarta Sans"/>
              </a:rPr>
              <a:t>Người Quản Lý</a:t>
            </a:r>
          </a:p>
        </p:txBody>
      </p:sp>
      <p:sp>
        <p:nvSpPr>
          <p:cNvPr id="39" name="TextBox 38"/>
          <p:cNvSpPr txBox="1"/>
          <p:nvPr/>
        </p:nvSpPr>
        <p:spPr>
          <a:xfrm>
            <a:off x="2376487" y="1978818"/>
            <a:ext cx="666750" cy="142875"/>
          </a:xfrm>
          <a:prstGeom prst="rect">
            <a:avLst/>
          </a:prstGeom>
          <a:noFill/>
        </p:spPr>
        <p:txBody>
          <a:bodyPr wrap="square" lIns="0" rIns="0" tIns="0" bIns="0" anchor="t">
            <a:spAutoFit/>
          </a:bodyPr>
          <a:lstStyle/>
          <a:p>
            <a:pPr algn="l"/>
            <a:r>
              <a:rPr b="1" sz="900" i="0" u="none">
                <a:solidFill>
                  <a:srgbClr val="0284C7"/>
                </a:solidFill>
                <a:latin typeface="Plus Jakarta Sans"/>
              </a:rPr>
              <a:t>QUAN_LY</a:t>
            </a:r>
          </a:p>
        </p:txBody>
      </p:sp>
      <p:sp>
        <p:nvSpPr>
          <p:cNvPr id="40" name="TextBox 39"/>
          <p:cNvSpPr txBox="1"/>
          <p:nvPr/>
        </p:nvSpPr>
        <p:spPr>
          <a:xfrm>
            <a:off x="809625" y="2950368"/>
            <a:ext cx="2768203" cy="200025"/>
          </a:xfrm>
          <a:prstGeom prst="rect">
            <a:avLst/>
          </a:prstGeom>
          <a:noFill/>
        </p:spPr>
        <p:txBody>
          <a:bodyPr wrap="none" lIns="0" rIns="0" tIns="0" bIns="0" anchor="t">
            <a:spAutoFit/>
          </a:bodyPr>
          <a:lstStyle/>
          <a:p>
            <a:pPr algn="l">
              <a:lnSpc>
                <a:spcPts val="1575"/>
              </a:lnSpc>
            </a:pPr>
            <a:r>
              <a:rPr b="0" sz="1050" i="0" u="none">
                <a:solidFill>
                  <a:srgbClr val="334155"/>
                </a:solidFill>
                <a:latin typeface="Plus Jakarta Sans"/>
              </a:rPr>
              <a:t>✔ Mở lớp, xếp lịch, phân công GV</a:t>
            </a:r>
          </a:p>
        </p:txBody>
      </p:sp>
      <p:sp>
        <p:nvSpPr>
          <p:cNvPr id="41" name="TextBox 40"/>
          <p:cNvSpPr txBox="1"/>
          <p:nvPr/>
        </p:nvSpPr>
        <p:spPr>
          <a:xfrm>
            <a:off x="809625" y="3150393"/>
            <a:ext cx="2768203" cy="200025"/>
          </a:xfrm>
          <a:prstGeom prst="rect">
            <a:avLst/>
          </a:prstGeom>
          <a:noFill/>
        </p:spPr>
        <p:txBody>
          <a:bodyPr wrap="none" lIns="0" rIns="0" tIns="0" bIns="0" anchor="t">
            <a:spAutoFit/>
          </a:bodyPr>
          <a:lstStyle/>
          <a:p>
            <a:pPr algn="l">
              <a:lnSpc>
                <a:spcPts val="1575"/>
              </a:lnSpc>
            </a:pPr>
            <a:r>
              <a:rPr b="0" sz="1050" i="0" u="none">
                <a:solidFill>
                  <a:srgbClr val="334155"/>
                </a:solidFill>
                <a:latin typeface="Plus Jakarta Sans"/>
              </a:rPr>
              <a:t>✔ Quản trị học phí &amp; công nợ</a:t>
            </a:r>
          </a:p>
        </p:txBody>
      </p:sp>
      <p:sp>
        <p:nvSpPr>
          <p:cNvPr id="42" name="TextBox 41"/>
          <p:cNvSpPr txBox="1"/>
          <p:nvPr/>
        </p:nvSpPr>
        <p:spPr>
          <a:xfrm>
            <a:off x="809625" y="3350418"/>
            <a:ext cx="2768203" cy="200025"/>
          </a:xfrm>
          <a:prstGeom prst="rect">
            <a:avLst/>
          </a:prstGeom>
          <a:noFill/>
        </p:spPr>
        <p:txBody>
          <a:bodyPr wrap="none" lIns="0" rIns="0" tIns="0" bIns="0" anchor="t">
            <a:spAutoFit/>
          </a:bodyPr>
          <a:lstStyle/>
          <a:p>
            <a:pPr algn="l">
              <a:lnSpc>
                <a:spcPts val="1575"/>
              </a:lnSpc>
            </a:pPr>
            <a:r>
              <a:rPr b="0" sz="1050" i="0" u="none">
                <a:solidFill>
                  <a:srgbClr val="334155"/>
                </a:solidFill>
                <a:latin typeface="Plus Jakarta Sans"/>
              </a:rPr>
              <a:t>✔ Xem báo cáo thống kê doanh thu</a:t>
            </a:r>
          </a:p>
        </p:txBody>
      </p:sp>
      <p:sp>
        <p:nvSpPr>
          <p:cNvPr id="43" name="TextBox 42"/>
          <p:cNvSpPr txBox="1"/>
          <p:nvPr/>
        </p:nvSpPr>
        <p:spPr>
          <a:xfrm>
            <a:off x="809625" y="3550443"/>
            <a:ext cx="2768203" cy="200025"/>
          </a:xfrm>
          <a:prstGeom prst="rect">
            <a:avLst/>
          </a:prstGeom>
          <a:noFill/>
        </p:spPr>
        <p:txBody>
          <a:bodyPr wrap="none" lIns="0" rIns="0" tIns="0" bIns="0" anchor="t">
            <a:spAutoFit/>
          </a:bodyPr>
          <a:lstStyle/>
          <a:p>
            <a:pPr algn="l">
              <a:lnSpc>
                <a:spcPts val="1575"/>
              </a:lnSpc>
            </a:pPr>
            <a:r>
              <a:rPr b="0" sz="1050" i="0" u="none">
                <a:solidFill>
                  <a:srgbClr val="334155"/>
                </a:solidFill>
                <a:latin typeface="Plus Jakarta Sans"/>
              </a:rPr>
              <a:t>✔ Giám sát nhật ký gọi AI (Audit Log)</a:t>
            </a:r>
          </a:p>
        </p:txBody>
      </p:sp>
      <p:sp>
        <p:nvSpPr>
          <p:cNvPr id="44" name="TextBox 43"/>
          <p:cNvSpPr txBox="1"/>
          <p:nvPr/>
        </p:nvSpPr>
        <p:spPr>
          <a:xfrm>
            <a:off x="3595687" y="1940718"/>
            <a:ext cx="1150143" cy="219075"/>
          </a:xfrm>
          <a:prstGeom prst="rect">
            <a:avLst/>
          </a:prstGeom>
          <a:noFill/>
        </p:spPr>
        <p:txBody>
          <a:bodyPr wrap="none" lIns="0" rIns="0" tIns="0" bIns="0" anchor="t">
            <a:spAutoFit/>
          </a:bodyPr>
          <a:lstStyle/>
          <a:p>
            <a:pPr algn="l"/>
            <a:r>
              <a:rPr b="1" sz="1350" i="0" u="none">
                <a:solidFill>
                  <a:srgbClr val="0F172A"/>
                </a:solidFill>
                <a:latin typeface="Plus Jakarta Sans"/>
              </a:rPr>
              <a:t>Giáo Viên</a:t>
            </a:r>
          </a:p>
        </p:txBody>
      </p:sp>
      <p:sp>
        <p:nvSpPr>
          <p:cNvPr id="45" name="TextBox 44"/>
          <p:cNvSpPr txBox="1"/>
          <p:nvPr/>
        </p:nvSpPr>
        <p:spPr>
          <a:xfrm>
            <a:off x="5086350" y="1978818"/>
            <a:ext cx="742950" cy="142875"/>
          </a:xfrm>
          <a:prstGeom prst="rect">
            <a:avLst/>
          </a:prstGeom>
          <a:noFill/>
        </p:spPr>
        <p:txBody>
          <a:bodyPr wrap="square" lIns="0" rIns="0" tIns="0" bIns="0" anchor="t">
            <a:spAutoFit/>
          </a:bodyPr>
          <a:lstStyle/>
          <a:p>
            <a:pPr algn="l"/>
            <a:r>
              <a:rPr b="1" sz="900" i="0" u="none">
                <a:solidFill>
                  <a:srgbClr val="0F172A"/>
                </a:solidFill>
                <a:latin typeface="Plus Jakarta Sans"/>
              </a:rPr>
              <a:t>GIAO_VIEN</a:t>
            </a:r>
          </a:p>
        </p:txBody>
      </p:sp>
      <p:sp>
        <p:nvSpPr>
          <p:cNvPr id="46" name="TextBox 45"/>
          <p:cNvSpPr txBox="1"/>
          <p:nvPr/>
        </p:nvSpPr>
        <p:spPr>
          <a:xfrm>
            <a:off x="3595687" y="2950368"/>
            <a:ext cx="2768203" cy="200025"/>
          </a:xfrm>
          <a:prstGeom prst="rect">
            <a:avLst/>
          </a:prstGeom>
          <a:noFill/>
        </p:spPr>
        <p:txBody>
          <a:bodyPr wrap="none" lIns="0" rIns="0" tIns="0" bIns="0" anchor="t">
            <a:spAutoFit/>
          </a:bodyPr>
          <a:lstStyle/>
          <a:p>
            <a:pPr algn="l">
              <a:lnSpc>
                <a:spcPts val="1575"/>
              </a:lnSpc>
            </a:pPr>
            <a:r>
              <a:rPr b="0" sz="1050" i="0" u="none">
                <a:solidFill>
                  <a:srgbClr val="334155"/>
                </a:solidFill>
                <a:latin typeface="Plus Jakarta Sans"/>
              </a:rPr>
              <a:t>✔ Xem thời khóa biểu lớp phụ trách</a:t>
            </a:r>
          </a:p>
        </p:txBody>
      </p:sp>
      <p:sp>
        <p:nvSpPr>
          <p:cNvPr id="47" name="TextBox 46"/>
          <p:cNvSpPr txBox="1"/>
          <p:nvPr/>
        </p:nvSpPr>
        <p:spPr>
          <a:xfrm>
            <a:off x="3595687" y="3150393"/>
            <a:ext cx="2768203" cy="200025"/>
          </a:xfrm>
          <a:prstGeom prst="rect">
            <a:avLst/>
          </a:prstGeom>
          <a:noFill/>
        </p:spPr>
        <p:txBody>
          <a:bodyPr wrap="none" lIns="0" rIns="0" tIns="0" bIns="0" anchor="t">
            <a:spAutoFit/>
          </a:bodyPr>
          <a:lstStyle/>
          <a:p>
            <a:pPr algn="l">
              <a:lnSpc>
                <a:spcPts val="1575"/>
              </a:lnSpc>
            </a:pPr>
            <a:r>
              <a:rPr b="0" sz="1050" i="0" u="none">
                <a:solidFill>
                  <a:srgbClr val="334155"/>
                </a:solidFill>
                <a:latin typeface="Plus Jakarta Sans"/>
              </a:rPr>
              <a:t>✔ Điểm danh buổi học (4 trạng thái)</a:t>
            </a:r>
          </a:p>
        </p:txBody>
      </p:sp>
      <p:sp>
        <p:nvSpPr>
          <p:cNvPr id="48" name="TextBox 47"/>
          <p:cNvSpPr txBox="1"/>
          <p:nvPr/>
        </p:nvSpPr>
        <p:spPr>
          <a:xfrm>
            <a:off x="3595687" y="3350418"/>
            <a:ext cx="2768203" cy="200025"/>
          </a:xfrm>
          <a:prstGeom prst="rect">
            <a:avLst/>
          </a:prstGeom>
          <a:noFill/>
        </p:spPr>
        <p:txBody>
          <a:bodyPr wrap="none" lIns="0" rIns="0" tIns="0" bIns="0" anchor="t">
            <a:spAutoFit/>
          </a:bodyPr>
          <a:lstStyle/>
          <a:p>
            <a:pPr algn="l">
              <a:lnSpc>
                <a:spcPts val="1575"/>
              </a:lnSpc>
            </a:pPr>
            <a:r>
              <a:rPr b="0" sz="1050" i="0" u="none">
                <a:solidFill>
                  <a:srgbClr val="334155"/>
                </a:solidFill>
                <a:latin typeface="Plus Jakarta Sans"/>
              </a:rPr>
              <a:t>✔ Nhập điểm thành phần &amp; tổng kết</a:t>
            </a:r>
          </a:p>
        </p:txBody>
      </p:sp>
      <p:sp>
        <p:nvSpPr>
          <p:cNvPr id="49" name="TextBox 48"/>
          <p:cNvSpPr txBox="1"/>
          <p:nvPr/>
        </p:nvSpPr>
        <p:spPr>
          <a:xfrm>
            <a:off x="3595687" y="3550443"/>
            <a:ext cx="2768203" cy="200025"/>
          </a:xfrm>
          <a:prstGeom prst="rect">
            <a:avLst/>
          </a:prstGeom>
          <a:noFill/>
        </p:spPr>
        <p:txBody>
          <a:bodyPr wrap="none" lIns="0" rIns="0" tIns="0" bIns="0" anchor="t">
            <a:spAutoFit/>
          </a:bodyPr>
          <a:lstStyle/>
          <a:p>
            <a:pPr algn="l">
              <a:lnSpc>
                <a:spcPts val="1575"/>
              </a:lnSpc>
            </a:pPr>
            <a:r>
              <a:rPr b="0" sz="1050" i="0" u="none">
                <a:solidFill>
                  <a:srgbClr val="334155"/>
                </a:solidFill>
                <a:latin typeface="Plus Jakarta Sans"/>
              </a:rPr>
              <a:t>✔ Dùng AI sinh đề trắc nghiệm CEFR</a:t>
            </a:r>
          </a:p>
        </p:txBody>
      </p:sp>
      <p:sp>
        <p:nvSpPr>
          <p:cNvPr id="50" name="TextBox 49"/>
          <p:cNvSpPr txBox="1"/>
          <p:nvPr/>
        </p:nvSpPr>
        <p:spPr>
          <a:xfrm>
            <a:off x="6381750" y="1940718"/>
            <a:ext cx="1330166" cy="219075"/>
          </a:xfrm>
          <a:prstGeom prst="rect">
            <a:avLst/>
          </a:prstGeom>
          <a:noFill/>
        </p:spPr>
        <p:txBody>
          <a:bodyPr wrap="none" lIns="0" rIns="0" tIns="0" bIns="0" anchor="t">
            <a:spAutoFit/>
          </a:bodyPr>
          <a:lstStyle/>
          <a:p>
            <a:pPr algn="l"/>
            <a:r>
              <a:rPr b="1" sz="1350" i="0" u="none">
                <a:solidFill>
                  <a:srgbClr val="0F172A"/>
                </a:solidFill>
                <a:latin typeface="Plus Jakarta Sans"/>
              </a:rPr>
              <a:t>Tư Vấn Viên</a:t>
            </a:r>
          </a:p>
        </p:txBody>
      </p:sp>
      <p:sp>
        <p:nvSpPr>
          <p:cNvPr id="51" name="TextBox 50"/>
          <p:cNvSpPr txBox="1"/>
          <p:nvPr/>
        </p:nvSpPr>
        <p:spPr>
          <a:xfrm>
            <a:off x="7720012" y="1978818"/>
            <a:ext cx="895350" cy="142875"/>
          </a:xfrm>
          <a:prstGeom prst="rect">
            <a:avLst/>
          </a:prstGeom>
          <a:noFill/>
        </p:spPr>
        <p:txBody>
          <a:bodyPr wrap="square" lIns="0" rIns="0" tIns="0" bIns="0" anchor="t">
            <a:spAutoFit/>
          </a:bodyPr>
          <a:lstStyle/>
          <a:p>
            <a:pPr algn="l"/>
            <a:r>
              <a:rPr b="1" sz="900" i="0" u="none">
                <a:solidFill>
                  <a:srgbClr val="0F172A"/>
                </a:solidFill>
                <a:latin typeface="Plus Jakarta Sans"/>
              </a:rPr>
              <a:t>TU_VAN_VIEN</a:t>
            </a:r>
          </a:p>
        </p:txBody>
      </p:sp>
      <p:sp>
        <p:nvSpPr>
          <p:cNvPr id="52" name="TextBox 51"/>
          <p:cNvSpPr txBox="1"/>
          <p:nvPr/>
        </p:nvSpPr>
        <p:spPr>
          <a:xfrm>
            <a:off x="6381750" y="2950368"/>
            <a:ext cx="2768203" cy="200025"/>
          </a:xfrm>
          <a:prstGeom prst="rect">
            <a:avLst/>
          </a:prstGeom>
          <a:noFill/>
        </p:spPr>
        <p:txBody>
          <a:bodyPr wrap="none" lIns="0" rIns="0" tIns="0" bIns="0" anchor="t">
            <a:spAutoFit/>
          </a:bodyPr>
          <a:lstStyle/>
          <a:p>
            <a:pPr algn="l">
              <a:lnSpc>
                <a:spcPts val="1575"/>
              </a:lnSpc>
            </a:pPr>
            <a:r>
              <a:rPr b="0" sz="1050" i="0" u="none">
                <a:solidFill>
                  <a:srgbClr val="334155"/>
                </a:solidFill>
                <a:latin typeface="Plus Jakarta Sans"/>
              </a:rPr>
              <a:t>✔ Tạo hồ sơ học viên &amp; test CEFR</a:t>
            </a:r>
          </a:p>
        </p:txBody>
      </p:sp>
      <p:sp>
        <p:nvSpPr>
          <p:cNvPr id="53" name="TextBox 52"/>
          <p:cNvSpPr txBox="1"/>
          <p:nvPr/>
        </p:nvSpPr>
        <p:spPr>
          <a:xfrm>
            <a:off x="6381750" y="3150393"/>
            <a:ext cx="2768203" cy="200025"/>
          </a:xfrm>
          <a:prstGeom prst="rect">
            <a:avLst/>
          </a:prstGeom>
          <a:noFill/>
        </p:spPr>
        <p:txBody>
          <a:bodyPr wrap="none" lIns="0" rIns="0" tIns="0" bIns="0" anchor="t">
            <a:spAutoFit/>
          </a:bodyPr>
          <a:lstStyle/>
          <a:p>
            <a:pPr algn="l">
              <a:lnSpc>
                <a:spcPts val="1575"/>
              </a:lnSpc>
            </a:pPr>
            <a:r>
              <a:rPr b="0" sz="1050" i="0" u="none">
                <a:solidFill>
                  <a:srgbClr val="334155"/>
                </a:solidFill>
                <a:latin typeface="Plus Jakarta Sans"/>
              </a:rPr>
              <a:t>✔ Dùng AI tư vấn xếp lớp tối ưu</a:t>
            </a:r>
          </a:p>
        </p:txBody>
      </p:sp>
      <p:sp>
        <p:nvSpPr>
          <p:cNvPr id="54" name="TextBox 53"/>
          <p:cNvSpPr txBox="1"/>
          <p:nvPr/>
        </p:nvSpPr>
        <p:spPr>
          <a:xfrm>
            <a:off x="6381750" y="3350418"/>
            <a:ext cx="2768203" cy="200025"/>
          </a:xfrm>
          <a:prstGeom prst="rect">
            <a:avLst/>
          </a:prstGeom>
          <a:noFill/>
        </p:spPr>
        <p:txBody>
          <a:bodyPr wrap="none" lIns="0" rIns="0" tIns="0" bIns="0" anchor="t">
            <a:spAutoFit/>
          </a:bodyPr>
          <a:lstStyle/>
          <a:p>
            <a:pPr algn="l">
              <a:lnSpc>
                <a:spcPts val="1575"/>
              </a:lnSpc>
            </a:pPr>
            <a:r>
              <a:rPr b="0" sz="1050" i="0" u="none">
                <a:solidFill>
                  <a:srgbClr val="334155"/>
                </a:solidFill>
                <a:latin typeface="Plus Jakarta Sans"/>
              </a:rPr>
              <a:t>✔ Ghi danh lớp (&lt; 25 học viên)</a:t>
            </a:r>
          </a:p>
        </p:txBody>
      </p:sp>
      <p:sp>
        <p:nvSpPr>
          <p:cNvPr id="55" name="TextBox 54"/>
          <p:cNvSpPr txBox="1"/>
          <p:nvPr/>
        </p:nvSpPr>
        <p:spPr>
          <a:xfrm>
            <a:off x="6381750" y="3550443"/>
            <a:ext cx="2768203" cy="200025"/>
          </a:xfrm>
          <a:prstGeom prst="rect">
            <a:avLst/>
          </a:prstGeom>
          <a:noFill/>
        </p:spPr>
        <p:txBody>
          <a:bodyPr wrap="none" lIns="0" rIns="0" tIns="0" bIns="0" anchor="t">
            <a:spAutoFit/>
          </a:bodyPr>
          <a:lstStyle/>
          <a:p>
            <a:pPr algn="l">
              <a:lnSpc>
                <a:spcPts val="1575"/>
              </a:lnSpc>
            </a:pPr>
            <a:r>
              <a:rPr b="0" sz="1050" i="0" u="none">
                <a:solidFill>
                  <a:srgbClr val="334155"/>
                </a:solidFill>
                <a:latin typeface="Plus Jakarta Sans"/>
              </a:rPr>
              <a:t>✔ Lập phiếu thu (tiền mặt / CK)</a:t>
            </a:r>
          </a:p>
        </p:txBody>
      </p:sp>
      <p:sp>
        <p:nvSpPr>
          <p:cNvPr id="56" name="TextBox 55"/>
          <p:cNvSpPr txBox="1"/>
          <p:nvPr/>
        </p:nvSpPr>
        <p:spPr>
          <a:xfrm>
            <a:off x="9167812" y="1940718"/>
            <a:ext cx="1090136" cy="219075"/>
          </a:xfrm>
          <a:prstGeom prst="rect">
            <a:avLst/>
          </a:prstGeom>
          <a:noFill/>
        </p:spPr>
        <p:txBody>
          <a:bodyPr wrap="none" lIns="0" rIns="0" tIns="0" bIns="0" anchor="t">
            <a:spAutoFit/>
          </a:bodyPr>
          <a:lstStyle/>
          <a:p>
            <a:pPr algn="l"/>
            <a:r>
              <a:rPr b="1" sz="1350" i="0" u="none">
                <a:solidFill>
                  <a:srgbClr val="0F172A"/>
                </a:solidFill>
                <a:latin typeface="Plus Jakarta Sans"/>
              </a:rPr>
              <a:t>Học Viên</a:t>
            </a:r>
          </a:p>
        </p:txBody>
      </p:sp>
      <p:sp>
        <p:nvSpPr>
          <p:cNvPr id="57" name="TextBox 56"/>
          <p:cNvSpPr txBox="1"/>
          <p:nvPr/>
        </p:nvSpPr>
        <p:spPr>
          <a:xfrm>
            <a:off x="10696575" y="1978818"/>
            <a:ext cx="704850" cy="142875"/>
          </a:xfrm>
          <a:prstGeom prst="rect">
            <a:avLst/>
          </a:prstGeom>
          <a:noFill/>
        </p:spPr>
        <p:txBody>
          <a:bodyPr wrap="square" lIns="0" rIns="0" tIns="0" bIns="0" anchor="t">
            <a:spAutoFit/>
          </a:bodyPr>
          <a:lstStyle/>
          <a:p>
            <a:pPr algn="l"/>
            <a:r>
              <a:rPr b="1" sz="900" i="0" u="none">
                <a:solidFill>
                  <a:srgbClr val="7C3AED"/>
                </a:solidFill>
                <a:latin typeface="Plus Jakarta Sans"/>
              </a:rPr>
              <a:t>HOC_VIEN</a:t>
            </a:r>
          </a:p>
        </p:txBody>
      </p:sp>
      <p:sp>
        <p:nvSpPr>
          <p:cNvPr id="58" name="TextBox 57"/>
          <p:cNvSpPr txBox="1"/>
          <p:nvPr/>
        </p:nvSpPr>
        <p:spPr>
          <a:xfrm>
            <a:off x="9167812" y="2950368"/>
            <a:ext cx="2768203" cy="200025"/>
          </a:xfrm>
          <a:prstGeom prst="rect">
            <a:avLst/>
          </a:prstGeom>
          <a:noFill/>
        </p:spPr>
        <p:txBody>
          <a:bodyPr wrap="none" lIns="0" rIns="0" tIns="0" bIns="0" anchor="t">
            <a:spAutoFit/>
          </a:bodyPr>
          <a:lstStyle/>
          <a:p>
            <a:pPr algn="l">
              <a:lnSpc>
                <a:spcPts val="1575"/>
              </a:lnSpc>
            </a:pPr>
            <a:r>
              <a:rPr b="0" sz="1050" i="0" u="none">
                <a:solidFill>
                  <a:srgbClr val="334155"/>
                </a:solidFill>
                <a:latin typeface="Plus Jakarta Sans"/>
              </a:rPr>
              <a:t>✔ Tra cứu lịch học &amp; hóa đơn học phí</a:t>
            </a:r>
          </a:p>
        </p:txBody>
      </p:sp>
      <p:sp>
        <p:nvSpPr>
          <p:cNvPr id="59" name="TextBox 58"/>
          <p:cNvSpPr txBox="1"/>
          <p:nvPr/>
        </p:nvSpPr>
        <p:spPr>
          <a:xfrm>
            <a:off x="9167812" y="3150393"/>
            <a:ext cx="2768203" cy="200025"/>
          </a:xfrm>
          <a:prstGeom prst="rect">
            <a:avLst/>
          </a:prstGeom>
          <a:noFill/>
        </p:spPr>
        <p:txBody>
          <a:bodyPr wrap="none" lIns="0" rIns="0" tIns="0" bIns="0" anchor="t">
            <a:spAutoFit/>
          </a:bodyPr>
          <a:lstStyle/>
          <a:p>
            <a:pPr algn="l">
              <a:lnSpc>
                <a:spcPts val="1575"/>
              </a:lnSpc>
            </a:pPr>
            <a:r>
              <a:rPr b="0" sz="1050" i="0" u="none">
                <a:solidFill>
                  <a:srgbClr val="334155"/>
                </a:solidFill>
                <a:latin typeface="Plus Jakarta Sans"/>
              </a:rPr>
              <a:t>✔ Nhận AI tư vấn lớp &amp; tự ghi danh</a:t>
            </a:r>
          </a:p>
        </p:txBody>
      </p:sp>
      <p:sp>
        <p:nvSpPr>
          <p:cNvPr id="60" name="TextBox 59"/>
          <p:cNvSpPr txBox="1"/>
          <p:nvPr/>
        </p:nvSpPr>
        <p:spPr>
          <a:xfrm>
            <a:off x="9167812" y="3350418"/>
            <a:ext cx="2768203" cy="200025"/>
          </a:xfrm>
          <a:prstGeom prst="rect">
            <a:avLst/>
          </a:prstGeom>
          <a:noFill/>
        </p:spPr>
        <p:txBody>
          <a:bodyPr wrap="none" lIns="0" rIns="0" tIns="0" bIns="0" anchor="t">
            <a:spAutoFit/>
          </a:bodyPr>
          <a:lstStyle/>
          <a:p>
            <a:pPr algn="l">
              <a:lnSpc>
                <a:spcPts val="1575"/>
              </a:lnSpc>
            </a:pPr>
            <a:r>
              <a:rPr b="0" sz="1050" i="0" u="none">
                <a:solidFill>
                  <a:srgbClr val="334155"/>
                </a:solidFill>
                <a:latin typeface="Plus Jakarta Sans"/>
              </a:rPr>
              <a:t>✔ Luyện trắc nghiệm Microlearning</a:t>
            </a:r>
          </a:p>
        </p:txBody>
      </p:sp>
      <p:sp>
        <p:nvSpPr>
          <p:cNvPr id="61" name="TextBox 60"/>
          <p:cNvSpPr txBox="1"/>
          <p:nvPr/>
        </p:nvSpPr>
        <p:spPr>
          <a:xfrm>
            <a:off x="9167812" y="3550443"/>
            <a:ext cx="2309812" cy="400050"/>
          </a:xfrm>
          <a:prstGeom prst="rect">
            <a:avLst/>
          </a:prstGeom>
          <a:noFill/>
        </p:spPr>
        <p:txBody>
          <a:bodyPr wrap="square" lIns="0" rIns="0" tIns="0" bIns="0" anchor="t">
            <a:spAutoFit/>
          </a:bodyPr>
          <a:lstStyle/>
          <a:p>
            <a:pPr algn="l">
              <a:lnSpc>
                <a:spcPts val="1575"/>
              </a:lnSpc>
            </a:pPr>
            <a:r>
              <a:rPr b="0" sz="1050" i="0" u="none">
                <a:solidFill>
                  <a:srgbClr val="334155"/>
                </a:solidFill>
                <a:latin typeface="Plus Jakarta Sans"/>
              </a:rPr>
              <a:t>✔ Xem AI tóm tắt điểm mạnh &amp; lộ trình</a:t>
            </a:r>
          </a:p>
        </p:txBody>
      </p:sp>
      <p:sp>
        <p:nvSpPr>
          <p:cNvPr id="62" name="TextBox 61"/>
          <p:cNvSpPr txBox="1"/>
          <p:nvPr/>
        </p:nvSpPr>
        <p:spPr>
          <a:xfrm>
            <a:off x="847725" y="5403056"/>
            <a:ext cx="1984771" cy="400050"/>
          </a:xfrm>
          <a:prstGeom prst="rect">
            <a:avLst/>
          </a:prstGeom>
          <a:noFill/>
        </p:spPr>
        <p:txBody>
          <a:bodyPr wrap="square" lIns="0" rIns="0" tIns="0" bIns="0" anchor="t">
            <a:spAutoFit/>
          </a:bodyPr>
          <a:lstStyle/>
          <a:p>
            <a:pPr algn="l"/>
            <a:r>
              <a:rPr b="1" sz="1200" i="0" u="none">
                <a:solidFill>
                  <a:srgbClr val="0F172A"/>
                </a:solidFill>
                <a:latin typeface="Plus Jakarta Sans"/>
              </a:rPr>
              <a:t>JWT Bearer Stateless (24h)</a:t>
            </a:r>
          </a:p>
        </p:txBody>
      </p:sp>
      <p:sp>
        <p:nvSpPr>
          <p:cNvPr id="63" name="TextBox 62"/>
          <p:cNvSpPr txBox="1"/>
          <p:nvPr/>
        </p:nvSpPr>
        <p:spPr>
          <a:xfrm>
            <a:off x="3042046" y="5403056"/>
            <a:ext cx="2333327" cy="400050"/>
          </a:xfrm>
          <a:prstGeom prst="rect">
            <a:avLst/>
          </a:prstGeom>
          <a:noFill/>
        </p:spPr>
        <p:txBody>
          <a:bodyPr wrap="square" lIns="0" rIns="0" tIns="0" bIns="0" anchor="t">
            <a:spAutoFit/>
          </a:bodyPr>
          <a:lstStyle/>
          <a:p>
            <a:pPr algn="l"/>
            <a:r>
              <a:rPr b="1" sz="1200" i="0" u="none">
                <a:solidFill>
                  <a:srgbClr val="0F172A"/>
                </a:solidFill>
                <a:latin typeface="Plus Jakarta Sans"/>
              </a:rPr>
              <a:t>Argon2 / Bcrypt One-Way Hash</a:t>
            </a:r>
          </a:p>
        </p:txBody>
      </p:sp>
      <p:sp>
        <p:nvSpPr>
          <p:cNvPr id="64" name="TextBox 63"/>
          <p:cNvSpPr txBox="1"/>
          <p:nvPr/>
        </p:nvSpPr>
        <p:spPr>
          <a:xfrm>
            <a:off x="5584924" y="5403056"/>
            <a:ext cx="2718643" cy="400050"/>
          </a:xfrm>
          <a:prstGeom prst="rect">
            <a:avLst/>
          </a:prstGeom>
          <a:noFill/>
        </p:spPr>
        <p:txBody>
          <a:bodyPr wrap="square" lIns="0" rIns="0" tIns="0" bIns="0" anchor="t">
            <a:spAutoFit/>
          </a:bodyPr>
          <a:lstStyle/>
          <a:p>
            <a:pPr algn="l"/>
            <a:r>
              <a:rPr b="1" sz="1200" i="0" u="none">
                <a:solidFill>
                  <a:srgbClr val="0F172A"/>
                </a:solidFill>
                <a:latin typeface="Plus Jakarta Sans"/>
              </a:rPr>
              <a:t>NestJS Guards + Next.js Route Guard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1752600"/>
            <a:ext cx="10972800" cy="942975"/>
          </a:xfrm>
          <a:prstGeom prst="roundRect">
            <a:avLst>
              <a:gd name="adj" fmla="val 10101"/>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2828925"/>
            <a:ext cx="10972800" cy="942975"/>
          </a:xfrm>
          <a:prstGeom prst="roundRect">
            <a:avLst>
              <a:gd name="adj" fmla="val 10101"/>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09600" y="3905250"/>
            <a:ext cx="10972800" cy="942975"/>
          </a:xfrm>
          <a:prstGeom prst="roundRect">
            <a:avLst>
              <a:gd name="adj" fmla="val 10101"/>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09600" y="4981575"/>
            <a:ext cx="10972800" cy="942975"/>
          </a:xfrm>
          <a:prstGeom prst="roundRect">
            <a:avLst>
              <a:gd name="adj" fmla="val 10101"/>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686050"/>
            <a:ext cx="10972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600" y="1752600"/>
            <a:ext cx="10972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09600" y="1752600"/>
            <a:ext cx="57150" cy="942975"/>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572875" y="1752600"/>
            <a:ext cx="9525" cy="9429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9600" y="3762375"/>
            <a:ext cx="10972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9600" y="2828925"/>
            <a:ext cx="10972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9600" y="2828925"/>
            <a:ext cx="57150" cy="94297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572875" y="2828925"/>
            <a:ext cx="9525" cy="9429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9600" y="4838700"/>
            <a:ext cx="10972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9600" y="3905250"/>
            <a:ext cx="10972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9600" y="3905250"/>
            <a:ext cx="57150" cy="942975"/>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572875" y="3905250"/>
            <a:ext cx="9525" cy="9429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9600" y="5915025"/>
            <a:ext cx="10972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09600" y="4981575"/>
            <a:ext cx="10972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9600" y="4981575"/>
            <a:ext cx="57150" cy="94297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572875" y="4981575"/>
            <a:ext cx="9525" cy="9429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229850" y="2009775"/>
            <a:ext cx="1114425" cy="266700"/>
          </a:xfrm>
          <a:prstGeom prst="roundRect">
            <a:avLst>
              <a:gd name="adj" fmla="val 21428"/>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772650" y="3086100"/>
            <a:ext cx="1571625" cy="266700"/>
          </a:xfrm>
          <a:prstGeom prst="roundRect">
            <a:avLst>
              <a:gd name="adj" fmla="val 21428"/>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91750" y="4162425"/>
            <a:ext cx="1152525" cy="266700"/>
          </a:xfrm>
          <a:prstGeom prst="roundRect">
            <a:avLst>
              <a:gd name="adj" fmla="val 21428"/>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0134600" y="5238750"/>
            <a:ext cx="1209675" cy="266700"/>
          </a:xfrm>
          <a:prstGeom prst="roundRect">
            <a:avLst>
              <a:gd name="adj" fmla="val 21428"/>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95350" y="1928812"/>
            <a:ext cx="571500" cy="190500"/>
          </a:xfrm>
          <a:prstGeom prst="roundRect">
            <a:avLst>
              <a:gd name="adj" fmla="val 2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95350" y="3005137"/>
            <a:ext cx="600075" cy="190500"/>
          </a:xfrm>
          <a:prstGeom prst="roundRect">
            <a:avLst>
              <a:gd name="adj" fmla="val 20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95350" y="4081462"/>
            <a:ext cx="600075" cy="190500"/>
          </a:xfrm>
          <a:prstGeom prst="roundRect">
            <a:avLst>
              <a:gd name="adj" fmla="val 2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95350" y="5157787"/>
            <a:ext cx="609600" cy="190500"/>
          </a:xfrm>
          <a:prstGeom prst="roundRect">
            <a:avLst>
              <a:gd name="adj" fmla="val 2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0284C7"/>
                </a:solidFill>
                <a:latin typeface="Plus Jakarta Sans"/>
              </a:rPr>
              <a:t>CHƯƠNG 7: THIẾT KẾ KIẾN TRÚC HỆ THỐNG</a:t>
            </a:r>
          </a:p>
        </p:txBody>
      </p:sp>
      <p:sp>
        <p:nvSpPr>
          <p:cNvPr id="31" name="TextBox 30"/>
          <p:cNvSpPr txBox="1"/>
          <p:nvPr/>
        </p:nvSpPr>
        <p:spPr>
          <a:xfrm>
            <a:off x="609600" y="685800"/>
            <a:ext cx="11582400" cy="361950"/>
          </a:xfrm>
          <a:prstGeom prst="rect">
            <a:avLst/>
          </a:prstGeom>
          <a:noFill/>
        </p:spPr>
        <p:txBody>
          <a:bodyPr wrap="none" lIns="0" rIns="0" tIns="0" bIns="0" anchor="t">
            <a:spAutoFit/>
          </a:bodyPr>
          <a:lstStyle/>
          <a:p>
            <a:pPr algn="l"/>
            <a:r>
              <a:rPr b="1" sz="2250" i="0" u="none">
                <a:solidFill>
                  <a:srgbClr val="0F172A"/>
                </a:solidFill>
                <a:latin typeface="Plus Jakarta Sans"/>
              </a:rPr>
              <a:t>Mô Hình Kiến Trúc Phân Tầng (4-Tier Enterprise)</a:t>
            </a:r>
          </a:p>
        </p:txBody>
      </p:sp>
      <p:sp>
        <p:nvSpPr>
          <p:cNvPr id="32" name="TextBox 31"/>
          <p:cNvSpPr txBox="1"/>
          <p:nvPr/>
        </p:nvSpPr>
        <p:spPr>
          <a:xfrm>
            <a:off x="895350" y="2171700"/>
            <a:ext cx="7905750" cy="361950"/>
          </a:xfrm>
          <a:prstGeom prst="rect">
            <a:avLst/>
          </a:prstGeom>
          <a:noFill/>
        </p:spPr>
        <p:txBody>
          <a:bodyPr wrap="square" lIns="0" rIns="0" tIns="0" bIns="0" anchor="t">
            <a:spAutoFit/>
          </a:bodyPr>
          <a:lstStyle/>
          <a:p>
            <a:pPr algn="l"/>
            <a:r>
              <a:rPr b="0" sz="1125" i="0" u="none">
                <a:solidFill>
                  <a:srgbClr val="64748B"/>
                </a:solidFill>
                <a:latin typeface="Plus Jakarta Sans"/>
              </a:rPr>
              <a:t>Next.js App Router (React 19, TypeScript, TailwindCSS) • Single Page Application (SPA) • Dashboard chuyên biệt cho 4 vai trò • Dark/Light Mode • Tương thích 100% PC, Tablet, Smartphone.</a:t>
            </a:r>
          </a:p>
        </p:txBody>
      </p:sp>
      <p:sp>
        <p:nvSpPr>
          <p:cNvPr id="33" name="TextBox 32"/>
          <p:cNvSpPr txBox="1"/>
          <p:nvPr/>
        </p:nvSpPr>
        <p:spPr>
          <a:xfrm>
            <a:off x="10248900" y="2066925"/>
            <a:ext cx="981075" cy="152400"/>
          </a:xfrm>
          <a:prstGeom prst="rect">
            <a:avLst/>
          </a:prstGeom>
          <a:noFill/>
        </p:spPr>
        <p:txBody>
          <a:bodyPr wrap="square" lIns="0" rIns="0" tIns="0" bIns="0" anchor="t">
            <a:spAutoFit/>
          </a:bodyPr>
          <a:lstStyle/>
          <a:p>
            <a:pPr algn="r"/>
            <a:r>
              <a:rPr b="1" sz="975" i="0" u="none">
                <a:solidFill>
                  <a:srgbClr val="0284C7"/>
                </a:solidFill>
                <a:latin typeface="Plus Jakarta Sans"/>
              </a:rPr>
              <a:t>HTTPS / TLS 1.3</a:t>
            </a:r>
          </a:p>
        </p:txBody>
      </p:sp>
      <p:sp>
        <p:nvSpPr>
          <p:cNvPr id="34" name="TextBox 33"/>
          <p:cNvSpPr txBox="1"/>
          <p:nvPr/>
        </p:nvSpPr>
        <p:spPr>
          <a:xfrm>
            <a:off x="9944100" y="2266950"/>
            <a:ext cx="1400175" cy="152400"/>
          </a:xfrm>
          <a:prstGeom prst="rect">
            <a:avLst/>
          </a:prstGeom>
          <a:noFill/>
        </p:spPr>
        <p:txBody>
          <a:bodyPr wrap="none" lIns="0" rIns="0" tIns="0" bIns="0" anchor="t">
            <a:spAutoFit/>
          </a:bodyPr>
          <a:lstStyle/>
          <a:p>
            <a:pPr algn="r"/>
            <a:r>
              <a:rPr b="0" sz="975" i="0" u="none">
                <a:solidFill>
                  <a:srgbClr val="0F172A"/>
                </a:solidFill>
                <a:latin typeface="Plus Jakarta Sans"/>
              </a:rPr>
              <a:t>JSON RESTful</a:t>
            </a:r>
          </a:p>
        </p:txBody>
      </p:sp>
      <p:sp>
        <p:nvSpPr>
          <p:cNvPr id="35" name="TextBox 34"/>
          <p:cNvSpPr txBox="1"/>
          <p:nvPr/>
        </p:nvSpPr>
        <p:spPr>
          <a:xfrm>
            <a:off x="895350" y="3248025"/>
            <a:ext cx="7905750" cy="361950"/>
          </a:xfrm>
          <a:prstGeom prst="rect">
            <a:avLst/>
          </a:prstGeom>
          <a:noFill/>
        </p:spPr>
        <p:txBody>
          <a:bodyPr wrap="square" lIns="0" rIns="0" tIns="0" bIns="0" anchor="t">
            <a:spAutoFit/>
          </a:bodyPr>
          <a:lstStyle/>
          <a:p>
            <a:pPr algn="l"/>
            <a:r>
              <a:rPr b="0" sz="1125" i="0" u="none">
                <a:solidFill>
                  <a:srgbClr val="64748B"/>
                </a:solidFill>
                <a:latin typeface="Plus Jakarta Sans"/>
              </a:rPr>
              <a:t>NestJS 11 Framework (Node.js 20+ LTS) • Kiến trúc Modular Microservices • RBAC Guard xác thực JWT • Validation Pipe bảo vệ dữ liệu đầu vào • Điều phối luồng đăng ký, học phí, điểm danh và tính điểm.</a:t>
            </a:r>
          </a:p>
        </p:txBody>
      </p:sp>
      <p:sp>
        <p:nvSpPr>
          <p:cNvPr id="36" name="TextBox 35"/>
          <p:cNvSpPr txBox="1"/>
          <p:nvPr/>
        </p:nvSpPr>
        <p:spPr>
          <a:xfrm>
            <a:off x="9791700" y="3143250"/>
            <a:ext cx="1438275" cy="152400"/>
          </a:xfrm>
          <a:prstGeom prst="rect">
            <a:avLst/>
          </a:prstGeom>
          <a:noFill/>
        </p:spPr>
        <p:txBody>
          <a:bodyPr wrap="square" lIns="0" rIns="0" tIns="0" bIns="0" anchor="t">
            <a:spAutoFit/>
          </a:bodyPr>
          <a:lstStyle/>
          <a:p>
            <a:pPr algn="r"/>
            <a:r>
              <a:rPr b="1" sz="975" i="0" u="none">
                <a:solidFill>
                  <a:srgbClr val="059669"/>
                </a:solidFill>
                <a:latin typeface="Plus Jakarta Sans"/>
              </a:rPr>
              <a:t>Dependency Injection</a:t>
            </a:r>
          </a:p>
        </p:txBody>
      </p:sp>
      <p:sp>
        <p:nvSpPr>
          <p:cNvPr id="37" name="TextBox 36"/>
          <p:cNvSpPr txBox="1"/>
          <p:nvPr/>
        </p:nvSpPr>
        <p:spPr>
          <a:xfrm>
            <a:off x="9379743" y="3343275"/>
            <a:ext cx="1964531" cy="152400"/>
          </a:xfrm>
          <a:prstGeom prst="rect">
            <a:avLst/>
          </a:prstGeom>
          <a:noFill/>
        </p:spPr>
        <p:txBody>
          <a:bodyPr wrap="none" lIns="0" rIns="0" tIns="0" bIns="0" anchor="t">
            <a:spAutoFit/>
          </a:bodyPr>
          <a:lstStyle/>
          <a:p>
            <a:pPr algn="r"/>
            <a:r>
              <a:rPr b="0" sz="975" i="0" u="none">
                <a:solidFill>
                  <a:srgbClr val="0F172A"/>
                </a:solidFill>
                <a:latin typeface="Plus Jakarta Sans"/>
              </a:rPr>
              <a:t>Swagger OpenAPI 3.0</a:t>
            </a:r>
          </a:p>
        </p:txBody>
      </p:sp>
      <p:sp>
        <p:nvSpPr>
          <p:cNvPr id="38" name="TextBox 37"/>
          <p:cNvSpPr txBox="1"/>
          <p:nvPr/>
        </p:nvSpPr>
        <p:spPr>
          <a:xfrm>
            <a:off x="895350" y="4324350"/>
            <a:ext cx="7905750" cy="361950"/>
          </a:xfrm>
          <a:prstGeom prst="rect">
            <a:avLst/>
          </a:prstGeom>
          <a:noFill/>
        </p:spPr>
        <p:txBody>
          <a:bodyPr wrap="square" lIns="0" rIns="0" tIns="0" bIns="0" anchor="t">
            <a:spAutoFit/>
          </a:bodyPr>
          <a:lstStyle/>
          <a:p>
            <a:pPr algn="l"/>
            <a:r>
              <a:rPr b="0" sz="1125" i="0" u="none">
                <a:solidFill>
                  <a:srgbClr val="64748B"/>
                </a:solidFill>
                <a:latin typeface="Plus Jakarta Sans"/>
              </a:rPr>
              <a:t>Google Gemini 3.1 Flash-Lite &amp; Pro • Structured JSON Output Mode • Engine Prompt chuẩn hóa • Bộ lọc ảo giác Zero-Trust đối soát CSDL • Cơ chế Fallback tự động khi timeout (&gt;10s) hoặc mất mạng.</a:t>
            </a:r>
          </a:p>
        </p:txBody>
      </p:sp>
      <p:sp>
        <p:nvSpPr>
          <p:cNvPr id="39" name="TextBox 38"/>
          <p:cNvSpPr txBox="1"/>
          <p:nvPr/>
        </p:nvSpPr>
        <p:spPr>
          <a:xfrm>
            <a:off x="10210800" y="4219575"/>
            <a:ext cx="1019175" cy="152400"/>
          </a:xfrm>
          <a:prstGeom prst="rect">
            <a:avLst/>
          </a:prstGeom>
          <a:noFill/>
        </p:spPr>
        <p:txBody>
          <a:bodyPr wrap="square" lIns="0" rIns="0" tIns="0" bIns="0" anchor="t">
            <a:spAutoFit/>
          </a:bodyPr>
          <a:lstStyle/>
          <a:p>
            <a:pPr algn="r"/>
            <a:r>
              <a:rPr b="1" sz="975" i="0" u="none">
                <a:solidFill>
                  <a:srgbClr val="7C3AED"/>
                </a:solidFill>
                <a:latin typeface="Plus Jakarta Sans"/>
              </a:rPr>
              <a:t>Gemini API SDK</a:t>
            </a:r>
          </a:p>
        </p:txBody>
      </p:sp>
      <p:sp>
        <p:nvSpPr>
          <p:cNvPr id="40" name="TextBox 39"/>
          <p:cNvSpPr txBox="1"/>
          <p:nvPr/>
        </p:nvSpPr>
        <p:spPr>
          <a:xfrm>
            <a:off x="9903618" y="4419600"/>
            <a:ext cx="1440656" cy="152400"/>
          </a:xfrm>
          <a:prstGeom prst="rect">
            <a:avLst/>
          </a:prstGeom>
          <a:noFill/>
        </p:spPr>
        <p:txBody>
          <a:bodyPr wrap="none" lIns="0" rIns="0" tIns="0" bIns="0" anchor="t">
            <a:spAutoFit/>
          </a:bodyPr>
          <a:lstStyle/>
          <a:p>
            <a:pPr algn="r"/>
            <a:r>
              <a:rPr b="0" sz="975" i="0" u="none">
                <a:solidFill>
                  <a:srgbClr val="0F172A"/>
                </a:solidFill>
                <a:latin typeface="Plus Jakarta Sans"/>
              </a:rPr>
              <a:t>Timeout: 10s</a:t>
            </a:r>
          </a:p>
        </p:txBody>
      </p:sp>
      <p:sp>
        <p:nvSpPr>
          <p:cNvPr id="41" name="TextBox 40"/>
          <p:cNvSpPr txBox="1"/>
          <p:nvPr/>
        </p:nvSpPr>
        <p:spPr>
          <a:xfrm>
            <a:off x="895350" y="5400675"/>
            <a:ext cx="7905750" cy="361950"/>
          </a:xfrm>
          <a:prstGeom prst="rect">
            <a:avLst/>
          </a:prstGeom>
          <a:noFill/>
        </p:spPr>
        <p:txBody>
          <a:bodyPr wrap="square" lIns="0" rIns="0" tIns="0" bIns="0" anchor="t">
            <a:spAutoFit/>
          </a:bodyPr>
          <a:lstStyle/>
          <a:p>
            <a:pPr algn="l"/>
            <a:r>
              <a:rPr b="0" sz="1125" i="0" u="none">
                <a:solidFill>
                  <a:srgbClr val="64748B"/>
                </a:solidFill>
                <a:latin typeface="Plus Jakarta Sans"/>
              </a:rPr>
              <a:t>PostgreSQL 15+ (Neon Serverless Cloud) • Chuẩn hóa 3NF gồm 14 bảng quan hệ • Giao dịch ACID Transaction toàn vẹn • Hỗ trợ trường JSONB (lịch rảnh, bài tập AI) • Prisma ORM Type-Safe.</a:t>
            </a:r>
          </a:p>
        </p:txBody>
      </p:sp>
      <p:sp>
        <p:nvSpPr>
          <p:cNvPr id="42" name="TextBox 41"/>
          <p:cNvSpPr txBox="1"/>
          <p:nvPr/>
        </p:nvSpPr>
        <p:spPr>
          <a:xfrm>
            <a:off x="10153650" y="5295900"/>
            <a:ext cx="1076325" cy="152400"/>
          </a:xfrm>
          <a:prstGeom prst="rect">
            <a:avLst/>
          </a:prstGeom>
          <a:noFill/>
        </p:spPr>
        <p:txBody>
          <a:bodyPr wrap="square" lIns="0" rIns="0" tIns="0" bIns="0" anchor="t">
            <a:spAutoFit/>
          </a:bodyPr>
          <a:lstStyle/>
          <a:p>
            <a:pPr algn="r"/>
            <a:r>
              <a:rPr b="1" sz="975" i="0" u="none">
                <a:solidFill>
                  <a:srgbClr val="0F172A"/>
                </a:solidFill>
                <a:latin typeface="Plus Jakarta Sans"/>
              </a:rPr>
              <a:t>PostgreSQL 3NF</a:t>
            </a:r>
          </a:p>
        </p:txBody>
      </p:sp>
      <p:sp>
        <p:nvSpPr>
          <p:cNvPr id="43" name="TextBox 42"/>
          <p:cNvSpPr txBox="1"/>
          <p:nvPr/>
        </p:nvSpPr>
        <p:spPr>
          <a:xfrm>
            <a:off x="9832181" y="5495925"/>
            <a:ext cx="1512093" cy="152400"/>
          </a:xfrm>
          <a:prstGeom prst="rect">
            <a:avLst/>
          </a:prstGeom>
          <a:noFill/>
        </p:spPr>
        <p:txBody>
          <a:bodyPr wrap="none" lIns="0" rIns="0" tIns="0" bIns="0" anchor="t">
            <a:spAutoFit/>
          </a:bodyPr>
          <a:lstStyle/>
          <a:p>
            <a:pPr algn="r"/>
            <a:r>
              <a:rPr b="0" sz="975" i="0" u="none">
                <a:solidFill>
                  <a:srgbClr val="0F172A"/>
                </a:solidFill>
                <a:latin typeface="Plus Jakarta Sans"/>
              </a:rPr>
              <a:t>ACID Protection</a:t>
            </a:r>
          </a:p>
        </p:txBody>
      </p:sp>
      <p:sp>
        <p:nvSpPr>
          <p:cNvPr id="44" name="TextBox 43"/>
          <p:cNvSpPr txBox="1"/>
          <p:nvPr/>
        </p:nvSpPr>
        <p:spPr>
          <a:xfrm>
            <a:off x="971550" y="1947862"/>
            <a:ext cx="514350" cy="152400"/>
          </a:xfrm>
          <a:prstGeom prst="rect">
            <a:avLst/>
          </a:prstGeom>
          <a:noFill/>
        </p:spPr>
        <p:txBody>
          <a:bodyPr wrap="square" lIns="0" rIns="0" tIns="0" bIns="0" anchor="t">
            <a:spAutoFit/>
          </a:bodyPr>
          <a:lstStyle/>
          <a:p>
            <a:pPr algn="l"/>
            <a:r>
              <a:rPr b="1" sz="975" i="0" u="none">
                <a:solidFill>
                  <a:srgbClr val="0284C7"/>
                </a:solidFill>
                <a:latin typeface="Plus Jakarta Sans"/>
              </a:rPr>
              <a:t>TẦNG 1</a:t>
            </a:r>
          </a:p>
        </p:txBody>
      </p:sp>
      <p:sp>
        <p:nvSpPr>
          <p:cNvPr id="45" name="TextBox 44"/>
          <p:cNvSpPr txBox="1"/>
          <p:nvPr/>
        </p:nvSpPr>
        <p:spPr>
          <a:xfrm>
            <a:off x="1562100" y="1914525"/>
            <a:ext cx="5100637" cy="219075"/>
          </a:xfrm>
          <a:prstGeom prst="rect">
            <a:avLst/>
          </a:prstGeom>
          <a:noFill/>
        </p:spPr>
        <p:txBody>
          <a:bodyPr wrap="none" lIns="0" rIns="0" tIns="0" bIns="0" anchor="t">
            <a:spAutoFit/>
          </a:bodyPr>
          <a:lstStyle/>
          <a:p>
            <a:pPr algn="l"/>
            <a:r>
              <a:rPr b="1" sz="1350" i="0" u="none">
                <a:solidFill>
                  <a:srgbClr val="0F172A"/>
                </a:solidFill>
                <a:latin typeface="Plus Jakarta Sans"/>
              </a:rPr>
              <a:t>Tầng Giao Diện Người Dùng (Presentation Tier)</a:t>
            </a:r>
          </a:p>
        </p:txBody>
      </p:sp>
      <p:sp>
        <p:nvSpPr>
          <p:cNvPr id="46" name="TextBox 45"/>
          <p:cNvSpPr txBox="1"/>
          <p:nvPr/>
        </p:nvSpPr>
        <p:spPr>
          <a:xfrm>
            <a:off x="971550" y="3024187"/>
            <a:ext cx="542925" cy="152400"/>
          </a:xfrm>
          <a:prstGeom prst="rect">
            <a:avLst/>
          </a:prstGeom>
          <a:noFill/>
        </p:spPr>
        <p:txBody>
          <a:bodyPr wrap="square" lIns="0" rIns="0" tIns="0" bIns="0" anchor="t">
            <a:spAutoFit/>
          </a:bodyPr>
          <a:lstStyle/>
          <a:p>
            <a:pPr algn="l"/>
            <a:r>
              <a:rPr b="1" sz="975" i="0" u="none">
                <a:solidFill>
                  <a:srgbClr val="059669"/>
                </a:solidFill>
                <a:latin typeface="Plus Jakarta Sans"/>
              </a:rPr>
              <a:t>TẦNG 2</a:t>
            </a:r>
          </a:p>
        </p:txBody>
      </p:sp>
      <p:sp>
        <p:nvSpPr>
          <p:cNvPr id="47" name="TextBox 46"/>
          <p:cNvSpPr txBox="1"/>
          <p:nvPr/>
        </p:nvSpPr>
        <p:spPr>
          <a:xfrm>
            <a:off x="1590675" y="2990850"/>
            <a:ext cx="5163145" cy="219075"/>
          </a:xfrm>
          <a:prstGeom prst="rect">
            <a:avLst/>
          </a:prstGeom>
          <a:noFill/>
        </p:spPr>
        <p:txBody>
          <a:bodyPr wrap="none" lIns="0" rIns="0" tIns="0" bIns="0" anchor="t">
            <a:spAutoFit/>
          </a:bodyPr>
          <a:lstStyle/>
          <a:p>
            <a:pPr algn="l"/>
            <a:r>
              <a:rPr b="1" sz="1350" i="0" u="none">
                <a:solidFill>
                  <a:srgbClr val="0F172A"/>
                </a:solidFill>
                <a:latin typeface="Plus Jakarta Sans"/>
              </a:rPr>
              <a:t>Tầng Xử Lý Nghiệp Vụ Cốt Lõi (Application Tier)</a:t>
            </a:r>
          </a:p>
        </p:txBody>
      </p:sp>
      <p:sp>
        <p:nvSpPr>
          <p:cNvPr id="48" name="TextBox 47"/>
          <p:cNvSpPr txBox="1"/>
          <p:nvPr/>
        </p:nvSpPr>
        <p:spPr>
          <a:xfrm>
            <a:off x="971550" y="4100512"/>
            <a:ext cx="542925" cy="152400"/>
          </a:xfrm>
          <a:prstGeom prst="rect">
            <a:avLst/>
          </a:prstGeom>
          <a:noFill/>
        </p:spPr>
        <p:txBody>
          <a:bodyPr wrap="square" lIns="0" rIns="0" tIns="0" bIns="0" anchor="t">
            <a:spAutoFit/>
          </a:bodyPr>
          <a:lstStyle/>
          <a:p>
            <a:pPr algn="l"/>
            <a:r>
              <a:rPr b="1" sz="975" i="0" u="none">
                <a:solidFill>
                  <a:srgbClr val="7C3AED"/>
                </a:solidFill>
                <a:latin typeface="Plus Jakarta Sans"/>
              </a:rPr>
              <a:t>TẦNG 3</a:t>
            </a:r>
          </a:p>
        </p:txBody>
      </p:sp>
      <p:sp>
        <p:nvSpPr>
          <p:cNvPr id="49" name="TextBox 48"/>
          <p:cNvSpPr txBox="1"/>
          <p:nvPr/>
        </p:nvSpPr>
        <p:spPr>
          <a:xfrm>
            <a:off x="1590675" y="4067175"/>
            <a:ext cx="5500687" cy="219075"/>
          </a:xfrm>
          <a:prstGeom prst="rect">
            <a:avLst/>
          </a:prstGeom>
          <a:noFill/>
        </p:spPr>
        <p:txBody>
          <a:bodyPr wrap="none" lIns="0" rIns="0" tIns="0" bIns="0" anchor="t">
            <a:spAutoFit/>
          </a:bodyPr>
          <a:lstStyle/>
          <a:p>
            <a:pPr algn="l"/>
            <a:r>
              <a:rPr b="1" sz="1350" i="0" u="none">
                <a:solidFill>
                  <a:srgbClr val="0F172A"/>
                </a:solidFill>
                <a:latin typeface="Plus Jakarta Sans"/>
              </a:rPr>
              <a:t>Tầng Dịch Vụ Trí Tuệ Nhân Tạo (External GenAI Tier)</a:t>
            </a:r>
          </a:p>
        </p:txBody>
      </p:sp>
      <p:sp>
        <p:nvSpPr>
          <p:cNvPr id="50" name="TextBox 49"/>
          <p:cNvSpPr txBox="1"/>
          <p:nvPr/>
        </p:nvSpPr>
        <p:spPr>
          <a:xfrm>
            <a:off x="971550" y="5176837"/>
            <a:ext cx="552450" cy="152400"/>
          </a:xfrm>
          <a:prstGeom prst="rect">
            <a:avLst/>
          </a:prstGeom>
          <a:noFill/>
        </p:spPr>
        <p:txBody>
          <a:bodyPr wrap="square" lIns="0" rIns="0" tIns="0" bIns="0" anchor="t">
            <a:spAutoFit/>
          </a:bodyPr>
          <a:lstStyle/>
          <a:p>
            <a:pPr algn="l"/>
            <a:r>
              <a:rPr b="1" sz="975" i="0" u="none">
                <a:solidFill>
                  <a:srgbClr val="0F172A"/>
                </a:solidFill>
                <a:latin typeface="Plus Jakarta Sans"/>
              </a:rPr>
              <a:t>TẦNG 4</a:t>
            </a:r>
          </a:p>
        </p:txBody>
      </p:sp>
      <p:sp>
        <p:nvSpPr>
          <p:cNvPr id="51" name="TextBox 50"/>
          <p:cNvSpPr txBox="1"/>
          <p:nvPr/>
        </p:nvSpPr>
        <p:spPr>
          <a:xfrm>
            <a:off x="1600200" y="5143500"/>
            <a:ext cx="4413051" cy="219075"/>
          </a:xfrm>
          <a:prstGeom prst="rect">
            <a:avLst/>
          </a:prstGeom>
          <a:noFill/>
        </p:spPr>
        <p:txBody>
          <a:bodyPr wrap="none" lIns="0" rIns="0" tIns="0" bIns="0" anchor="t">
            <a:spAutoFit/>
          </a:bodyPr>
          <a:lstStyle/>
          <a:p>
            <a:pPr algn="l"/>
            <a:r>
              <a:rPr b="1" sz="1350" i="0" u="none">
                <a:solidFill>
                  <a:srgbClr val="0F172A"/>
                </a:solidFill>
                <a:latin typeface="Plus Jakarta Sans"/>
              </a:rPr>
              <a:t>Tầng Lưu Trữ &amp; Quản Trị CSDL (Data Tier)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609600" y="1724025"/>
            <a:ext cx="10972800" cy="4171950"/>
          </a:xfrm>
          <a:prstGeom prst="roundRect">
            <a:avLst>
              <a:gd name="adj" fmla="val 0"/>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3" name="Table 2"/>
          <p:cNvGraphicFramePr>
            <a:graphicFrameLocks noGrp="1"/>
          </p:cNvGraphicFramePr>
          <p:nvPr/>
        </p:nvGraphicFramePr>
        <p:xfrm>
          <a:off x="609600" y="1724025"/>
          <a:ext cx="10963275" cy="4171950"/>
        </p:xfrm>
        <a:graphic>
          <a:graphicData uri="http://schemas.openxmlformats.org/drawingml/2006/table">
            <a:tbl>
              <a:tblPr firstRow="0" bandRow="0">
                <a:lnL>
                  <a:noFill/>
                </a:lnL>
                <a:lnR>
                  <a:noFill/>
                </a:lnR>
                <a:lnT>
                  <a:noFill/>
                </a:lnT>
                <a:lnB>
                  <a:noFill/>
                </a:lnB>
                <a:lnV>
                  <a:noFill/>
                </a:lnV>
                <a:lnH>
                  <a:noFill/>
                </a:lnH>
              </a:tblPr>
              <a:tblGrid>
                <a:gridCol w="809625"/>
                <a:gridCol w="2190750"/>
                <a:gridCol w="1619250"/>
                <a:gridCol w="5486400"/>
                <a:gridCol w="857250"/>
              </a:tblGrid>
              <a:tr h="347662">
                <a:tc>
                  <a:txBody>
                    <a:bodyPr/>
                    <a:lstStyle/>
                    <a:p>
                      <a:pPr algn="l"/>
                      <a:r>
                        <a:rPr b="1" sz="1050" i="0" u="none">
                          <a:solidFill>
                            <a:srgbClr val="FFFFFF"/>
                          </a:solidFill>
                          <a:latin typeface="Plus Jakarta Sans"/>
                        </a:rPr>
                        <a:t>Mã UC</a:t>
                      </a:r>
                    </a:p>
                  </a:txBody>
                  <a:tcPr anchor="ctr" marL="63500" marR="63500" marT="25400" marB="25400">
                    <a:lnL>
                      <a:noFill/>
                    </a:lnL>
                    <a:lnR>
                      <a:noFill/>
                    </a:lnR>
                    <a:lnT>
                      <a:noFill/>
                    </a:lnT>
                    <a:lnB>
                      <a:noFill/>
                    </a:lnB>
                    <a:solidFill>
                      <a:srgbClr val="0F172A"/>
                    </a:solidFill>
                  </a:tcPr>
                </a:tc>
                <a:tc>
                  <a:txBody>
                    <a:bodyPr/>
                    <a:lstStyle/>
                    <a:p>
                      <a:pPr algn="l"/>
                      <a:r>
                        <a:rPr b="1" sz="1050" i="0" u="none">
                          <a:solidFill>
                            <a:srgbClr val="FFFFFF"/>
                          </a:solidFill>
                          <a:latin typeface="Plus Jakarta Sans"/>
                        </a:rPr>
                        <a:t>Tên Use Case Nghiệp Vụ</a:t>
                      </a:r>
                    </a:p>
                  </a:txBody>
                  <a:tcPr anchor="ctr" marL="63500" marR="63500" marT="25400" marB="25400">
                    <a:lnL>
                      <a:noFill/>
                    </a:lnL>
                    <a:lnR>
                      <a:noFill/>
                    </a:lnR>
                    <a:lnT>
                      <a:noFill/>
                    </a:lnT>
                    <a:lnB>
                      <a:noFill/>
                    </a:lnB>
                    <a:solidFill>
                      <a:srgbClr val="0F172A"/>
                    </a:solidFill>
                  </a:tcPr>
                </a:tc>
                <a:tc>
                  <a:txBody>
                    <a:bodyPr/>
                    <a:lstStyle/>
                    <a:p>
                      <a:pPr algn="l"/>
                      <a:r>
                        <a:rPr b="1" sz="1050" i="0" u="none">
                          <a:solidFill>
                            <a:srgbClr val="FFFFFF"/>
                          </a:solidFill>
                          <a:latin typeface="Plus Jakarta Sans"/>
                        </a:rPr>
                        <a:t>Tác Nhân Phụ Trách</a:t>
                      </a:r>
                    </a:p>
                  </a:txBody>
                  <a:tcPr anchor="ctr" marL="63500" marR="63500" marT="25400" marB="25400">
                    <a:lnL>
                      <a:noFill/>
                    </a:lnL>
                    <a:lnR>
                      <a:noFill/>
                    </a:lnR>
                    <a:lnT>
                      <a:noFill/>
                    </a:lnT>
                    <a:lnB>
                      <a:noFill/>
                    </a:lnB>
                    <a:solidFill>
                      <a:srgbClr val="0F172A"/>
                    </a:solidFill>
                  </a:tcPr>
                </a:tc>
                <a:tc>
                  <a:txBody>
                    <a:bodyPr/>
                    <a:lstStyle/>
                    <a:p>
                      <a:pPr algn="l"/>
                      <a:r>
                        <a:rPr b="1" sz="1050" i="0" u="none">
                          <a:solidFill>
                            <a:srgbClr val="FFFFFF"/>
                          </a:solidFill>
                          <a:latin typeface="Plus Jakarta Sans"/>
                        </a:rPr>
                        <a:t>Quy Tắc Nghiệp Vụ &amp; Ràng Buộc Cốt Lõi</a:t>
                      </a:r>
                    </a:p>
                  </a:txBody>
                  <a:tcPr anchor="ctr" marL="63500" marR="63500" marT="25400" marB="25400">
                    <a:lnL>
                      <a:noFill/>
                    </a:lnL>
                    <a:lnR>
                      <a:noFill/>
                    </a:lnR>
                    <a:lnT>
                      <a:noFill/>
                    </a:lnT>
                    <a:lnB>
                      <a:noFill/>
                    </a:lnB>
                    <a:solidFill>
                      <a:srgbClr val="0F172A"/>
                    </a:solidFill>
                  </a:tcPr>
                </a:tc>
                <a:tc>
                  <a:txBody>
                    <a:bodyPr/>
                    <a:lstStyle/>
                    <a:p>
                      <a:pPr algn="ctr"/>
                      <a:r>
                        <a:rPr b="1" sz="1050" i="0" u="none">
                          <a:solidFill>
                            <a:srgbClr val="FFFFFF"/>
                          </a:solidFill>
                          <a:latin typeface="Plus Jakarta Sans"/>
                        </a:rPr>
                        <a:t>Ánh Xạ</a:t>
                      </a:r>
                    </a:p>
                  </a:txBody>
                  <a:tcPr anchor="ctr" marL="63500" marR="63500" marT="25400" marB="25400">
                    <a:lnL>
                      <a:noFill/>
                    </a:lnL>
                    <a:lnR>
                      <a:noFill/>
                    </a:lnR>
                    <a:lnT>
                      <a:noFill/>
                    </a:lnT>
                    <a:lnB>
                      <a:noFill/>
                    </a:lnB>
                    <a:solidFill>
                      <a:srgbClr val="0F172A"/>
                    </a:solidFill>
                  </a:tcPr>
                </a:tc>
              </a:tr>
              <a:tr h="347662">
                <a:tc>
                  <a:txBody>
                    <a:bodyPr/>
                    <a:lstStyle/>
                    <a:p>
                      <a:pPr algn="l"/>
                      <a:r>
                        <a:rPr b="1" sz="1050" i="0" u="none">
                          <a:solidFill>
                            <a:srgbClr val="0284C7"/>
                          </a:solidFill>
                          <a:latin typeface="Plus Jakarta Sans"/>
                        </a:rPr>
                        <a:t>UC001</a:t>
                      </a:r>
                    </a:p>
                  </a:txBody>
                  <a:tcPr anchor="ctr" marL="63500" marR="63500" marT="25400" marB="25400">
                    <a:lnL>
                      <a:noFill/>
                    </a:lnL>
                    <a:lnR>
                      <a:noFill/>
                    </a:lnR>
                    <a:lnT>
                      <a:noFill/>
                    </a:lnT>
                    <a:lnB>
                      <a:noFill/>
                    </a:lnB>
                    <a:solidFill>
                      <a:srgbClr val="FFFFFF"/>
                    </a:solidFill>
                  </a:tcPr>
                </a:tc>
                <a:tc>
                  <a:txBody>
                    <a:bodyPr/>
                    <a:lstStyle/>
                    <a:p>
                      <a:pPr algn="l"/>
                      <a:r>
                        <a:rPr b="1" sz="1050" i="0" u="none">
                          <a:solidFill>
                            <a:srgbClr val="000000"/>
                          </a:solidFill>
                          <a:latin typeface="Plus Jakarta Sans"/>
                        </a:rPr>
                        <a:t>Đăng nhập &amp; Phân quyền</a:t>
                      </a:r>
                    </a:p>
                  </a:txBody>
                  <a:tcPr anchor="ctr" marL="63500" marR="63500" marT="25400" marB="25400">
                    <a:lnL>
                      <a:noFill/>
                    </a:lnL>
                    <a:lnR>
                      <a:noFill/>
                    </a:lnR>
                    <a:lnT>
                      <a:noFill/>
                    </a:lnT>
                    <a:lnB>
                      <a:noFill/>
                    </a:lnB>
                    <a:solidFill>
                      <a:srgbClr val="FFFFFF"/>
                    </a:solidFill>
                  </a:tcPr>
                </a:tc>
                <a:tc>
                  <a:txBody>
                    <a:bodyPr/>
                    <a:lstStyle/>
                    <a:p>
                      <a:pPr algn="l"/>
                      <a:r>
                        <a:rPr b="0" sz="1050" i="0" u="none">
                          <a:solidFill>
                            <a:srgbClr val="64748B"/>
                          </a:solidFill>
                          <a:latin typeface="Plus Jakarta Sans"/>
                        </a:rPr>
                        <a:t>Tất cả 4 vai trò</a:t>
                      </a:r>
                    </a:p>
                  </a:txBody>
                  <a:tcPr anchor="ctr" marL="63500" marR="63500" marT="25400" marB="25400">
                    <a:lnL>
                      <a:noFill/>
                    </a:lnL>
                    <a:lnR>
                      <a:noFill/>
                    </a:lnR>
                    <a:lnT>
                      <a:noFill/>
                    </a:lnT>
                    <a:lnB>
                      <a:noFill/>
                    </a:lnB>
                    <a:solidFill>
                      <a:srgbClr val="FFFFFF"/>
                    </a:solidFill>
                  </a:tcPr>
                </a:tc>
                <a:tc>
                  <a:txBody>
                    <a:bodyPr/>
                    <a:lstStyle/>
                    <a:p>
                      <a:pPr algn="l"/>
                      <a:r>
                        <a:rPr b="0" sz="1050" i="0" u="none">
                          <a:solidFill>
                            <a:srgbClr val="000000"/>
                          </a:solidFill>
                          <a:latin typeface="Plus Jakarta Sans"/>
                        </a:rPr>
                        <a:t>Xác thực Argon2 hash, cấp JWT Token; điều hướng Dashboard tương ứng.</a:t>
                      </a:r>
                    </a:p>
                  </a:txBody>
                  <a:tcPr anchor="ctr" marL="63500" marR="63500" marT="25400" marB="25400">
                    <a:lnL>
                      <a:noFill/>
                    </a:lnL>
                    <a:lnR>
                      <a:noFill/>
                    </a:lnR>
                    <a:lnT>
                      <a:noFill/>
                    </a:lnT>
                    <a:lnB>
                      <a:noFill/>
                    </a:lnB>
                    <a:solidFill>
                      <a:srgbClr val="FFFFFF"/>
                    </a:solidFill>
                  </a:tcPr>
                </a:tc>
                <a:tc>
                  <a:txBody>
                    <a:bodyPr/>
                    <a:lstStyle/>
                    <a:p>
                      <a:pPr algn="ctr"/>
                      <a:r>
                        <a:rPr b="1" sz="1050" i="0" u="none">
                          <a:solidFill>
                            <a:srgbClr val="0284C7"/>
                          </a:solidFill>
                          <a:latin typeface="Plus Jakarta Sans"/>
                        </a:rPr>
                        <a:t>FR-001</a:t>
                      </a:r>
                    </a:p>
                  </a:txBody>
                  <a:tcPr anchor="ctr" marL="63500" marR="63500" marT="25400" marB="25400">
                    <a:lnL>
                      <a:noFill/>
                    </a:lnL>
                    <a:lnR>
                      <a:noFill/>
                    </a:lnR>
                    <a:lnT>
                      <a:noFill/>
                    </a:lnT>
                    <a:lnB>
                      <a:noFill/>
                    </a:lnB>
                    <a:solidFill>
                      <a:srgbClr val="FFFFFF"/>
                    </a:solidFill>
                  </a:tcPr>
                </a:tc>
              </a:tr>
              <a:tr h="347662">
                <a:tc>
                  <a:txBody>
                    <a:bodyPr/>
                    <a:lstStyle/>
                    <a:p>
                      <a:pPr algn="l"/>
                      <a:r>
                        <a:rPr b="1" sz="1050" i="0" u="none">
                          <a:solidFill>
                            <a:srgbClr val="0284C7"/>
                          </a:solidFill>
                          <a:latin typeface="Plus Jakarta Sans"/>
                        </a:rPr>
                        <a:t>UC002</a:t>
                      </a:r>
                    </a:p>
                  </a:txBody>
                  <a:tcPr anchor="ctr" marL="63500" marR="63500" marT="25400" marB="25400">
                    <a:lnL>
                      <a:noFill/>
                    </a:lnL>
                    <a:lnR>
                      <a:noFill/>
                    </a:lnR>
                    <a:lnT>
                      <a:noFill/>
                    </a:lnT>
                    <a:lnB>
                      <a:noFill/>
                    </a:lnB>
                    <a:solidFill>
                      <a:srgbClr val="FAFAFA"/>
                    </a:solidFill>
                  </a:tcPr>
                </a:tc>
                <a:tc>
                  <a:txBody>
                    <a:bodyPr/>
                    <a:lstStyle/>
                    <a:p>
                      <a:pPr algn="l"/>
                      <a:r>
                        <a:rPr b="1" sz="1050" i="0" u="none">
                          <a:solidFill>
                            <a:srgbClr val="000000"/>
                          </a:solidFill>
                          <a:latin typeface="Plus Jakarta Sans"/>
                        </a:rPr>
                        <a:t>Quản lý học viên &amp; CEFR</a:t>
                      </a:r>
                    </a:p>
                  </a:txBody>
                  <a:tcPr anchor="ctr" marL="63500" marR="63500" marT="25400" marB="25400">
                    <a:lnL>
                      <a:noFill/>
                    </a:lnL>
                    <a:lnR>
                      <a:noFill/>
                    </a:lnR>
                    <a:lnT>
                      <a:noFill/>
                    </a:lnT>
                    <a:lnB>
                      <a:noFill/>
                    </a:lnB>
                    <a:solidFill>
                      <a:srgbClr val="FAFAFA"/>
                    </a:solidFill>
                  </a:tcPr>
                </a:tc>
                <a:tc>
                  <a:txBody>
                    <a:bodyPr/>
                    <a:lstStyle/>
                    <a:p>
                      <a:pPr algn="l"/>
                      <a:r>
                        <a:rPr b="0" sz="1050" i="0" u="none">
                          <a:solidFill>
                            <a:srgbClr val="64748B"/>
                          </a:solidFill>
                          <a:latin typeface="Plus Jakarta Sans"/>
                        </a:rPr>
                        <a:t>Quản lý, Tư vấn viên</a:t>
                      </a:r>
                    </a:p>
                  </a:txBody>
                  <a:tcPr anchor="ctr" marL="63500" marR="63500" marT="25400" marB="25400">
                    <a:lnL>
                      <a:noFill/>
                    </a:lnL>
                    <a:lnR>
                      <a:noFill/>
                    </a:lnR>
                    <a:lnT>
                      <a:noFill/>
                    </a:lnT>
                    <a:lnB>
                      <a:noFill/>
                    </a:lnB>
                    <a:solidFill>
                      <a:srgbClr val="FAFAFA"/>
                    </a:solidFill>
                  </a:tcPr>
                </a:tc>
                <a:tc>
                  <a:txBody>
                    <a:bodyPr/>
                    <a:lstStyle/>
                    <a:p>
                      <a:pPr algn="l"/>
                      <a:r>
                        <a:rPr b="0" sz="1050" i="0" u="none">
                          <a:solidFill>
                            <a:srgbClr val="000000"/>
                          </a:solidFill>
                          <a:latin typeface="Plus Jakarta Sans"/>
                        </a:rPr>
                        <a:t>Lưu mã HV, họ tên, chuẩn CEFR (A1-C2), mảng JSON lịch rảnh trong tuần.</a:t>
                      </a:r>
                    </a:p>
                  </a:txBody>
                  <a:tcPr anchor="ctr" marL="63500" marR="63500" marT="25400" marB="25400">
                    <a:lnL>
                      <a:noFill/>
                    </a:lnL>
                    <a:lnR>
                      <a:noFill/>
                    </a:lnR>
                    <a:lnT>
                      <a:noFill/>
                    </a:lnT>
                    <a:lnB>
                      <a:noFill/>
                    </a:lnB>
                    <a:solidFill>
                      <a:srgbClr val="FAFAFA"/>
                    </a:solidFill>
                  </a:tcPr>
                </a:tc>
                <a:tc>
                  <a:txBody>
                    <a:bodyPr/>
                    <a:lstStyle/>
                    <a:p>
                      <a:pPr algn="ctr"/>
                      <a:r>
                        <a:rPr b="1" sz="1050" i="0" u="none">
                          <a:solidFill>
                            <a:srgbClr val="0284C7"/>
                          </a:solidFill>
                          <a:latin typeface="Plus Jakarta Sans"/>
                        </a:rPr>
                        <a:t>FR-002</a:t>
                      </a:r>
                    </a:p>
                  </a:txBody>
                  <a:tcPr anchor="ctr" marL="63500" marR="63500" marT="25400" marB="25400">
                    <a:lnL>
                      <a:noFill/>
                    </a:lnL>
                    <a:lnR>
                      <a:noFill/>
                    </a:lnR>
                    <a:lnT>
                      <a:noFill/>
                    </a:lnT>
                    <a:lnB>
                      <a:noFill/>
                    </a:lnB>
                    <a:solidFill>
                      <a:srgbClr val="FAFAFA"/>
                    </a:solidFill>
                  </a:tcPr>
                </a:tc>
              </a:tr>
              <a:tr h="347662">
                <a:tc>
                  <a:txBody>
                    <a:bodyPr/>
                    <a:lstStyle/>
                    <a:p>
                      <a:pPr algn="l"/>
                      <a:r>
                        <a:rPr b="1" sz="1050" i="0" u="none">
                          <a:solidFill>
                            <a:srgbClr val="0284C7"/>
                          </a:solidFill>
                          <a:latin typeface="Plus Jakarta Sans"/>
                        </a:rPr>
                        <a:t>UC003</a:t>
                      </a:r>
                    </a:p>
                  </a:txBody>
                  <a:tcPr anchor="ctr" marL="63500" marR="63500" marT="25400" marB="25400">
                    <a:lnL>
                      <a:noFill/>
                    </a:lnL>
                    <a:lnR>
                      <a:noFill/>
                    </a:lnR>
                    <a:lnT>
                      <a:noFill/>
                    </a:lnT>
                    <a:lnB>
                      <a:noFill/>
                    </a:lnB>
                    <a:solidFill>
                      <a:srgbClr val="FFFFFF"/>
                    </a:solidFill>
                  </a:tcPr>
                </a:tc>
                <a:tc>
                  <a:txBody>
                    <a:bodyPr/>
                    <a:lstStyle/>
                    <a:p>
                      <a:pPr algn="l"/>
                      <a:r>
                        <a:rPr b="1" sz="1050" i="0" u="none">
                          <a:solidFill>
                            <a:srgbClr val="000000"/>
                          </a:solidFill>
                          <a:latin typeface="Plus Jakarta Sans"/>
                        </a:rPr>
                        <a:t>Quản lý khóa học</a:t>
                      </a:r>
                    </a:p>
                  </a:txBody>
                  <a:tcPr anchor="ctr" marL="63500" marR="63500" marT="25400" marB="25400">
                    <a:lnL>
                      <a:noFill/>
                    </a:lnL>
                    <a:lnR>
                      <a:noFill/>
                    </a:lnR>
                    <a:lnT>
                      <a:noFill/>
                    </a:lnT>
                    <a:lnB>
                      <a:noFill/>
                    </a:lnB>
                    <a:solidFill>
                      <a:srgbClr val="FFFFFF"/>
                    </a:solidFill>
                  </a:tcPr>
                </a:tc>
                <a:tc>
                  <a:txBody>
                    <a:bodyPr/>
                    <a:lstStyle/>
                    <a:p>
                      <a:pPr algn="l"/>
                      <a:r>
                        <a:rPr b="0" sz="1050" i="0" u="none">
                          <a:solidFill>
                            <a:srgbClr val="64748B"/>
                          </a:solidFill>
                          <a:latin typeface="Plus Jakarta Sans"/>
                        </a:rPr>
                        <a:t>Người Quản lý</a:t>
                      </a:r>
                    </a:p>
                  </a:txBody>
                  <a:tcPr anchor="ctr" marL="63500" marR="63500" marT="25400" marB="25400">
                    <a:lnL>
                      <a:noFill/>
                    </a:lnL>
                    <a:lnR>
                      <a:noFill/>
                    </a:lnR>
                    <a:lnT>
                      <a:noFill/>
                    </a:lnT>
                    <a:lnB>
                      <a:noFill/>
                    </a:lnB>
                    <a:solidFill>
                      <a:srgbClr val="FFFFFF"/>
                    </a:solidFill>
                  </a:tcPr>
                </a:tc>
                <a:tc>
                  <a:txBody>
                    <a:bodyPr/>
                    <a:lstStyle/>
                    <a:p>
                      <a:pPr algn="l"/>
                      <a:r>
                        <a:rPr b="0" sz="1050" i="0" u="none">
                          <a:solidFill>
                            <a:srgbClr val="000000"/>
                          </a:solidFill>
                          <a:latin typeface="Plus Jakarta Sans"/>
                        </a:rPr>
                        <a:t>Thiết lập đề cương chuẩn, mã duy nhất, học phí niêm yết, thời lượng (giờ).</a:t>
                      </a:r>
                    </a:p>
                  </a:txBody>
                  <a:tcPr anchor="ctr" marL="63500" marR="63500" marT="25400" marB="25400">
                    <a:lnL>
                      <a:noFill/>
                    </a:lnL>
                    <a:lnR>
                      <a:noFill/>
                    </a:lnR>
                    <a:lnT>
                      <a:noFill/>
                    </a:lnT>
                    <a:lnB>
                      <a:noFill/>
                    </a:lnB>
                    <a:solidFill>
                      <a:srgbClr val="FFFFFF"/>
                    </a:solidFill>
                  </a:tcPr>
                </a:tc>
                <a:tc>
                  <a:txBody>
                    <a:bodyPr/>
                    <a:lstStyle/>
                    <a:p>
                      <a:pPr algn="ctr"/>
                      <a:r>
                        <a:rPr b="1" sz="1050" i="0" u="none">
                          <a:solidFill>
                            <a:srgbClr val="0284C7"/>
                          </a:solidFill>
                          <a:latin typeface="Plus Jakarta Sans"/>
                        </a:rPr>
                        <a:t>FR-003</a:t>
                      </a:r>
                    </a:p>
                  </a:txBody>
                  <a:tcPr anchor="ctr" marL="63500" marR="63500" marT="25400" marB="25400">
                    <a:lnL>
                      <a:noFill/>
                    </a:lnL>
                    <a:lnR>
                      <a:noFill/>
                    </a:lnR>
                    <a:lnT>
                      <a:noFill/>
                    </a:lnT>
                    <a:lnB>
                      <a:noFill/>
                    </a:lnB>
                    <a:solidFill>
                      <a:srgbClr val="FFFFFF"/>
                    </a:solidFill>
                  </a:tcPr>
                </a:tc>
              </a:tr>
              <a:tr h="347662">
                <a:tc>
                  <a:txBody>
                    <a:bodyPr/>
                    <a:lstStyle/>
                    <a:p>
                      <a:pPr algn="l"/>
                      <a:r>
                        <a:rPr b="1" sz="1050" i="0" u="none">
                          <a:solidFill>
                            <a:srgbClr val="0284C7"/>
                          </a:solidFill>
                          <a:latin typeface="Plus Jakarta Sans"/>
                        </a:rPr>
                        <a:t>UC004</a:t>
                      </a:r>
                    </a:p>
                  </a:txBody>
                  <a:tcPr anchor="ctr" marL="63500" marR="63500" marT="25400" marB="25400">
                    <a:lnL>
                      <a:noFill/>
                    </a:lnL>
                    <a:lnR>
                      <a:noFill/>
                    </a:lnR>
                    <a:lnT>
                      <a:noFill/>
                    </a:lnT>
                    <a:lnB>
                      <a:noFill/>
                    </a:lnB>
                    <a:solidFill>
                      <a:srgbClr val="FAFAFA"/>
                    </a:solidFill>
                  </a:tcPr>
                </a:tc>
                <a:tc>
                  <a:txBody>
                    <a:bodyPr/>
                    <a:lstStyle/>
                    <a:p>
                      <a:pPr algn="l"/>
                      <a:r>
                        <a:rPr b="1" sz="1050" i="0" u="none">
                          <a:solidFill>
                            <a:srgbClr val="000000"/>
                          </a:solidFill>
                          <a:latin typeface="Plus Jakarta Sans"/>
                        </a:rPr>
                        <a:t>Quản lý lớp &amp; Lịch học</a:t>
                      </a:r>
                    </a:p>
                  </a:txBody>
                  <a:tcPr anchor="ctr" marL="63500" marR="63500" marT="25400" marB="25400">
                    <a:lnL>
                      <a:noFill/>
                    </a:lnL>
                    <a:lnR>
                      <a:noFill/>
                    </a:lnR>
                    <a:lnT>
                      <a:noFill/>
                    </a:lnT>
                    <a:lnB>
                      <a:noFill/>
                    </a:lnB>
                    <a:solidFill>
                      <a:srgbClr val="FAFAFA"/>
                    </a:solidFill>
                  </a:tcPr>
                </a:tc>
                <a:tc>
                  <a:txBody>
                    <a:bodyPr/>
                    <a:lstStyle/>
                    <a:p>
                      <a:pPr algn="l"/>
                      <a:r>
                        <a:rPr b="0" sz="1050" i="0" u="none">
                          <a:solidFill>
                            <a:srgbClr val="64748B"/>
                          </a:solidFill>
                          <a:latin typeface="Plus Jakarta Sans"/>
                        </a:rPr>
                        <a:t>Người Quản lý</a:t>
                      </a:r>
                    </a:p>
                  </a:txBody>
                  <a:tcPr anchor="ctr" marL="63500" marR="63500" marT="25400" marB="25400">
                    <a:lnL>
                      <a:noFill/>
                    </a:lnL>
                    <a:lnR>
                      <a:noFill/>
                    </a:lnR>
                    <a:lnT>
                      <a:noFill/>
                    </a:lnT>
                    <a:lnB>
                      <a:noFill/>
                    </a:lnB>
                    <a:solidFill>
                      <a:srgbClr val="FAFAFA"/>
                    </a:solidFill>
                  </a:tcPr>
                </a:tc>
                <a:tc>
                  <a:txBody>
                    <a:bodyPr/>
                    <a:lstStyle/>
                    <a:p>
                      <a:pPr algn="l"/>
                      <a:r>
                        <a:rPr b="0" sz="1050" i="0" u="none">
                          <a:solidFill>
                            <a:srgbClr val="000000"/>
                          </a:solidFill>
                          <a:latin typeface="Plus Jakarta Sans"/>
                        </a:rPr>
                        <a:t>Khống chế sĩ số 1-25; thuật toán kiểm tra chống trùng phòng và ca học.</a:t>
                      </a:r>
                    </a:p>
                  </a:txBody>
                  <a:tcPr anchor="ctr" marL="63500" marR="63500" marT="25400" marB="25400">
                    <a:lnL>
                      <a:noFill/>
                    </a:lnL>
                    <a:lnR>
                      <a:noFill/>
                    </a:lnR>
                    <a:lnT>
                      <a:noFill/>
                    </a:lnT>
                    <a:lnB>
                      <a:noFill/>
                    </a:lnB>
                    <a:solidFill>
                      <a:srgbClr val="FAFAFA"/>
                    </a:solidFill>
                  </a:tcPr>
                </a:tc>
                <a:tc>
                  <a:txBody>
                    <a:bodyPr/>
                    <a:lstStyle/>
                    <a:p>
                      <a:pPr algn="ctr"/>
                      <a:r>
                        <a:rPr b="1" sz="1050" i="0" u="none">
                          <a:solidFill>
                            <a:srgbClr val="0284C7"/>
                          </a:solidFill>
                          <a:latin typeface="Plus Jakarta Sans"/>
                        </a:rPr>
                        <a:t>FR-004</a:t>
                      </a:r>
                    </a:p>
                  </a:txBody>
                  <a:tcPr anchor="ctr" marL="63500" marR="63500" marT="25400" marB="25400">
                    <a:lnL>
                      <a:noFill/>
                    </a:lnL>
                    <a:lnR>
                      <a:noFill/>
                    </a:lnR>
                    <a:lnT>
                      <a:noFill/>
                    </a:lnT>
                    <a:lnB>
                      <a:noFill/>
                    </a:lnB>
                    <a:solidFill>
                      <a:srgbClr val="FAFAFA"/>
                    </a:solidFill>
                  </a:tcPr>
                </a:tc>
              </a:tr>
              <a:tr h="347662">
                <a:tc>
                  <a:txBody>
                    <a:bodyPr/>
                    <a:lstStyle/>
                    <a:p>
                      <a:pPr algn="l"/>
                      <a:r>
                        <a:rPr b="1" sz="1050" i="0" u="none">
                          <a:solidFill>
                            <a:srgbClr val="0284C7"/>
                          </a:solidFill>
                          <a:latin typeface="Plus Jakarta Sans"/>
                        </a:rPr>
                        <a:t>UC005</a:t>
                      </a:r>
                    </a:p>
                  </a:txBody>
                  <a:tcPr anchor="ctr" marL="63500" marR="63500" marT="25400" marB="25400">
                    <a:lnL>
                      <a:noFill/>
                    </a:lnL>
                    <a:lnR>
                      <a:noFill/>
                    </a:lnR>
                    <a:lnT>
                      <a:noFill/>
                    </a:lnT>
                    <a:lnB>
                      <a:noFill/>
                    </a:lnB>
                    <a:solidFill>
                      <a:srgbClr val="FFFFFF"/>
                    </a:solidFill>
                  </a:tcPr>
                </a:tc>
                <a:tc>
                  <a:txBody>
                    <a:bodyPr/>
                    <a:lstStyle/>
                    <a:p>
                      <a:pPr algn="l"/>
                      <a:r>
                        <a:rPr b="1" sz="1050" i="0" u="none">
                          <a:solidFill>
                            <a:srgbClr val="000000"/>
                          </a:solidFill>
                          <a:latin typeface="Plus Jakarta Sans"/>
                        </a:rPr>
                        <a:t>Phân công giáo viên</a:t>
                      </a:r>
                    </a:p>
                  </a:txBody>
                  <a:tcPr anchor="ctr" marL="63500" marR="63500" marT="25400" marB="25400">
                    <a:lnL>
                      <a:noFill/>
                    </a:lnL>
                    <a:lnR>
                      <a:noFill/>
                    </a:lnR>
                    <a:lnT>
                      <a:noFill/>
                    </a:lnT>
                    <a:lnB>
                      <a:noFill/>
                    </a:lnB>
                    <a:solidFill>
                      <a:srgbClr val="FFFFFF"/>
                    </a:solidFill>
                  </a:tcPr>
                </a:tc>
                <a:tc>
                  <a:txBody>
                    <a:bodyPr/>
                    <a:lstStyle/>
                    <a:p>
                      <a:pPr algn="l"/>
                      <a:r>
                        <a:rPr b="0" sz="1050" i="0" u="none">
                          <a:solidFill>
                            <a:srgbClr val="64748B"/>
                          </a:solidFill>
                          <a:latin typeface="Plus Jakarta Sans"/>
                        </a:rPr>
                        <a:t>Người Quản lý</a:t>
                      </a:r>
                    </a:p>
                  </a:txBody>
                  <a:tcPr anchor="ctr" marL="63500" marR="63500" marT="25400" marB="25400">
                    <a:lnL>
                      <a:noFill/>
                    </a:lnL>
                    <a:lnR>
                      <a:noFill/>
                    </a:lnR>
                    <a:lnT>
                      <a:noFill/>
                    </a:lnT>
                    <a:lnB>
                      <a:noFill/>
                    </a:lnB>
                    <a:solidFill>
                      <a:srgbClr val="FFFFFF"/>
                    </a:solidFill>
                  </a:tcPr>
                </a:tc>
                <a:tc>
                  <a:txBody>
                    <a:bodyPr/>
                    <a:lstStyle/>
                    <a:p>
                      <a:pPr algn="l"/>
                      <a:r>
                        <a:rPr b="0" sz="1050" i="0" u="none">
                          <a:solidFill>
                            <a:srgbClr val="000000"/>
                          </a:solidFill>
                          <a:latin typeface="Plus Jakarta Sans"/>
                        </a:rPr>
                        <a:t>Kiểm tra năng lực chuyên môn (IELTS/TOEIC); chặn trùng lịch dạy của GV.</a:t>
                      </a:r>
                    </a:p>
                  </a:txBody>
                  <a:tcPr anchor="ctr" marL="63500" marR="63500" marT="25400" marB="25400">
                    <a:lnL>
                      <a:noFill/>
                    </a:lnL>
                    <a:lnR>
                      <a:noFill/>
                    </a:lnR>
                    <a:lnT>
                      <a:noFill/>
                    </a:lnT>
                    <a:lnB>
                      <a:noFill/>
                    </a:lnB>
                    <a:solidFill>
                      <a:srgbClr val="FFFFFF"/>
                    </a:solidFill>
                  </a:tcPr>
                </a:tc>
                <a:tc>
                  <a:txBody>
                    <a:bodyPr/>
                    <a:lstStyle/>
                    <a:p>
                      <a:pPr algn="ctr"/>
                      <a:r>
                        <a:rPr b="1" sz="1050" i="0" u="none">
                          <a:solidFill>
                            <a:srgbClr val="0284C7"/>
                          </a:solidFill>
                          <a:latin typeface="Plus Jakarta Sans"/>
                        </a:rPr>
                        <a:t>FR-005</a:t>
                      </a:r>
                    </a:p>
                  </a:txBody>
                  <a:tcPr anchor="ctr" marL="63500" marR="63500" marT="25400" marB="25400">
                    <a:lnL>
                      <a:noFill/>
                    </a:lnL>
                    <a:lnR>
                      <a:noFill/>
                    </a:lnR>
                    <a:lnT>
                      <a:noFill/>
                    </a:lnT>
                    <a:lnB>
                      <a:noFill/>
                    </a:lnB>
                    <a:solidFill>
                      <a:srgbClr val="FFFFFF"/>
                    </a:solidFill>
                  </a:tcPr>
                </a:tc>
              </a:tr>
              <a:tr h="347662">
                <a:tc>
                  <a:txBody>
                    <a:bodyPr/>
                    <a:lstStyle/>
                    <a:p>
                      <a:pPr algn="l"/>
                      <a:r>
                        <a:rPr b="1" sz="1050" i="0" u="none">
                          <a:solidFill>
                            <a:srgbClr val="0284C7"/>
                          </a:solidFill>
                          <a:latin typeface="Plus Jakarta Sans"/>
                        </a:rPr>
                        <a:t>UC006</a:t>
                      </a:r>
                    </a:p>
                  </a:txBody>
                  <a:tcPr anchor="ctr" marL="63500" marR="63500" marT="25400" marB="25400">
                    <a:lnL>
                      <a:noFill/>
                    </a:lnL>
                    <a:lnR>
                      <a:noFill/>
                    </a:lnR>
                    <a:lnT>
                      <a:noFill/>
                    </a:lnT>
                    <a:lnB>
                      <a:noFill/>
                    </a:lnB>
                    <a:solidFill>
                      <a:srgbClr val="FAFAFA"/>
                    </a:solidFill>
                  </a:tcPr>
                </a:tc>
                <a:tc>
                  <a:txBody>
                    <a:bodyPr/>
                    <a:lstStyle/>
                    <a:p>
                      <a:pPr algn="l"/>
                      <a:r>
                        <a:rPr b="1" sz="1050" i="0" u="none">
                          <a:solidFill>
                            <a:srgbClr val="000000"/>
                          </a:solidFill>
                          <a:latin typeface="Plus Jakarta Sans"/>
                        </a:rPr>
                        <a:t>Đăng ký lớp học</a:t>
                      </a:r>
                    </a:p>
                  </a:txBody>
                  <a:tcPr anchor="ctr" marL="63500" marR="63500" marT="25400" marB="25400">
                    <a:lnL>
                      <a:noFill/>
                    </a:lnL>
                    <a:lnR>
                      <a:noFill/>
                    </a:lnR>
                    <a:lnT>
                      <a:noFill/>
                    </a:lnT>
                    <a:lnB>
                      <a:noFill/>
                    </a:lnB>
                    <a:solidFill>
                      <a:srgbClr val="FAFAFA"/>
                    </a:solidFill>
                  </a:tcPr>
                </a:tc>
                <a:tc>
                  <a:txBody>
                    <a:bodyPr/>
                    <a:lstStyle/>
                    <a:p>
                      <a:pPr algn="l"/>
                      <a:r>
                        <a:rPr b="0" sz="1050" i="0" u="none">
                          <a:solidFill>
                            <a:srgbClr val="64748B"/>
                          </a:solidFill>
                          <a:latin typeface="Plus Jakarta Sans"/>
                        </a:rPr>
                        <a:t>Tư vấn viên, Học viên</a:t>
                      </a:r>
                    </a:p>
                  </a:txBody>
                  <a:tcPr anchor="ctr" marL="63500" marR="63500" marT="25400" marB="25400">
                    <a:lnL>
                      <a:noFill/>
                    </a:lnL>
                    <a:lnR>
                      <a:noFill/>
                    </a:lnR>
                    <a:lnT>
                      <a:noFill/>
                    </a:lnT>
                    <a:lnB>
                      <a:noFill/>
                    </a:lnB>
                    <a:solidFill>
                      <a:srgbClr val="FAFAFA"/>
                    </a:solidFill>
                  </a:tcPr>
                </a:tc>
                <a:tc>
                  <a:txBody>
                    <a:bodyPr/>
                    <a:lstStyle/>
                    <a:p>
                      <a:pPr algn="l"/>
                      <a:r>
                        <a:rPr b="0" sz="1050" i="0" u="none">
                          <a:solidFill>
                            <a:srgbClr val="000000"/>
                          </a:solidFill>
                          <a:latin typeface="Plus Jakarta Sans"/>
                        </a:rPr>
                        <a:t>Đối soát 4 điều kiện: còn chỗ, đúng CEFR, không trùng lịch, chưa ghi danh.</a:t>
                      </a:r>
                    </a:p>
                  </a:txBody>
                  <a:tcPr anchor="ctr" marL="63500" marR="63500" marT="25400" marB="25400">
                    <a:lnL>
                      <a:noFill/>
                    </a:lnL>
                    <a:lnR>
                      <a:noFill/>
                    </a:lnR>
                    <a:lnT>
                      <a:noFill/>
                    </a:lnT>
                    <a:lnB>
                      <a:noFill/>
                    </a:lnB>
                    <a:solidFill>
                      <a:srgbClr val="FAFAFA"/>
                    </a:solidFill>
                  </a:tcPr>
                </a:tc>
                <a:tc>
                  <a:txBody>
                    <a:bodyPr/>
                    <a:lstStyle/>
                    <a:p>
                      <a:pPr algn="ctr"/>
                      <a:r>
                        <a:rPr b="1" sz="1050" i="0" u="none">
                          <a:solidFill>
                            <a:srgbClr val="0284C7"/>
                          </a:solidFill>
                          <a:latin typeface="Plus Jakarta Sans"/>
                        </a:rPr>
                        <a:t>FR-006</a:t>
                      </a:r>
                    </a:p>
                  </a:txBody>
                  <a:tcPr anchor="ctr" marL="63500" marR="63500" marT="25400" marB="25400">
                    <a:lnL>
                      <a:noFill/>
                    </a:lnL>
                    <a:lnR>
                      <a:noFill/>
                    </a:lnR>
                    <a:lnT>
                      <a:noFill/>
                    </a:lnT>
                    <a:lnB>
                      <a:noFill/>
                    </a:lnB>
                    <a:solidFill>
                      <a:srgbClr val="FAFAFA"/>
                    </a:solidFill>
                  </a:tcPr>
                </a:tc>
              </a:tr>
              <a:tr h="347662">
                <a:tc>
                  <a:txBody>
                    <a:bodyPr/>
                    <a:lstStyle/>
                    <a:p>
                      <a:pPr algn="l"/>
                      <a:r>
                        <a:rPr b="1" sz="1050" i="0" u="none">
                          <a:solidFill>
                            <a:srgbClr val="0284C7"/>
                          </a:solidFill>
                          <a:latin typeface="Plus Jakarta Sans"/>
                        </a:rPr>
                        <a:t>UC007</a:t>
                      </a:r>
                    </a:p>
                  </a:txBody>
                  <a:tcPr anchor="ctr" marL="63500" marR="63500" marT="25400" marB="25400">
                    <a:lnL>
                      <a:noFill/>
                    </a:lnL>
                    <a:lnR>
                      <a:noFill/>
                    </a:lnR>
                    <a:lnT>
                      <a:noFill/>
                    </a:lnT>
                    <a:lnB>
                      <a:noFill/>
                    </a:lnB>
                    <a:solidFill>
                      <a:srgbClr val="FFFFFF"/>
                    </a:solidFill>
                  </a:tcPr>
                </a:tc>
                <a:tc>
                  <a:txBody>
                    <a:bodyPr/>
                    <a:lstStyle/>
                    <a:p>
                      <a:pPr algn="l"/>
                      <a:r>
                        <a:rPr b="1" sz="1050" i="0" u="none">
                          <a:solidFill>
                            <a:srgbClr val="000000"/>
                          </a:solidFill>
                          <a:latin typeface="Plus Jakarta Sans"/>
                        </a:rPr>
                        <a:t>Quản lý học phí</a:t>
                      </a:r>
                    </a:p>
                  </a:txBody>
                  <a:tcPr anchor="ctr" marL="63500" marR="63500" marT="25400" marB="25400">
                    <a:lnL>
                      <a:noFill/>
                    </a:lnL>
                    <a:lnR>
                      <a:noFill/>
                    </a:lnR>
                    <a:lnT>
                      <a:noFill/>
                    </a:lnT>
                    <a:lnB>
                      <a:noFill/>
                    </a:lnB>
                    <a:solidFill>
                      <a:srgbClr val="FFFFFF"/>
                    </a:solidFill>
                  </a:tcPr>
                </a:tc>
                <a:tc>
                  <a:txBody>
                    <a:bodyPr/>
                    <a:lstStyle/>
                    <a:p>
                      <a:pPr algn="l"/>
                      <a:r>
                        <a:rPr b="0" sz="1050" i="0" u="none">
                          <a:solidFill>
                            <a:srgbClr val="64748B"/>
                          </a:solidFill>
                          <a:latin typeface="Plus Jakarta Sans"/>
                        </a:rPr>
                        <a:t>Quản lý, TVV, Học viên</a:t>
                      </a:r>
                    </a:p>
                  </a:txBody>
                  <a:tcPr anchor="ctr" marL="63500" marR="63500" marT="25400" marB="25400">
                    <a:lnL>
                      <a:noFill/>
                    </a:lnL>
                    <a:lnR>
                      <a:noFill/>
                    </a:lnR>
                    <a:lnT>
                      <a:noFill/>
                    </a:lnT>
                    <a:lnB>
                      <a:noFill/>
                    </a:lnB>
                    <a:solidFill>
                      <a:srgbClr val="FFFFFF"/>
                    </a:solidFill>
                  </a:tcPr>
                </a:tc>
                <a:tc>
                  <a:txBody>
                    <a:bodyPr/>
                    <a:lstStyle/>
                    <a:p>
                      <a:pPr algn="l"/>
                      <a:r>
                        <a:rPr b="0" sz="1050" i="0" u="none">
                          <a:solidFill>
                            <a:srgbClr val="000000"/>
                          </a:solidFill>
                          <a:latin typeface="Plus Jakarta Sans"/>
                        </a:rPr>
                        <a:t>Tự sinh hóa đơn 1-1; thu tiền mặt/CK nhiều đợt; chuyển ĐÃ HOÀN THÀNH.</a:t>
                      </a:r>
                    </a:p>
                  </a:txBody>
                  <a:tcPr anchor="ctr" marL="63500" marR="63500" marT="25400" marB="25400">
                    <a:lnL>
                      <a:noFill/>
                    </a:lnL>
                    <a:lnR>
                      <a:noFill/>
                    </a:lnR>
                    <a:lnT>
                      <a:noFill/>
                    </a:lnT>
                    <a:lnB>
                      <a:noFill/>
                    </a:lnB>
                    <a:solidFill>
                      <a:srgbClr val="FFFFFF"/>
                    </a:solidFill>
                  </a:tcPr>
                </a:tc>
                <a:tc>
                  <a:txBody>
                    <a:bodyPr/>
                    <a:lstStyle/>
                    <a:p>
                      <a:pPr algn="ctr"/>
                      <a:r>
                        <a:rPr b="1" sz="1050" i="0" u="none">
                          <a:solidFill>
                            <a:srgbClr val="0284C7"/>
                          </a:solidFill>
                          <a:latin typeface="Plus Jakarta Sans"/>
                        </a:rPr>
                        <a:t>FR-007</a:t>
                      </a:r>
                    </a:p>
                  </a:txBody>
                  <a:tcPr anchor="ctr" marL="63500" marR="63500" marT="25400" marB="25400">
                    <a:lnL>
                      <a:noFill/>
                    </a:lnL>
                    <a:lnR>
                      <a:noFill/>
                    </a:lnR>
                    <a:lnT>
                      <a:noFill/>
                    </a:lnT>
                    <a:lnB>
                      <a:noFill/>
                    </a:lnB>
                    <a:solidFill>
                      <a:srgbClr val="FFFFFF"/>
                    </a:solidFill>
                  </a:tcPr>
                </a:tc>
              </a:tr>
              <a:tr h="347662">
                <a:tc>
                  <a:txBody>
                    <a:bodyPr/>
                    <a:lstStyle/>
                    <a:p>
                      <a:pPr algn="l"/>
                      <a:r>
                        <a:rPr b="1" sz="1050" i="0" u="none">
                          <a:solidFill>
                            <a:srgbClr val="0284C7"/>
                          </a:solidFill>
                          <a:latin typeface="Plus Jakarta Sans"/>
                        </a:rPr>
                        <a:t>UC008</a:t>
                      </a:r>
                    </a:p>
                  </a:txBody>
                  <a:tcPr anchor="ctr" marL="63500" marR="63500" marT="25400" marB="25400">
                    <a:lnL>
                      <a:noFill/>
                    </a:lnL>
                    <a:lnR>
                      <a:noFill/>
                    </a:lnR>
                    <a:lnT>
                      <a:noFill/>
                    </a:lnT>
                    <a:lnB>
                      <a:noFill/>
                    </a:lnB>
                    <a:solidFill>
                      <a:srgbClr val="FAFAFA"/>
                    </a:solidFill>
                  </a:tcPr>
                </a:tc>
                <a:tc>
                  <a:txBody>
                    <a:bodyPr/>
                    <a:lstStyle/>
                    <a:p>
                      <a:pPr algn="l"/>
                      <a:r>
                        <a:rPr b="1" sz="1050" i="0" u="none">
                          <a:solidFill>
                            <a:srgbClr val="000000"/>
                          </a:solidFill>
                          <a:latin typeface="Plus Jakarta Sans"/>
                        </a:rPr>
                        <a:t>Điểm danh chuyên cần</a:t>
                      </a:r>
                    </a:p>
                  </a:txBody>
                  <a:tcPr anchor="ctr" marL="63500" marR="63500" marT="25400" marB="25400">
                    <a:lnL>
                      <a:noFill/>
                    </a:lnL>
                    <a:lnR>
                      <a:noFill/>
                    </a:lnR>
                    <a:lnT>
                      <a:noFill/>
                    </a:lnT>
                    <a:lnB>
                      <a:noFill/>
                    </a:lnB>
                    <a:solidFill>
                      <a:srgbClr val="FAFAFA"/>
                    </a:solidFill>
                  </a:tcPr>
                </a:tc>
                <a:tc>
                  <a:txBody>
                    <a:bodyPr/>
                    <a:lstStyle/>
                    <a:p>
                      <a:pPr algn="l"/>
                      <a:r>
                        <a:rPr b="0" sz="1050" i="0" u="none">
                          <a:solidFill>
                            <a:srgbClr val="64748B"/>
                          </a:solidFill>
                          <a:latin typeface="Plus Jakarta Sans"/>
                        </a:rPr>
                        <a:t>Giáo viên</a:t>
                      </a:r>
                    </a:p>
                  </a:txBody>
                  <a:tcPr anchor="ctr" marL="63500" marR="63500" marT="25400" marB="25400">
                    <a:lnL>
                      <a:noFill/>
                    </a:lnL>
                    <a:lnR>
                      <a:noFill/>
                    </a:lnR>
                    <a:lnT>
                      <a:noFill/>
                    </a:lnT>
                    <a:lnB>
                      <a:noFill/>
                    </a:lnB>
                    <a:solidFill>
                      <a:srgbClr val="FAFAFA"/>
                    </a:solidFill>
                  </a:tcPr>
                </a:tc>
                <a:tc>
                  <a:txBody>
                    <a:bodyPr/>
                    <a:lstStyle/>
                    <a:p>
                      <a:pPr algn="l"/>
                      <a:r>
                        <a:rPr b="0" sz="1050" i="0" u="none">
                          <a:solidFill>
                            <a:srgbClr val="000000"/>
                          </a:solidFill>
                          <a:latin typeface="Plus Jakarta Sans"/>
                        </a:rPr>
                        <a:t>Ghi nhận 4 trạng thái: Có mặt, Vắng, Đi muộn, Có phép; điều chỉnh có lưu log.</a:t>
                      </a:r>
                    </a:p>
                  </a:txBody>
                  <a:tcPr anchor="ctr" marL="63500" marR="63500" marT="25400" marB="25400">
                    <a:lnL>
                      <a:noFill/>
                    </a:lnL>
                    <a:lnR>
                      <a:noFill/>
                    </a:lnR>
                    <a:lnT>
                      <a:noFill/>
                    </a:lnT>
                    <a:lnB>
                      <a:noFill/>
                    </a:lnB>
                    <a:solidFill>
                      <a:srgbClr val="FAFAFA"/>
                    </a:solidFill>
                  </a:tcPr>
                </a:tc>
                <a:tc>
                  <a:txBody>
                    <a:bodyPr/>
                    <a:lstStyle/>
                    <a:p>
                      <a:pPr algn="ctr"/>
                      <a:r>
                        <a:rPr b="1" sz="1050" i="0" u="none">
                          <a:solidFill>
                            <a:srgbClr val="0284C7"/>
                          </a:solidFill>
                          <a:latin typeface="Plus Jakarta Sans"/>
                        </a:rPr>
                        <a:t>FR-008</a:t>
                      </a:r>
                    </a:p>
                  </a:txBody>
                  <a:tcPr anchor="ctr" marL="63500" marR="63500" marT="25400" marB="25400">
                    <a:lnL>
                      <a:noFill/>
                    </a:lnL>
                    <a:lnR>
                      <a:noFill/>
                    </a:lnR>
                    <a:lnT>
                      <a:noFill/>
                    </a:lnT>
                    <a:lnB>
                      <a:noFill/>
                    </a:lnB>
                    <a:solidFill>
                      <a:srgbClr val="FAFAFA"/>
                    </a:solidFill>
                  </a:tcPr>
                </a:tc>
              </a:tr>
              <a:tr h="347662">
                <a:tc>
                  <a:txBody>
                    <a:bodyPr/>
                    <a:lstStyle/>
                    <a:p>
                      <a:pPr algn="l"/>
                      <a:r>
                        <a:rPr b="1" sz="1050" i="0" u="none">
                          <a:solidFill>
                            <a:srgbClr val="0284C7"/>
                          </a:solidFill>
                          <a:latin typeface="Plus Jakarta Sans"/>
                        </a:rPr>
                        <a:t>UC009</a:t>
                      </a:r>
                    </a:p>
                  </a:txBody>
                  <a:tcPr anchor="ctr" marL="63500" marR="63500" marT="25400" marB="25400">
                    <a:lnL>
                      <a:noFill/>
                    </a:lnL>
                    <a:lnR>
                      <a:noFill/>
                    </a:lnR>
                    <a:lnT>
                      <a:noFill/>
                    </a:lnT>
                    <a:lnB>
                      <a:noFill/>
                    </a:lnB>
                    <a:solidFill>
                      <a:srgbClr val="FFFFFF"/>
                    </a:solidFill>
                  </a:tcPr>
                </a:tc>
                <a:tc>
                  <a:txBody>
                    <a:bodyPr/>
                    <a:lstStyle/>
                    <a:p>
                      <a:pPr algn="l"/>
                      <a:r>
                        <a:rPr b="1" sz="1050" i="0" u="none">
                          <a:solidFill>
                            <a:srgbClr val="000000"/>
                          </a:solidFill>
                          <a:latin typeface="Plus Jakarta Sans"/>
                        </a:rPr>
                        <a:t>Ghi nhận kết quả học tập</a:t>
                      </a:r>
                    </a:p>
                  </a:txBody>
                  <a:tcPr anchor="ctr" marL="63500" marR="63500" marT="25400" marB="25400">
                    <a:lnL>
                      <a:noFill/>
                    </a:lnL>
                    <a:lnR>
                      <a:noFill/>
                    </a:lnR>
                    <a:lnT>
                      <a:noFill/>
                    </a:lnT>
                    <a:lnB>
                      <a:noFill/>
                    </a:lnB>
                    <a:solidFill>
                      <a:srgbClr val="FFFFFF"/>
                    </a:solidFill>
                  </a:tcPr>
                </a:tc>
                <a:tc>
                  <a:txBody>
                    <a:bodyPr/>
                    <a:lstStyle/>
                    <a:p>
                      <a:pPr algn="l"/>
                      <a:r>
                        <a:rPr b="0" sz="1050" i="0" u="none">
                          <a:solidFill>
                            <a:srgbClr val="64748B"/>
                          </a:solidFill>
                          <a:latin typeface="Plus Jakarta Sans"/>
                        </a:rPr>
                        <a:t>Giáo viên</a:t>
                      </a:r>
                    </a:p>
                  </a:txBody>
                  <a:tcPr anchor="ctr" marL="63500" marR="63500" marT="25400" marB="25400">
                    <a:lnL>
                      <a:noFill/>
                    </a:lnL>
                    <a:lnR>
                      <a:noFill/>
                    </a:lnR>
                    <a:lnT>
                      <a:noFill/>
                    </a:lnT>
                    <a:lnB>
                      <a:noFill/>
                    </a:lnB>
                    <a:solidFill>
                      <a:srgbClr val="FFFFFF"/>
                    </a:solidFill>
                  </a:tcPr>
                </a:tc>
                <a:tc>
                  <a:txBody>
                    <a:bodyPr/>
                    <a:lstStyle/>
                    <a:p>
                      <a:pPr algn="l"/>
                      <a:r>
                        <a:rPr b="0" sz="1050" i="0" u="none">
                          <a:solidFill>
                            <a:srgbClr val="000000"/>
                          </a:solidFill>
                          <a:latin typeface="Plus Jakarta Sans"/>
                        </a:rPr>
                        <a:t>Tính TK = CC*0.2 + GK*0.3 + CK*0.5; xếp loại ĐẠT khi TK&gt;=50 và CC&gt;=80%.</a:t>
                      </a:r>
                    </a:p>
                  </a:txBody>
                  <a:tcPr anchor="ctr" marL="63500" marR="63500" marT="25400" marB="25400">
                    <a:lnL>
                      <a:noFill/>
                    </a:lnL>
                    <a:lnR>
                      <a:noFill/>
                    </a:lnR>
                    <a:lnT>
                      <a:noFill/>
                    </a:lnT>
                    <a:lnB>
                      <a:noFill/>
                    </a:lnB>
                    <a:solidFill>
                      <a:srgbClr val="FFFFFF"/>
                    </a:solidFill>
                  </a:tcPr>
                </a:tc>
                <a:tc>
                  <a:txBody>
                    <a:bodyPr/>
                    <a:lstStyle/>
                    <a:p>
                      <a:pPr algn="ctr"/>
                      <a:r>
                        <a:rPr b="1" sz="1050" i="0" u="none">
                          <a:solidFill>
                            <a:srgbClr val="0284C7"/>
                          </a:solidFill>
                          <a:latin typeface="Plus Jakarta Sans"/>
                        </a:rPr>
                        <a:t>FR-009</a:t>
                      </a:r>
                    </a:p>
                  </a:txBody>
                  <a:tcPr anchor="ctr" marL="63500" marR="63500" marT="25400" marB="25400">
                    <a:lnL>
                      <a:noFill/>
                    </a:lnL>
                    <a:lnR>
                      <a:noFill/>
                    </a:lnR>
                    <a:lnT>
                      <a:noFill/>
                    </a:lnT>
                    <a:lnB>
                      <a:noFill/>
                    </a:lnB>
                    <a:solidFill>
                      <a:srgbClr val="FFFFFF"/>
                    </a:solidFill>
                  </a:tcPr>
                </a:tc>
              </a:tr>
              <a:tr h="347662">
                <a:tc>
                  <a:txBody>
                    <a:bodyPr/>
                    <a:lstStyle/>
                    <a:p>
                      <a:pPr algn="l"/>
                      <a:r>
                        <a:rPr b="1" sz="1050" i="0" u="none">
                          <a:solidFill>
                            <a:srgbClr val="0284C7"/>
                          </a:solidFill>
                          <a:latin typeface="Plus Jakarta Sans"/>
                        </a:rPr>
                        <a:t>UC010-11</a:t>
                      </a:r>
                    </a:p>
                  </a:txBody>
                  <a:tcPr anchor="ctr" marL="63500" marR="63500" marT="25400" marB="25400">
                    <a:lnL>
                      <a:noFill/>
                    </a:lnL>
                    <a:lnR>
                      <a:noFill/>
                    </a:lnR>
                    <a:lnT>
                      <a:noFill/>
                    </a:lnT>
                    <a:lnB>
                      <a:noFill/>
                    </a:lnB>
                    <a:solidFill>
                      <a:srgbClr val="FAFAFA"/>
                    </a:solidFill>
                  </a:tcPr>
                </a:tc>
                <a:tc>
                  <a:txBody>
                    <a:bodyPr/>
                    <a:lstStyle/>
                    <a:p>
                      <a:pPr algn="l"/>
                      <a:r>
                        <a:rPr b="1" sz="1050" i="0" u="none">
                          <a:solidFill>
                            <a:srgbClr val="000000"/>
                          </a:solidFill>
                          <a:latin typeface="Plus Jakarta Sans"/>
                        </a:rPr>
                        <a:t>Tra cứu &amp; Thống kê</a:t>
                      </a:r>
                    </a:p>
                  </a:txBody>
                  <a:tcPr anchor="ctr" marL="63500" marR="63500" marT="25400" marB="25400">
                    <a:lnL>
                      <a:noFill/>
                    </a:lnL>
                    <a:lnR>
                      <a:noFill/>
                    </a:lnR>
                    <a:lnT>
                      <a:noFill/>
                    </a:lnT>
                    <a:lnB>
                      <a:noFill/>
                    </a:lnB>
                    <a:solidFill>
                      <a:srgbClr val="FAFAFA"/>
                    </a:solidFill>
                  </a:tcPr>
                </a:tc>
                <a:tc>
                  <a:txBody>
                    <a:bodyPr/>
                    <a:lstStyle/>
                    <a:p>
                      <a:pPr algn="l"/>
                      <a:r>
                        <a:rPr b="0" sz="1050" i="0" u="none">
                          <a:solidFill>
                            <a:srgbClr val="64748B"/>
                          </a:solidFill>
                          <a:latin typeface="Plus Jakarta Sans"/>
                        </a:rPr>
                        <a:t>Tất cả / Quản lý</a:t>
                      </a:r>
                    </a:p>
                  </a:txBody>
                  <a:tcPr anchor="ctr" marL="63500" marR="63500" marT="25400" marB="25400">
                    <a:lnL>
                      <a:noFill/>
                    </a:lnL>
                    <a:lnR>
                      <a:noFill/>
                    </a:lnR>
                    <a:lnT>
                      <a:noFill/>
                    </a:lnT>
                    <a:lnB>
                      <a:noFill/>
                    </a:lnB>
                    <a:solidFill>
                      <a:srgbClr val="FAFAFA"/>
                    </a:solidFill>
                  </a:tcPr>
                </a:tc>
                <a:tc>
                  <a:txBody>
                    <a:bodyPr/>
                    <a:lstStyle/>
                    <a:p>
                      <a:pPr algn="l"/>
                      <a:r>
                        <a:rPr b="0" sz="1050" i="0" u="none">
                          <a:solidFill>
                            <a:srgbClr val="000000"/>
                          </a:solidFill>
                          <a:latin typeface="Plus Jakarta Sans"/>
                        </a:rPr>
                        <a:t>Lọc thời khóa biểu, bảng điểm; tổng hợp sĩ số, doanh thu và tỷ lệ đạt chuẩn.</a:t>
                      </a:r>
                    </a:p>
                  </a:txBody>
                  <a:tcPr anchor="ctr" marL="63500" marR="63500" marT="25400" marB="25400">
                    <a:lnL>
                      <a:noFill/>
                    </a:lnL>
                    <a:lnR>
                      <a:noFill/>
                    </a:lnR>
                    <a:lnT>
                      <a:noFill/>
                    </a:lnT>
                    <a:lnB>
                      <a:noFill/>
                    </a:lnB>
                    <a:solidFill>
                      <a:srgbClr val="FAFAFA"/>
                    </a:solidFill>
                  </a:tcPr>
                </a:tc>
                <a:tc>
                  <a:txBody>
                    <a:bodyPr/>
                    <a:lstStyle/>
                    <a:p>
                      <a:pPr algn="ctr"/>
                      <a:r>
                        <a:rPr b="1" sz="1050" i="0" u="none">
                          <a:solidFill>
                            <a:srgbClr val="0284C7"/>
                          </a:solidFill>
                          <a:latin typeface="Plus Jakarta Sans"/>
                        </a:rPr>
                        <a:t>FR-010..11</a:t>
                      </a:r>
                    </a:p>
                  </a:txBody>
                  <a:tcPr anchor="ctr" marL="63500" marR="63500" marT="25400" marB="25400">
                    <a:lnL>
                      <a:noFill/>
                    </a:lnL>
                    <a:lnR>
                      <a:noFill/>
                    </a:lnR>
                    <a:lnT>
                      <a:noFill/>
                    </a:lnT>
                    <a:lnB>
                      <a:noFill/>
                    </a:lnB>
                    <a:solidFill>
                      <a:srgbClr val="FAFAFA"/>
                    </a:solidFill>
                  </a:tcPr>
                </a:tc>
              </a:tr>
              <a:tr h="347668">
                <a:tc>
                  <a:txBody>
                    <a:bodyPr/>
                    <a:lstStyle/>
                    <a:p>
                      <a:pPr algn="l"/>
                      <a:r>
                        <a:rPr b="1" sz="1050" i="0" u="none">
                          <a:solidFill>
                            <a:srgbClr val="15803D"/>
                          </a:solidFill>
                          <a:latin typeface="Plus Jakarta Sans"/>
                        </a:rPr>
                        <a:t>UC012-14</a:t>
                      </a:r>
                    </a:p>
                  </a:txBody>
                  <a:tcPr anchor="ctr" marL="63500" marR="63500" marT="25400" marB="25400">
                    <a:lnL>
                      <a:noFill/>
                    </a:lnL>
                    <a:lnR>
                      <a:noFill/>
                    </a:lnR>
                    <a:lnT>
                      <a:noFill/>
                    </a:lnT>
                    <a:lnB>
                      <a:noFill/>
                    </a:lnB>
                    <a:solidFill>
                      <a:srgbClr val="F0FDF4"/>
                    </a:solidFill>
                  </a:tcPr>
                </a:tc>
                <a:tc>
                  <a:txBody>
                    <a:bodyPr/>
                    <a:lstStyle/>
                    <a:p>
                      <a:pPr algn="l"/>
                      <a:r>
                        <a:rPr b="1" sz="1050" i="0" u="none">
                          <a:solidFill>
                            <a:srgbClr val="15803D"/>
                          </a:solidFill>
                          <a:latin typeface="Plus Jakarta Sans"/>
                        </a:rPr>
                        <a:t>Bộ 3 Tính Năng GenAI</a:t>
                      </a:r>
                    </a:p>
                  </a:txBody>
                  <a:tcPr anchor="ctr" marL="63500" marR="63500" marT="25400" marB="25400">
                    <a:lnL>
                      <a:noFill/>
                    </a:lnL>
                    <a:lnR>
                      <a:noFill/>
                    </a:lnR>
                    <a:lnT>
                      <a:noFill/>
                    </a:lnT>
                    <a:lnB>
                      <a:noFill/>
                    </a:lnB>
                    <a:solidFill>
                      <a:srgbClr val="F0FDF4"/>
                    </a:solidFill>
                  </a:tcPr>
                </a:tc>
                <a:tc>
                  <a:txBody>
                    <a:bodyPr/>
                    <a:lstStyle/>
                    <a:p>
                      <a:pPr algn="l"/>
                      <a:r>
                        <a:rPr b="1" sz="1050" i="0" u="none">
                          <a:solidFill>
                            <a:srgbClr val="166534"/>
                          </a:solidFill>
                          <a:latin typeface="Plus Jakarta Sans"/>
                        </a:rPr>
                        <a:t>Tất cả các tác nhân</a:t>
                      </a:r>
                    </a:p>
                  </a:txBody>
                  <a:tcPr anchor="ctr" marL="63500" marR="63500" marT="25400" marB="25400">
                    <a:lnL>
                      <a:noFill/>
                    </a:lnL>
                    <a:lnR>
                      <a:noFill/>
                    </a:lnR>
                    <a:lnT>
                      <a:noFill/>
                    </a:lnT>
                    <a:lnB>
                      <a:noFill/>
                    </a:lnB>
                    <a:solidFill>
                      <a:srgbClr val="F0FDF4"/>
                    </a:solidFill>
                  </a:tcPr>
                </a:tc>
                <a:tc>
                  <a:txBody>
                    <a:bodyPr/>
                    <a:lstStyle/>
                    <a:p>
                      <a:pPr algn="l"/>
                      <a:r>
                        <a:rPr b="0" sz="1050" i="0" u="none">
                          <a:solidFill>
                            <a:srgbClr val="166534"/>
                          </a:solidFill>
                          <a:latin typeface="Plus Jakarta Sans"/>
                        </a:rPr>
                        <a:t>Tư vấn lớp CEFR, sinh 5-15 câu trắc nghiệm JSON, tóm tắt tiến độ &amp; Fallback.</a:t>
                      </a:r>
                    </a:p>
                  </a:txBody>
                  <a:tcPr anchor="ctr" marL="63500" marR="63500" marT="25400" marB="25400">
                    <a:lnL>
                      <a:noFill/>
                    </a:lnL>
                    <a:lnR>
                      <a:noFill/>
                    </a:lnR>
                    <a:lnT>
                      <a:noFill/>
                    </a:lnT>
                    <a:lnB>
                      <a:noFill/>
                    </a:lnB>
                    <a:solidFill>
                      <a:srgbClr val="F0FDF4"/>
                    </a:solidFill>
                  </a:tcPr>
                </a:tc>
                <a:tc>
                  <a:txBody>
                    <a:bodyPr/>
                    <a:lstStyle/>
                    <a:p>
                      <a:pPr algn="ctr"/>
                      <a:r>
                        <a:rPr b="1" sz="1050" i="0" u="none">
                          <a:solidFill>
                            <a:srgbClr val="15803D"/>
                          </a:solidFill>
                          <a:latin typeface="Plus Jakarta Sans"/>
                        </a:rPr>
                        <a:t>FR-AI-01..03</a:t>
                      </a:r>
                    </a:p>
                  </a:txBody>
                  <a:tcPr anchor="ctr" marL="63500" marR="63500" marT="25400" marB="25400">
                    <a:lnL>
                      <a:noFill/>
                    </a:lnL>
                    <a:lnR>
                      <a:noFill/>
                    </a:lnR>
                    <a:lnT>
                      <a:noFill/>
                    </a:lnT>
                    <a:lnB>
                      <a:noFill/>
                    </a:lnB>
                    <a:solidFill>
                      <a:srgbClr val="F0FDF4"/>
                    </a:solidFill>
                  </a:tcPr>
                </a:tc>
              </a:tr>
            </a:tbl>
          </a:graphicData>
        </a:graphic>
      </p:graphicFrame>
      <p:sp>
        <p:nvSpPr>
          <p:cNvPr id="4" name="TextBox 3"/>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0284C7"/>
                </a:solidFill>
                <a:latin typeface="Plus Jakarta Sans"/>
              </a:rPr>
              <a:t>CHƯƠNG 3: ĐẶC TẢ YÊU CẦU CHỨC NĂNG</a:t>
            </a:r>
          </a:p>
        </p:txBody>
      </p:sp>
      <p:sp>
        <p:nvSpPr>
          <p:cNvPr id="5" name="TextBox 4"/>
          <p:cNvSpPr txBox="1"/>
          <p:nvPr/>
        </p:nvSpPr>
        <p:spPr>
          <a:xfrm>
            <a:off x="609600" y="666750"/>
            <a:ext cx="11582400" cy="361950"/>
          </a:xfrm>
          <a:prstGeom prst="rect">
            <a:avLst/>
          </a:prstGeom>
          <a:noFill/>
        </p:spPr>
        <p:txBody>
          <a:bodyPr wrap="none" lIns="0" rIns="0" tIns="0" bIns="0" anchor="t">
            <a:spAutoFit/>
          </a:bodyPr>
          <a:lstStyle/>
          <a:p>
            <a:pPr algn="l"/>
            <a:r>
              <a:rPr b="1" sz="2250" i="0" u="none">
                <a:solidFill>
                  <a:srgbClr val="0F172A"/>
                </a:solidFill>
                <a:latin typeface="Plus Jakarta Sans"/>
              </a:rPr>
              <a:t>Danh Mục Đặc Tả 14 Use Cases (UC001 - UC014)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119312"/>
            <a:ext cx="3530649" cy="3438525"/>
          </a:xfrm>
          <a:prstGeom prst="roundRect">
            <a:avLst>
              <a:gd name="adj" fmla="val 3324"/>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30749" y="2119312"/>
            <a:ext cx="3530649" cy="3438525"/>
          </a:xfrm>
          <a:prstGeom prst="roundRect">
            <a:avLst>
              <a:gd name="adj" fmla="val 3324"/>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051899" y="2119312"/>
            <a:ext cx="3530649" cy="3438525"/>
          </a:xfrm>
          <a:prstGeom prst="roundRect">
            <a:avLst>
              <a:gd name="adj" fmla="val 3324"/>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600" y="5548312"/>
            <a:ext cx="353064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119312"/>
            <a:ext cx="3530649" cy="3810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600" y="2119312"/>
            <a:ext cx="9525" cy="3438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30724" y="2119312"/>
            <a:ext cx="9525" cy="3438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9625" y="4862512"/>
            <a:ext cx="3130599" cy="457200"/>
          </a:xfrm>
          <a:prstGeom prst="roundRect">
            <a:avLst>
              <a:gd name="adj" fmla="val 12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30749" y="5548312"/>
            <a:ext cx="353064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30749" y="2119312"/>
            <a:ext cx="3530649" cy="381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0749" y="2119312"/>
            <a:ext cx="9525" cy="3438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851874" y="2119312"/>
            <a:ext cx="9525" cy="3438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30774" y="4862512"/>
            <a:ext cx="3130599" cy="457200"/>
          </a:xfrm>
          <a:prstGeom prst="roundRect">
            <a:avLst>
              <a:gd name="adj" fmla="val 12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51899" y="5548312"/>
            <a:ext cx="353064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51899" y="2119312"/>
            <a:ext cx="3530649" cy="381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51899" y="2119312"/>
            <a:ext cx="9525" cy="3438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573023" y="2119312"/>
            <a:ext cx="9525" cy="3438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51924" y="4862512"/>
            <a:ext cx="3130599" cy="457200"/>
          </a:xfrm>
          <a:prstGeom prst="roundRect">
            <a:avLst>
              <a:gd name="adj" fmla="val 12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416349" y="2466975"/>
            <a:ext cx="523875" cy="219075"/>
          </a:xfrm>
          <a:prstGeom prst="roundRect">
            <a:avLst>
              <a:gd name="adj" fmla="val 17391"/>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137499" y="2466975"/>
            <a:ext cx="523875" cy="219075"/>
          </a:xfrm>
          <a:prstGeom prst="roundRect">
            <a:avLst>
              <a:gd name="adj" fmla="val 17391"/>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849123" y="2466975"/>
            <a:ext cx="533400" cy="219075"/>
          </a:xfrm>
          <a:prstGeom prst="roundRect">
            <a:avLst>
              <a:gd name="adj" fmla="val 17391"/>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mage.png"/>
          <p:cNvPicPr>
            <a:picLocks noChangeAspect="1"/>
          </p:cNvPicPr>
          <p:nvPr/>
        </p:nvPicPr>
        <p:blipFill>
          <a:blip r:embed="rId2"/>
          <a:stretch>
            <a:fillRect/>
          </a:stretch>
        </p:blipFill>
        <p:spPr>
          <a:xfrm>
            <a:off x="809625" y="2386012"/>
            <a:ext cx="381000" cy="381000"/>
          </a:xfrm>
          <a:prstGeom prst="rect">
            <a:avLst/>
          </a:prstGeom>
        </p:spPr>
      </p:pic>
      <p:pic>
        <p:nvPicPr>
          <p:cNvPr id="24" name="Picture 23" descr="image.png"/>
          <p:cNvPicPr>
            <a:picLocks noChangeAspect="1"/>
          </p:cNvPicPr>
          <p:nvPr/>
        </p:nvPicPr>
        <p:blipFill>
          <a:blip r:embed="rId3"/>
          <a:stretch>
            <a:fillRect/>
          </a:stretch>
        </p:blipFill>
        <p:spPr>
          <a:xfrm>
            <a:off x="4530774" y="2386012"/>
            <a:ext cx="381000" cy="381000"/>
          </a:xfrm>
          <a:prstGeom prst="rect">
            <a:avLst/>
          </a:prstGeom>
        </p:spPr>
      </p:pic>
      <p:pic>
        <p:nvPicPr>
          <p:cNvPr id="25" name="Picture 24" descr="image.png"/>
          <p:cNvPicPr>
            <a:picLocks noChangeAspect="1"/>
          </p:cNvPicPr>
          <p:nvPr/>
        </p:nvPicPr>
        <p:blipFill>
          <a:blip r:embed="rId4"/>
          <a:stretch>
            <a:fillRect/>
          </a:stretch>
        </p:blipFill>
        <p:spPr>
          <a:xfrm>
            <a:off x="8251924" y="2386012"/>
            <a:ext cx="381000" cy="381000"/>
          </a:xfrm>
          <a:prstGeom prst="rect">
            <a:avLst/>
          </a:prstGeom>
        </p:spPr>
      </p:pic>
      <p:pic>
        <p:nvPicPr>
          <p:cNvPr id="26" name="Picture 25" descr="image.png"/>
          <p:cNvPicPr>
            <a:picLocks noChangeAspect="1"/>
          </p:cNvPicPr>
          <p:nvPr/>
        </p:nvPicPr>
        <p:blipFill>
          <a:blip r:embed="rId5"/>
          <a:stretch>
            <a:fillRect/>
          </a:stretch>
        </p:blipFill>
        <p:spPr>
          <a:xfrm>
            <a:off x="904875" y="2481262"/>
            <a:ext cx="190500" cy="190500"/>
          </a:xfrm>
          <a:prstGeom prst="rect">
            <a:avLst/>
          </a:prstGeom>
        </p:spPr>
      </p:pic>
      <p:pic>
        <p:nvPicPr>
          <p:cNvPr id="27" name="Picture 26" descr="image.png"/>
          <p:cNvPicPr>
            <a:picLocks noChangeAspect="1"/>
          </p:cNvPicPr>
          <p:nvPr/>
        </p:nvPicPr>
        <p:blipFill>
          <a:blip r:embed="rId6"/>
          <a:stretch>
            <a:fillRect/>
          </a:stretch>
        </p:blipFill>
        <p:spPr>
          <a:xfrm>
            <a:off x="4626024" y="2481262"/>
            <a:ext cx="190500" cy="190500"/>
          </a:xfrm>
          <a:prstGeom prst="rect">
            <a:avLst/>
          </a:prstGeom>
        </p:spPr>
      </p:pic>
      <p:pic>
        <p:nvPicPr>
          <p:cNvPr id="28" name="Picture 27" descr="image.png"/>
          <p:cNvPicPr>
            <a:picLocks noChangeAspect="1"/>
          </p:cNvPicPr>
          <p:nvPr/>
        </p:nvPicPr>
        <p:blipFill>
          <a:blip r:embed="rId7"/>
          <a:stretch>
            <a:fillRect/>
          </a:stretch>
        </p:blipFill>
        <p:spPr>
          <a:xfrm>
            <a:off x="8347174" y="2481262"/>
            <a:ext cx="190500" cy="190500"/>
          </a:xfrm>
          <a:prstGeom prst="rect">
            <a:avLst/>
          </a:prstGeom>
        </p:spPr>
      </p:pic>
      <p:sp>
        <p:nvSpPr>
          <p:cNvPr id="29" name="TextBox 28"/>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0284C7"/>
                </a:solidFill>
                <a:latin typeface="Plus Jakarta Sans"/>
              </a:rPr>
              <a:t>ỨNG DỤNG TRÍ TUỆ NHÂN TẠO</a:t>
            </a:r>
          </a:p>
        </p:txBody>
      </p:sp>
      <p:sp>
        <p:nvSpPr>
          <p:cNvPr id="30" name="TextBox 29"/>
          <p:cNvSpPr txBox="1"/>
          <p:nvPr/>
        </p:nvSpPr>
        <p:spPr>
          <a:xfrm>
            <a:off x="609600" y="685800"/>
            <a:ext cx="11582400" cy="361950"/>
          </a:xfrm>
          <a:prstGeom prst="rect">
            <a:avLst/>
          </a:prstGeom>
          <a:noFill/>
        </p:spPr>
        <p:txBody>
          <a:bodyPr wrap="none" lIns="0" rIns="0" tIns="0" bIns="0" anchor="t">
            <a:spAutoFit/>
          </a:bodyPr>
          <a:lstStyle/>
          <a:p>
            <a:pPr algn="l"/>
            <a:r>
              <a:rPr b="1" sz="2250" i="0" u="none">
                <a:solidFill>
                  <a:srgbClr val="0F172A"/>
                </a:solidFill>
                <a:latin typeface="Plus Jakarta Sans"/>
              </a:rPr>
              <a:t>Chi Tiết 3 Chức Năng Trợ Lý Thông Minh (Gemini AI)</a:t>
            </a:r>
          </a:p>
        </p:txBody>
      </p:sp>
      <p:sp>
        <p:nvSpPr>
          <p:cNvPr id="31" name="TextBox 30"/>
          <p:cNvSpPr txBox="1"/>
          <p:nvPr/>
        </p:nvSpPr>
        <p:spPr>
          <a:xfrm>
            <a:off x="809625" y="2881312"/>
            <a:ext cx="4108911" cy="228600"/>
          </a:xfrm>
          <a:prstGeom prst="rect">
            <a:avLst/>
          </a:prstGeom>
          <a:noFill/>
        </p:spPr>
        <p:txBody>
          <a:bodyPr wrap="none" lIns="0" rIns="0" tIns="0" bIns="0" anchor="t">
            <a:spAutoFit/>
          </a:bodyPr>
          <a:lstStyle/>
          <a:p>
            <a:pPr algn="l"/>
            <a:r>
              <a:rPr b="1" sz="1425" i="0" u="none">
                <a:solidFill>
                  <a:srgbClr val="0F172A"/>
                </a:solidFill>
                <a:latin typeface="Plus Jakarta Sans"/>
              </a:rPr>
              <a:t>AI Tư Vấn Lớp Phù Hợp</a:t>
            </a:r>
          </a:p>
        </p:txBody>
      </p:sp>
      <p:sp>
        <p:nvSpPr>
          <p:cNvPr id="32" name="TextBox 31"/>
          <p:cNvSpPr txBox="1"/>
          <p:nvPr/>
        </p:nvSpPr>
        <p:spPr>
          <a:xfrm>
            <a:off x="809625" y="3186112"/>
            <a:ext cx="3913249" cy="171450"/>
          </a:xfrm>
          <a:prstGeom prst="rect">
            <a:avLst/>
          </a:prstGeom>
          <a:noFill/>
        </p:spPr>
        <p:txBody>
          <a:bodyPr wrap="none" lIns="0" rIns="0" tIns="0" bIns="0" anchor="t">
            <a:spAutoFit/>
          </a:bodyPr>
          <a:lstStyle/>
          <a:p>
            <a:pPr algn="l"/>
            <a:r>
              <a:rPr b="1" sz="1050" i="0" u="none">
                <a:solidFill>
                  <a:srgbClr val="64748B"/>
                </a:solidFill>
                <a:latin typeface="Plus Jakarta Sans"/>
              </a:rPr>
              <a:t>Mô hình:</a:t>
            </a:r>
            <a:r>
              <a:rPr b="0" sz="1050" i="0" u="none">
                <a:solidFill>
                  <a:srgbClr val="64748B"/>
                </a:solidFill>
                <a:latin typeface="Plus Jakarta Sans"/>
              </a:rPr>
              <a:t> Gemini 3.1 Flash-Lite (Tốc độ &lt; 0.5s)</a:t>
            </a:r>
          </a:p>
        </p:txBody>
      </p:sp>
      <p:sp>
        <p:nvSpPr>
          <p:cNvPr id="33" name="TextBox 32"/>
          <p:cNvSpPr txBox="1"/>
          <p:nvPr/>
        </p:nvSpPr>
        <p:spPr>
          <a:xfrm>
            <a:off x="904875" y="4938712"/>
            <a:ext cx="3035349" cy="304800"/>
          </a:xfrm>
          <a:prstGeom prst="rect">
            <a:avLst/>
          </a:prstGeom>
          <a:noFill/>
        </p:spPr>
        <p:txBody>
          <a:bodyPr wrap="square" lIns="0" rIns="0" tIns="0" bIns="0" anchor="t">
            <a:spAutoFit/>
          </a:bodyPr>
          <a:lstStyle/>
          <a:p>
            <a:pPr algn="l"/>
            <a:r>
              <a:rPr b="1" sz="900" i="0" u="none">
                <a:solidFill>
                  <a:srgbClr val="475569"/>
                </a:solidFill>
                <a:latin typeface="Plus Jakarta Sans"/>
              </a:rPr>
              <a:t>Fallback:</a:t>
            </a:r>
            <a:r>
              <a:rPr b="0" sz="900" i="0" u="none">
                <a:solidFill>
                  <a:srgbClr val="475569"/>
                </a:solidFill>
                <a:latin typeface="Plus Jakarta Sans"/>
              </a:rPr>
              <a:t> Lọc SQL theo CEFR, thứ và sĩ số còn chỗ khi timeout.</a:t>
            </a:r>
          </a:p>
        </p:txBody>
      </p:sp>
      <p:sp>
        <p:nvSpPr>
          <p:cNvPr id="34" name="TextBox 33"/>
          <p:cNvSpPr txBox="1"/>
          <p:nvPr/>
        </p:nvSpPr>
        <p:spPr>
          <a:xfrm>
            <a:off x="4530774" y="2881312"/>
            <a:ext cx="4108911" cy="228600"/>
          </a:xfrm>
          <a:prstGeom prst="rect">
            <a:avLst/>
          </a:prstGeom>
          <a:noFill/>
        </p:spPr>
        <p:txBody>
          <a:bodyPr wrap="none" lIns="0" rIns="0" tIns="0" bIns="0" anchor="t">
            <a:spAutoFit/>
          </a:bodyPr>
          <a:lstStyle/>
          <a:p>
            <a:pPr algn="l"/>
            <a:r>
              <a:rPr b="1" sz="1425" i="0" u="none">
                <a:solidFill>
                  <a:srgbClr val="0F172A"/>
                </a:solidFill>
                <a:latin typeface="Plus Jakarta Sans"/>
              </a:rPr>
              <a:t>AI Sinh Đề Luyện Tập Ngắn</a:t>
            </a:r>
          </a:p>
        </p:txBody>
      </p:sp>
      <p:sp>
        <p:nvSpPr>
          <p:cNvPr id="35" name="TextBox 34"/>
          <p:cNvSpPr txBox="1"/>
          <p:nvPr/>
        </p:nvSpPr>
        <p:spPr>
          <a:xfrm>
            <a:off x="4530774" y="3186112"/>
            <a:ext cx="3913249" cy="171450"/>
          </a:xfrm>
          <a:prstGeom prst="rect">
            <a:avLst/>
          </a:prstGeom>
          <a:noFill/>
        </p:spPr>
        <p:txBody>
          <a:bodyPr wrap="none" lIns="0" rIns="0" tIns="0" bIns="0" anchor="t">
            <a:spAutoFit/>
          </a:bodyPr>
          <a:lstStyle/>
          <a:p>
            <a:pPr algn="l"/>
            <a:r>
              <a:rPr b="1" sz="1050" i="0" u="none">
                <a:solidFill>
                  <a:srgbClr val="64748B"/>
                </a:solidFill>
                <a:latin typeface="Plus Jakarta Sans"/>
              </a:rPr>
              <a:t>Mô hình:</a:t>
            </a:r>
            <a:r>
              <a:rPr b="0" sz="1050" i="0" u="none">
                <a:solidFill>
                  <a:srgbClr val="64748B"/>
                </a:solidFill>
                <a:latin typeface="Plus Jakarta Sans"/>
              </a:rPr>
              <a:t> Gemini 3.1 Flash-Lite (JSON Schema)</a:t>
            </a:r>
          </a:p>
        </p:txBody>
      </p:sp>
      <p:sp>
        <p:nvSpPr>
          <p:cNvPr id="36" name="TextBox 35"/>
          <p:cNvSpPr txBox="1"/>
          <p:nvPr/>
        </p:nvSpPr>
        <p:spPr>
          <a:xfrm>
            <a:off x="4626024" y="4938712"/>
            <a:ext cx="3035349" cy="304800"/>
          </a:xfrm>
          <a:prstGeom prst="rect">
            <a:avLst/>
          </a:prstGeom>
          <a:noFill/>
        </p:spPr>
        <p:txBody>
          <a:bodyPr wrap="square" lIns="0" rIns="0" tIns="0" bIns="0" anchor="t">
            <a:spAutoFit/>
          </a:bodyPr>
          <a:lstStyle/>
          <a:p>
            <a:pPr algn="l"/>
            <a:r>
              <a:rPr b="1" sz="900" i="0" u="none">
                <a:solidFill>
                  <a:srgbClr val="475569"/>
                </a:solidFill>
                <a:latin typeface="Plus Jakarta Sans"/>
              </a:rPr>
              <a:t>Fallback:</a:t>
            </a:r>
            <a:r>
              <a:rPr b="0" sz="900" i="0" u="none">
                <a:solidFill>
                  <a:srgbClr val="475569"/>
                </a:solidFill>
                <a:latin typeface="Plus Jakarta Sans"/>
              </a:rPr>
              <a:t> Nạp bộ câu hỏi mẫu từ ngân hàng đề Seed cố định.</a:t>
            </a:r>
          </a:p>
        </p:txBody>
      </p:sp>
      <p:sp>
        <p:nvSpPr>
          <p:cNvPr id="37" name="TextBox 36"/>
          <p:cNvSpPr txBox="1"/>
          <p:nvPr/>
        </p:nvSpPr>
        <p:spPr>
          <a:xfrm>
            <a:off x="8251924" y="2881312"/>
            <a:ext cx="3940075" cy="228600"/>
          </a:xfrm>
          <a:prstGeom prst="rect">
            <a:avLst/>
          </a:prstGeom>
          <a:noFill/>
        </p:spPr>
        <p:txBody>
          <a:bodyPr wrap="none" lIns="0" rIns="0" tIns="0" bIns="0" anchor="t">
            <a:spAutoFit/>
          </a:bodyPr>
          <a:lstStyle/>
          <a:p>
            <a:pPr algn="l"/>
            <a:r>
              <a:rPr b="1" sz="1425" i="0" u="none">
                <a:solidFill>
                  <a:srgbClr val="0F172A"/>
                </a:solidFill>
                <a:latin typeface="Plus Jakarta Sans"/>
              </a:rPr>
              <a:t>AI Tóm Tắt Tiến Độ Học Tập</a:t>
            </a:r>
          </a:p>
        </p:txBody>
      </p:sp>
      <p:sp>
        <p:nvSpPr>
          <p:cNvPr id="38" name="TextBox 37"/>
          <p:cNvSpPr txBox="1"/>
          <p:nvPr/>
        </p:nvSpPr>
        <p:spPr>
          <a:xfrm>
            <a:off x="8251924" y="3186112"/>
            <a:ext cx="3913249" cy="171450"/>
          </a:xfrm>
          <a:prstGeom prst="rect">
            <a:avLst/>
          </a:prstGeom>
          <a:noFill/>
        </p:spPr>
        <p:txBody>
          <a:bodyPr wrap="none" lIns="0" rIns="0" tIns="0" bIns="0" anchor="t">
            <a:spAutoFit/>
          </a:bodyPr>
          <a:lstStyle/>
          <a:p>
            <a:pPr algn="l"/>
            <a:r>
              <a:rPr b="1" sz="1050" i="0" u="none">
                <a:solidFill>
                  <a:srgbClr val="64748B"/>
                </a:solidFill>
                <a:latin typeface="Plus Jakarta Sans"/>
              </a:rPr>
              <a:t>Mô hình:</a:t>
            </a:r>
            <a:r>
              <a:rPr b="0" sz="1050" i="0" u="none">
                <a:solidFill>
                  <a:srgbClr val="64748B"/>
                </a:solidFill>
                <a:latin typeface="Plus Jakarta Sans"/>
              </a:rPr>
              <a:t> Gemini 3.1 Pro (Phân tích sâu ngữ cảnh)</a:t>
            </a:r>
          </a:p>
        </p:txBody>
      </p:sp>
      <p:sp>
        <p:nvSpPr>
          <p:cNvPr id="39" name="TextBox 38"/>
          <p:cNvSpPr txBox="1"/>
          <p:nvPr/>
        </p:nvSpPr>
        <p:spPr>
          <a:xfrm>
            <a:off x="8347174" y="4938712"/>
            <a:ext cx="3035349" cy="304800"/>
          </a:xfrm>
          <a:prstGeom prst="rect">
            <a:avLst/>
          </a:prstGeom>
          <a:noFill/>
        </p:spPr>
        <p:txBody>
          <a:bodyPr wrap="square" lIns="0" rIns="0" tIns="0" bIns="0" anchor="t">
            <a:spAutoFit/>
          </a:bodyPr>
          <a:lstStyle/>
          <a:p>
            <a:pPr algn="l"/>
            <a:r>
              <a:rPr b="1" sz="900" i="0" u="none">
                <a:solidFill>
                  <a:srgbClr val="475569"/>
                </a:solidFill>
                <a:latin typeface="Plus Jakarta Sans"/>
              </a:rPr>
              <a:t>Fallback:</a:t>
            </a:r>
            <a:r>
              <a:rPr b="0" sz="900" i="0" u="none">
                <a:solidFill>
                  <a:srgbClr val="475569"/>
                </a:solidFill>
                <a:latin typeface="Plus Jakarta Sans"/>
              </a:rPr>
              <a:t> Tổng hợp bản nhận xét mẫu theo quy tắc điểm số.</a:t>
            </a:r>
          </a:p>
        </p:txBody>
      </p:sp>
      <p:sp>
        <p:nvSpPr>
          <p:cNvPr id="40" name="TextBox 39"/>
          <p:cNvSpPr txBox="1"/>
          <p:nvPr/>
        </p:nvSpPr>
        <p:spPr>
          <a:xfrm>
            <a:off x="3492549" y="2505075"/>
            <a:ext cx="466725" cy="142875"/>
          </a:xfrm>
          <a:prstGeom prst="rect">
            <a:avLst/>
          </a:prstGeom>
          <a:noFill/>
        </p:spPr>
        <p:txBody>
          <a:bodyPr wrap="square" lIns="0" rIns="0" tIns="0" bIns="0" anchor="t">
            <a:spAutoFit/>
          </a:bodyPr>
          <a:lstStyle/>
          <a:p>
            <a:pPr algn="l"/>
            <a:r>
              <a:rPr b="1" sz="900" i="0" u="none">
                <a:solidFill>
                  <a:srgbClr val="0284C7"/>
                </a:solidFill>
                <a:latin typeface="Plus Jakarta Sans"/>
              </a:rPr>
              <a:t>UC012</a:t>
            </a:r>
          </a:p>
        </p:txBody>
      </p:sp>
      <p:sp>
        <p:nvSpPr>
          <p:cNvPr id="41" name="TextBox 40"/>
          <p:cNvSpPr txBox="1"/>
          <p:nvPr/>
        </p:nvSpPr>
        <p:spPr>
          <a:xfrm>
            <a:off x="809625" y="3471862"/>
            <a:ext cx="3225849" cy="400050"/>
          </a:xfrm>
          <a:prstGeom prst="rect">
            <a:avLst/>
          </a:prstGeom>
          <a:noFill/>
        </p:spPr>
        <p:txBody>
          <a:bodyPr wrap="square" lIns="0" rIns="0" tIns="0" bIns="0" anchor="t">
            <a:spAutoFit/>
          </a:bodyPr>
          <a:lstStyle/>
          <a:p>
            <a:pPr algn="l">
              <a:lnSpc>
                <a:spcPts val="1575"/>
              </a:lnSpc>
            </a:pPr>
            <a:r>
              <a:rPr b="0" sz="1050" i="0" u="none">
                <a:solidFill>
                  <a:srgbClr val="334155"/>
                </a:solidFill>
                <a:latin typeface="Plus Jakarta Sans"/>
              </a:rPr>
              <a:t>• </a:t>
            </a:r>
            <a:r>
              <a:rPr b="1" sz="1050" i="0" u="none">
                <a:solidFill>
                  <a:srgbClr val="334155"/>
                </a:solidFill>
                <a:latin typeface="Plus Jakarta Sans"/>
              </a:rPr>
              <a:t>Đầu vào:</a:t>
            </a:r>
            <a:r>
              <a:rPr b="0" sz="1050" i="0" u="none">
                <a:solidFill>
                  <a:srgbClr val="334155"/>
                </a:solidFill>
                <a:latin typeface="Plus Jakarta Sans"/>
              </a:rPr>
              <a:t> CEFR (A1-C2), lịch rảnh JSON, danh sách lớp đang mở.</a:t>
            </a:r>
          </a:p>
        </p:txBody>
      </p:sp>
      <p:sp>
        <p:nvSpPr>
          <p:cNvPr id="42" name="TextBox 41"/>
          <p:cNvSpPr txBox="1"/>
          <p:nvPr/>
        </p:nvSpPr>
        <p:spPr>
          <a:xfrm>
            <a:off x="809625" y="3910012"/>
            <a:ext cx="3225849" cy="400050"/>
          </a:xfrm>
          <a:prstGeom prst="rect">
            <a:avLst/>
          </a:prstGeom>
          <a:noFill/>
        </p:spPr>
        <p:txBody>
          <a:bodyPr wrap="square" lIns="0" rIns="0" tIns="0" bIns="0" anchor="t">
            <a:spAutoFit/>
          </a:bodyPr>
          <a:lstStyle/>
          <a:p>
            <a:pPr algn="l">
              <a:lnSpc>
                <a:spcPts val="1575"/>
              </a:lnSpc>
            </a:pPr>
            <a:r>
              <a:rPr b="0" sz="1050" i="0" u="none">
                <a:solidFill>
                  <a:srgbClr val="334155"/>
                </a:solidFill>
                <a:latin typeface="Plus Jakarta Sans"/>
              </a:rPr>
              <a:t>• </a:t>
            </a:r>
            <a:r>
              <a:rPr b="1" sz="1050" i="0" u="none">
                <a:solidFill>
                  <a:srgbClr val="334155"/>
                </a:solidFill>
                <a:latin typeface="Plus Jakarta Sans"/>
              </a:rPr>
              <a:t>Đầu ra:</a:t>
            </a:r>
            <a:r>
              <a:rPr b="0" sz="1050" i="0" u="none">
                <a:solidFill>
                  <a:srgbClr val="334155"/>
                </a:solidFill>
                <a:latin typeface="Plus Jakarta Sans"/>
              </a:rPr>
              <a:t> Gợi ý tối đa 3 lớp học thực tế kèm phân tích độ tương thích.</a:t>
            </a:r>
          </a:p>
        </p:txBody>
      </p:sp>
      <p:sp>
        <p:nvSpPr>
          <p:cNvPr id="43" name="TextBox 42"/>
          <p:cNvSpPr txBox="1"/>
          <p:nvPr/>
        </p:nvSpPr>
        <p:spPr>
          <a:xfrm>
            <a:off x="809625" y="4348162"/>
            <a:ext cx="3225849" cy="400050"/>
          </a:xfrm>
          <a:prstGeom prst="rect">
            <a:avLst/>
          </a:prstGeom>
          <a:noFill/>
        </p:spPr>
        <p:txBody>
          <a:bodyPr wrap="square" lIns="0" rIns="0" tIns="0" bIns="0" anchor="t">
            <a:spAutoFit/>
          </a:bodyPr>
          <a:lstStyle/>
          <a:p>
            <a:pPr algn="l">
              <a:lnSpc>
                <a:spcPts val="1575"/>
              </a:lnSpc>
            </a:pPr>
            <a:r>
              <a:rPr b="0" sz="1050" i="0" u="none">
                <a:solidFill>
                  <a:srgbClr val="334155"/>
                </a:solidFill>
                <a:latin typeface="Plus Jakarta Sans"/>
              </a:rPr>
              <a:t>• </a:t>
            </a:r>
            <a:r>
              <a:rPr b="1" sz="1050" i="0" u="none">
                <a:solidFill>
                  <a:srgbClr val="334155"/>
                </a:solidFill>
                <a:latin typeface="Plus Jakarta Sans"/>
              </a:rPr>
              <a:t>Nguyên tắc:</a:t>
            </a:r>
            <a:r>
              <a:rPr b="0" sz="1050" i="0" u="none">
                <a:solidFill>
                  <a:srgbClr val="334155"/>
                </a:solidFill>
                <a:latin typeface="Plus Jakarta Sans"/>
              </a:rPr>
              <a:t> Không gợi ý ngoài dữ liệu, không cam kết kết quả học tập.</a:t>
            </a:r>
          </a:p>
        </p:txBody>
      </p:sp>
      <p:sp>
        <p:nvSpPr>
          <p:cNvPr id="44" name="TextBox 43"/>
          <p:cNvSpPr txBox="1"/>
          <p:nvPr/>
        </p:nvSpPr>
        <p:spPr>
          <a:xfrm>
            <a:off x="7213699" y="2505075"/>
            <a:ext cx="466725" cy="142875"/>
          </a:xfrm>
          <a:prstGeom prst="rect">
            <a:avLst/>
          </a:prstGeom>
          <a:noFill/>
        </p:spPr>
        <p:txBody>
          <a:bodyPr wrap="square" lIns="0" rIns="0" tIns="0" bIns="0" anchor="t">
            <a:spAutoFit/>
          </a:bodyPr>
          <a:lstStyle/>
          <a:p>
            <a:pPr algn="l"/>
            <a:r>
              <a:rPr b="1" sz="900" i="0" u="none">
                <a:solidFill>
                  <a:srgbClr val="7C3AED"/>
                </a:solidFill>
                <a:latin typeface="Plus Jakarta Sans"/>
              </a:rPr>
              <a:t>UC013</a:t>
            </a:r>
          </a:p>
        </p:txBody>
      </p:sp>
      <p:sp>
        <p:nvSpPr>
          <p:cNvPr id="45" name="TextBox 44"/>
          <p:cNvSpPr txBox="1"/>
          <p:nvPr/>
        </p:nvSpPr>
        <p:spPr>
          <a:xfrm>
            <a:off x="4530774" y="3471862"/>
            <a:ext cx="3225849" cy="400050"/>
          </a:xfrm>
          <a:prstGeom prst="rect">
            <a:avLst/>
          </a:prstGeom>
          <a:noFill/>
        </p:spPr>
        <p:txBody>
          <a:bodyPr wrap="square" lIns="0" rIns="0" tIns="0" bIns="0" anchor="t">
            <a:spAutoFit/>
          </a:bodyPr>
          <a:lstStyle/>
          <a:p>
            <a:pPr algn="l">
              <a:lnSpc>
                <a:spcPts val="1575"/>
              </a:lnSpc>
            </a:pPr>
            <a:r>
              <a:rPr b="0" sz="1050" i="0" u="none">
                <a:solidFill>
                  <a:srgbClr val="334155"/>
                </a:solidFill>
                <a:latin typeface="Plus Jakarta Sans"/>
              </a:rPr>
              <a:t>• </a:t>
            </a:r>
            <a:r>
              <a:rPr b="1" sz="1050" i="0" u="none">
                <a:solidFill>
                  <a:srgbClr val="334155"/>
                </a:solidFill>
                <a:latin typeface="Plus Jakarta Sans"/>
              </a:rPr>
              <a:t>Đầu vào:</a:t>
            </a:r>
            <a:r>
              <a:rPr b="0" sz="1050" i="0" u="none">
                <a:solidFill>
                  <a:srgbClr val="334155"/>
                </a:solidFill>
                <a:latin typeface="Plus Jakarta Sans"/>
              </a:rPr>
              <a:t> Chủ đề ngữ pháp / từ vựng và chuẩn CEFR mục tiêu.</a:t>
            </a:r>
          </a:p>
        </p:txBody>
      </p:sp>
      <p:sp>
        <p:nvSpPr>
          <p:cNvPr id="46" name="TextBox 45"/>
          <p:cNvSpPr txBox="1"/>
          <p:nvPr/>
        </p:nvSpPr>
        <p:spPr>
          <a:xfrm>
            <a:off x="4530774" y="3910012"/>
            <a:ext cx="3225849" cy="400050"/>
          </a:xfrm>
          <a:prstGeom prst="rect">
            <a:avLst/>
          </a:prstGeom>
          <a:noFill/>
        </p:spPr>
        <p:txBody>
          <a:bodyPr wrap="square" lIns="0" rIns="0" tIns="0" bIns="0" anchor="t">
            <a:spAutoFit/>
          </a:bodyPr>
          <a:lstStyle/>
          <a:p>
            <a:pPr algn="l">
              <a:lnSpc>
                <a:spcPts val="1575"/>
              </a:lnSpc>
            </a:pPr>
            <a:r>
              <a:rPr b="0" sz="1050" i="0" u="none">
                <a:solidFill>
                  <a:srgbClr val="334155"/>
                </a:solidFill>
                <a:latin typeface="Plus Jakarta Sans"/>
              </a:rPr>
              <a:t>• </a:t>
            </a:r>
            <a:r>
              <a:rPr b="1" sz="1050" i="0" u="none">
                <a:solidFill>
                  <a:srgbClr val="334155"/>
                </a:solidFill>
                <a:latin typeface="Plus Jakarta Sans"/>
              </a:rPr>
              <a:t>Đầu ra:</a:t>
            </a:r>
            <a:r>
              <a:rPr b="0" sz="1050" i="0" u="none">
                <a:solidFill>
                  <a:srgbClr val="334155"/>
                </a:solidFill>
                <a:latin typeface="Plus Jakarta Sans"/>
              </a:rPr>
              <a:t> 5-15 câu trắc nghiệm chuẩn 4 lựa chọn kèm giải thích.</a:t>
            </a:r>
          </a:p>
        </p:txBody>
      </p:sp>
      <p:sp>
        <p:nvSpPr>
          <p:cNvPr id="47" name="TextBox 46"/>
          <p:cNvSpPr txBox="1"/>
          <p:nvPr/>
        </p:nvSpPr>
        <p:spPr>
          <a:xfrm>
            <a:off x="4530774" y="4348162"/>
            <a:ext cx="3225849" cy="400050"/>
          </a:xfrm>
          <a:prstGeom prst="rect">
            <a:avLst/>
          </a:prstGeom>
          <a:noFill/>
        </p:spPr>
        <p:txBody>
          <a:bodyPr wrap="square" lIns="0" rIns="0" tIns="0" bIns="0" anchor="t">
            <a:spAutoFit/>
          </a:bodyPr>
          <a:lstStyle/>
          <a:p>
            <a:pPr algn="l">
              <a:lnSpc>
                <a:spcPts val="1575"/>
              </a:lnSpc>
            </a:pPr>
            <a:r>
              <a:rPr b="0" sz="1050" i="0" u="none">
                <a:solidFill>
                  <a:srgbClr val="334155"/>
                </a:solidFill>
                <a:latin typeface="Plus Jakarta Sans"/>
              </a:rPr>
              <a:t>• </a:t>
            </a:r>
            <a:r>
              <a:rPr b="1" sz="1050" i="0" u="none">
                <a:solidFill>
                  <a:srgbClr val="334155"/>
                </a:solidFill>
                <a:latin typeface="Plus Jakarta Sans"/>
              </a:rPr>
              <a:t>Định dạng:</a:t>
            </a:r>
            <a:r>
              <a:rPr b="0" sz="1050" i="0" u="none">
                <a:solidFill>
                  <a:srgbClr val="334155"/>
                </a:solidFill>
                <a:latin typeface="Plus Jakarta Sans"/>
              </a:rPr>
              <a:t> JSON cấu trúc (question, options, correct, explanation).</a:t>
            </a:r>
          </a:p>
        </p:txBody>
      </p:sp>
      <p:sp>
        <p:nvSpPr>
          <p:cNvPr id="48" name="TextBox 47"/>
          <p:cNvSpPr txBox="1"/>
          <p:nvPr/>
        </p:nvSpPr>
        <p:spPr>
          <a:xfrm>
            <a:off x="10925323" y="2505075"/>
            <a:ext cx="476250" cy="142875"/>
          </a:xfrm>
          <a:prstGeom prst="rect">
            <a:avLst/>
          </a:prstGeom>
          <a:noFill/>
        </p:spPr>
        <p:txBody>
          <a:bodyPr wrap="square" lIns="0" rIns="0" tIns="0" bIns="0" anchor="t">
            <a:spAutoFit/>
          </a:bodyPr>
          <a:lstStyle/>
          <a:p>
            <a:pPr algn="l"/>
            <a:r>
              <a:rPr b="1" sz="900" i="0" u="none">
                <a:solidFill>
                  <a:srgbClr val="0F172A"/>
                </a:solidFill>
                <a:latin typeface="Plus Jakarta Sans"/>
              </a:rPr>
              <a:t>UC014</a:t>
            </a:r>
          </a:p>
        </p:txBody>
      </p:sp>
      <p:sp>
        <p:nvSpPr>
          <p:cNvPr id="49" name="TextBox 48"/>
          <p:cNvSpPr txBox="1"/>
          <p:nvPr/>
        </p:nvSpPr>
        <p:spPr>
          <a:xfrm>
            <a:off x="8251924" y="3471862"/>
            <a:ext cx="3225849" cy="400050"/>
          </a:xfrm>
          <a:prstGeom prst="rect">
            <a:avLst/>
          </a:prstGeom>
          <a:noFill/>
        </p:spPr>
        <p:txBody>
          <a:bodyPr wrap="square" lIns="0" rIns="0" tIns="0" bIns="0" anchor="t">
            <a:spAutoFit/>
          </a:bodyPr>
          <a:lstStyle/>
          <a:p>
            <a:pPr algn="l">
              <a:lnSpc>
                <a:spcPts val="1575"/>
              </a:lnSpc>
            </a:pPr>
            <a:r>
              <a:rPr b="0" sz="1050" i="0" u="none">
                <a:solidFill>
                  <a:srgbClr val="334155"/>
                </a:solidFill>
                <a:latin typeface="Plus Jakarta Sans"/>
              </a:rPr>
              <a:t>• </a:t>
            </a:r>
            <a:r>
              <a:rPr b="1" sz="1050" i="0" u="none">
                <a:solidFill>
                  <a:srgbClr val="334155"/>
                </a:solidFill>
                <a:latin typeface="Plus Jakarta Sans"/>
              </a:rPr>
              <a:t>Đầu vào:</a:t>
            </a:r>
            <a:r>
              <a:rPr b="0" sz="1050" i="0" u="none">
                <a:solidFill>
                  <a:srgbClr val="334155"/>
                </a:solidFill>
                <a:latin typeface="Plus Jakarta Sans"/>
              </a:rPr>
              <a:t> Bảng ghi chuyên cần (buổi vắng, muộn) và điểm 3 thành phần.</a:t>
            </a:r>
          </a:p>
        </p:txBody>
      </p:sp>
      <p:sp>
        <p:nvSpPr>
          <p:cNvPr id="50" name="TextBox 49"/>
          <p:cNvSpPr txBox="1"/>
          <p:nvPr/>
        </p:nvSpPr>
        <p:spPr>
          <a:xfrm>
            <a:off x="8251924" y="3910012"/>
            <a:ext cx="3225849" cy="400050"/>
          </a:xfrm>
          <a:prstGeom prst="rect">
            <a:avLst/>
          </a:prstGeom>
          <a:noFill/>
        </p:spPr>
        <p:txBody>
          <a:bodyPr wrap="square" lIns="0" rIns="0" tIns="0" bIns="0" anchor="t">
            <a:spAutoFit/>
          </a:bodyPr>
          <a:lstStyle/>
          <a:p>
            <a:pPr algn="l">
              <a:lnSpc>
                <a:spcPts val="1575"/>
              </a:lnSpc>
            </a:pPr>
            <a:r>
              <a:rPr b="0" sz="1050" i="0" u="none">
                <a:solidFill>
                  <a:srgbClr val="334155"/>
                </a:solidFill>
                <a:latin typeface="Plus Jakarta Sans"/>
              </a:rPr>
              <a:t>• </a:t>
            </a:r>
            <a:r>
              <a:rPr b="1" sz="1050" i="0" u="none">
                <a:solidFill>
                  <a:srgbClr val="334155"/>
                </a:solidFill>
                <a:latin typeface="Plus Jakarta Sans"/>
              </a:rPr>
              <a:t>Đầu ra:</a:t>
            </a:r>
            <a:r>
              <a:rPr b="0" sz="1050" i="0" u="none">
                <a:solidFill>
                  <a:srgbClr val="334155"/>
                </a:solidFill>
                <a:latin typeface="Plus Jakarta Sans"/>
              </a:rPr>
              <a:t> Tóm tắt điểm mạnh, kỹ năng cần bù đắp và lộ trình ôn tập.</a:t>
            </a:r>
          </a:p>
        </p:txBody>
      </p:sp>
      <p:sp>
        <p:nvSpPr>
          <p:cNvPr id="51" name="TextBox 50"/>
          <p:cNvSpPr txBox="1"/>
          <p:nvPr/>
        </p:nvSpPr>
        <p:spPr>
          <a:xfrm>
            <a:off x="8251924" y="4348162"/>
            <a:ext cx="3225849" cy="400050"/>
          </a:xfrm>
          <a:prstGeom prst="rect">
            <a:avLst/>
          </a:prstGeom>
          <a:noFill/>
        </p:spPr>
        <p:txBody>
          <a:bodyPr wrap="square" lIns="0" rIns="0" tIns="0" bIns="0" anchor="t">
            <a:spAutoFit/>
          </a:bodyPr>
          <a:lstStyle/>
          <a:p>
            <a:pPr algn="l">
              <a:lnSpc>
                <a:spcPts val="1575"/>
              </a:lnSpc>
            </a:pPr>
            <a:r>
              <a:rPr b="0" sz="1050" i="0" u="none">
                <a:solidFill>
                  <a:srgbClr val="334155"/>
                </a:solidFill>
                <a:latin typeface="Plus Jakarta Sans"/>
              </a:rPr>
              <a:t>• </a:t>
            </a:r>
            <a:r>
              <a:rPr b="1" sz="1050" i="0" u="none">
                <a:solidFill>
                  <a:srgbClr val="334155"/>
                </a:solidFill>
                <a:latin typeface="Plus Jakarta Sans"/>
              </a:rPr>
              <a:t>Chống ảo giác:</a:t>
            </a:r>
            <a:r>
              <a:rPr b="0" sz="1050" i="0" u="none">
                <a:solidFill>
                  <a:srgbClr val="334155"/>
                </a:solidFill>
                <a:latin typeface="Plus Jakarta Sans"/>
              </a:rPr>
              <a:t> Tuyệt đối không thêm dữ kiện ngoài kết quả học tập.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609600" y="4506366"/>
            <a:ext cx="10972800" cy="1344662"/>
          </a:xfrm>
          <a:prstGeom prst="roundRect">
            <a:avLst>
              <a:gd name="adj" fmla="val 8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1825972"/>
            <a:ext cx="2087909" cy="1581150"/>
          </a:xfrm>
          <a:prstGeom prst="roundRect">
            <a:avLst>
              <a:gd name="adj" fmla="val 7228"/>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830859" y="1825972"/>
            <a:ext cx="2087909" cy="1581150"/>
          </a:xfrm>
          <a:prstGeom prst="roundRect">
            <a:avLst>
              <a:gd name="adj" fmla="val 7228"/>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52119" y="1825972"/>
            <a:ext cx="2087909" cy="1581150"/>
          </a:xfrm>
          <a:prstGeom prst="roundRect">
            <a:avLst>
              <a:gd name="adj" fmla="val 7228"/>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273379" y="1825972"/>
            <a:ext cx="2087909" cy="1581150"/>
          </a:xfrm>
          <a:prstGeom prst="roundRect">
            <a:avLst>
              <a:gd name="adj" fmla="val 7228"/>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494639" y="1825972"/>
            <a:ext cx="2087909" cy="1581150"/>
          </a:xfrm>
          <a:prstGeom prst="roundRect">
            <a:avLst>
              <a:gd name="adj" fmla="val 7228"/>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0284C7"/>
                </a:solidFill>
                <a:latin typeface="Plus Jakarta Sans"/>
              </a:rPr>
              <a:t>ĐỘ TIN CẬY &amp; KIỂM SOÁT RỦI RO GENAI</a:t>
            </a:r>
          </a:p>
        </p:txBody>
      </p:sp>
      <p:sp>
        <p:nvSpPr>
          <p:cNvPr id="9" name="TextBox 8"/>
          <p:cNvSpPr txBox="1"/>
          <p:nvPr/>
        </p:nvSpPr>
        <p:spPr>
          <a:xfrm>
            <a:off x="609600" y="685800"/>
            <a:ext cx="11582400" cy="361950"/>
          </a:xfrm>
          <a:prstGeom prst="rect">
            <a:avLst/>
          </a:prstGeom>
          <a:noFill/>
        </p:spPr>
        <p:txBody>
          <a:bodyPr wrap="none" lIns="0" rIns="0" tIns="0" bIns="0" anchor="t">
            <a:spAutoFit/>
          </a:bodyPr>
          <a:lstStyle/>
          <a:p>
            <a:pPr algn="l"/>
            <a:r>
              <a:rPr b="1" sz="2250" i="0" u="none">
                <a:solidFill>
                  <a:srgbClr val="0F172A"/>
                </a:solidFill>
                <a:latin typeface="Plus Jakarta Sans"/>
              </a:rPr>
              <a:t>Pipeline Xử Lý An Toàn &amp; Kiểm Soát Ảo Giác AI</a:t>
            </a:r>
          </a:p>
        </p:txBody>
      </p:sp>
      <p:sp>
        <p:nvSpPr>
          <p:cNvPr id="10" name="TextBox 9"/>
          <p:cNvSpPr txBox="1"/>
          <p:nvPr/>
        </p:nvSpPr>
        <p:spPr>
          <a:xfrm>
            <a:off x="847725" y="4706391"/>
            <a:ext cx="11344275" cy="209550"/>
          </a:xfrm>
          <a:prstGeom prst="rect">
            <a:avLst/>
          </a:prstGeom>
          <a:noFill/>
        </p:spPr>
        <p:txBody>
          <a:bodyPr wrap="none" lIns="0" rIns="0" tIns="0" bIns="0" anchor="t">
            <a:spAutoFit/>
          </a:bodyPr>
          <a:lstStyle/>
          <a:p>
            <a:pPr algn="l"/>
            <a:r>
              <a:rPr b="1" sz="1275" i="0" u="none">
                <a:solidFill>
                  <a:srgbClr val="0F172A"/>
                </a:solidFill>
                <a:latin typeface="Plus Jakarta Sans"/>
              </a:rPr>
              <a:t>Cấu Trúc Thực Thể Kiểm Toán Dữ Liệu AI (Bảng CSDL YeuCauAI):</a:t>
            </a:r>
          </a:p>
        </p:txBody>
      </p:sp>
      <p:sp>
        <p:nvSpPr>
          <p:cNvPr id="11" name="TextBox 10"/>
          <p:cNvSpPr txBox="1"/>
          <p:nvPr/>
        </p:nvSpPr>
        <p:spPr>
          <a:xfrm>
            <a:off x="771525" y="2006947"/>
            <a:ext cx="2205074" cy="238125"/>
          </a:xfrm>
          <a:prstGeom prst="rect">
            <a:avLst/>
          </a:prstGeom>
          <a:noFill/>
        </p:spPr>
        <p:txBody>
          <a:bodyPr wrap="none" lIns="0" rIns="0" tIns="0" bIns="0" anchor="t">
            <a:spAutoFit/>
          </a:bodyPr>
          <a:lstStyle/>
          <a:p>
            <a:pPr algn="l"/>
            <a:r>
              <a:rPr b="1" sz="1500" i="0" u="none">
                <a:solidFill>
                  <a:srgbClr val="0284C7"/>
                </a:solidFill>
                <a:latin typeface="Plus Jakarta Sans"/>
              </a:rPr>
              <a:t>BƯỚC 1</a:t>
            </a:r>
          </a:p>
        </p:txBody>
      </p:sp>
      <p:sp>
        <p:nvSpPr>
          <p:cNvPr id="12" name="TextBox 11"/>
          <p:cNvSpPr txBox="1"/>
          <p:nvPr/>
        </p:nvSpPr>
        <p:spPr>
          <a:xfrm>
            <a:off x="771525" y="2302222"/>
            <a:ext cx="2315328" cy="200025"/>
          </a:xfrm>
          <a:prstGeom prst="rect">
            <a:avLst/>
          </a:prstGeom>
          <a:noFill/>
        </p:spPr>
        <p:txBody>
          <a:bodyPr wrap="none" lIns="0" rIns="0" tIns="0" bIns="0" anchor="t">
            <a:spAutoFit/>
          </a:bodyPr>
          <a:lstStyle/>
          <a:p>
            <a:pPr algn="l"/>
            <a:r>
              <a:rPr b="1" sz="1200" i="0" u="none">
                <a:solidFill>
                  <a:srgbClr val="0F172A"/>
                </a:solidFill>
                <a:latin typeface="Plus Jakarta Sans"/>
              </a:rPr>
              <a:t>Lọc Đầu Vào</a:t>
            </a:r>
          </a:p>
        </p:txBody>
      </p:sp>
      <p:sp>
        <p:nvSpPr>
          <p:cNvPr id="13" name="TextBox 12"/>
          <p:cNvSpPr txBox="1"/>
          <p:nvPr/>
        </p:nvSpPr>
        <p:spPr>
          <a:xfrm>
            <a:off x="771525" y="2540347"/>
            <a:ext cx="1859309" cy="514350"/>
          </a:xfrm>
          <a:prstGeom prst="rect">
            <a:avLst/>
          </a:prstGeom>
          <a:noFill/>
        </p:spPr>
        <p:txBody>
          <a:bodyPr wrap="square" lIns="0" rIns="0" tIns="0" bIns="0" anchor="t">
            <a:spAutoFit/>
          </a:bodyPr>
          <a:lstStyle/>
          <a:p>
            <a:pPr algn="l"/>
            <a:r>
              <a:rPr b="0" sz="1050" i="0" u="none">
                <a:solidFill>
                  <a:srgbClr val="64748B"/>
                </a:solidFill>
                <a:latin typeface="Plus Jakarta Sans"/>
              </a:rPr>
              <a:t>Trích xuất tối thiểu: CEFR, lịch rảnh JSON, dữ liệu điểm thật từ CSDL quan hệ.</a:t>
            </a:r>
          </a:p>
        </p:txBody>
      </p:sp>
      <p:sp>
        <p:nvSpPr>
          <p:cNvPr id="14" name="TextBox 13"/>
          <p:cNvSpPr txBox="1"/>
          <p:nvPr/>
        </p:nvSpPr>
        <p:spPr>
          <a:xfrm>
            <a:off x="2992784" y="2006947"/>
            <a:ext cx="2205074" cy="238125"/>
          </a:xfrm>
          <a:prstGeom prst="rect">
            <a:avLst/>
          </a:prstGeom>
          <a:noFill/>
        </p:spPr>
        <p:txBody>
          <a:bodyPr wrap="none" lIns="0" rIns="0" tIns="0" bIns="0" anchor="t">
            <a:spAutoFit/>
          </a:bodyPr>
          <a:lstStyle/>
          <a:p>
            <a:pPr algn="l"/>
            <a:r>
              <a:rPr b="1" sz="1500" i="0" u="none">
                <a:solidFill>
                  <a:srgbClr val="0284C7"/>
                </a:solidFill>
                <a:latin typeface="Plus Jakarta Sans"/>
              </a:rPr>
              <a:t>BƯỚC 2</a:t>
            </a:r>
          </a:p>
        </p:txBody>
      </p:sp>
      <p:sp>
        <p:nvSpPr>
          <p:cNvPr id="15" name="TextBox 14"/>
          <p:cNvSpPr txBox="1"/>
          <p:nvPr/>
        </p:nvSpPr>
        <p:spPr>
          <a:xfrm>
            <a:off x="2992784" y="2302222"/>
            <a:ext cx="2315328" cy="200025"/>
          </a:xfrm>
          <a:prstGeom prst="rect">
            <a:avLst/>
          </a:prstGeom>
          <a:noFill/>
        </p:spPr>
        <p:txBody>
          <a:bodyPr wrap="none" lIns="0" rIns="0" tIns="0" bIns="0" anchor="t">
            <a:spAutoFit/>
          </a:bodyPr>
          <a:lstStyle/>
          <a:p>
            <a:pPr algn="l"/>
            <a:r>
              <a:rPr b="1" sz="1200" i="0" u="none">
                <a:solidFill>
                  <a:srgbClr val="0F172A"/>
                </a:solidFill>
                <a:latin typeface="Plus Jakarta Sans"/>
              </a:rPr>
              <a:t>Prompt Kỹ Thuật</a:t>
            </a:r>
          </a:p>
        </p:txBody>
      </p:sp>
      <p:sp>
        <p:nvSpPr>
          <p:cNvPr id="16" name="TextBox 15"/>
          <p:cNvSpPr txBox="1"/>
          <p:nvPr/>
        </p:nvSpPr>
        <p:spPr>
          <a:xfrm>
            <a:off x="2992784" y="2540347"/>
            <a:ext cx="1859309" cy="685800"/>
          </a:xfrm>
          <a:prstGeom prst="rect">
            <a:avLst/>
          </a:prstGeom>
          <a:noFill/>
        </p:spPr>
        <p:txBody>
          <a:bodyPr wrap="square" lIns="0" rIns="0" tIns="0" bIns="0" anchor="t">
            <a:spAutoFit/>
          </a:bodyPr>
          <a:lstStyle/>
          <a:p>
            <a:pPr algn="l"/>
            <a:r>
              <a:rPr b="0" sz="1050" i="0" u="none">
                <a:solidFill>
                  <a:srgbClr val="64748B"/>
                </a:solidFill>
                <a:latin typeface="Plus Jakarta Sans"/>
              </a:rPr>
              <a:t>Khóa System Prompt, ép định dạng JSON Schema, nhiệt độ thấp 0.2 chống suy diễn.</a:t>
            </a:r>
          </a:p>
        </p:txBody>
      </p:sp>
      <p:sp>
        <p:nvSpPr>
          <p:cNvPr id="17" name="TextBox 16"/>
          <p:cNvSpPr txBox="1"/>
          <p:nvPr/>
        </p:nvSpPr>
        <p:spPr>
          <a:xfrm>
            <a:off x="5214044" y="2006947"/>
            <a:ext cx="2205074" cy="238125"/>
          </a:xfrm>
          <a:prstGeom prst="rect">
            <a:avLst/>
          </a:prstGeom>
          <a:noFill/>
        </p:spPr>
        <p:txBody>
          <a:bodyPr wrap="none" lIns="0" rIns="0" tIns="0" bIns="0" anchor="t">
            <a:spAutoFit/>
          </a:bodyPr>
          <a:lstStyle/>
          <a:p>
            <a:pPr algn="l"/>
            <a:r>
              <a:rPr b="1" sz="1500" i="0" u="none">
                <a:solidFill>
                  <a:srgbClr val="0284C7"/>
                </a:solidFill>
                <a:latin typeface="Plus Jakarta Sans"/>
              </a:rPr>
              <a:t>BƯỚC 3</a:t>
            </a:r>
          </a:p>
        </p:txBody>
      </p:sp>
      <p:sp>
        <p:nvSpPr>
          <p:cNvPr id="18" name="TextBox 17"/>
          <p:cNvSpPr txBox="1"/>
          <p:nvPr/>
        </p:nvSpPr>
        <p:spPr>
          <a:xfrm>
            <a:off x="5214044" y="2302222"/>
            <a:ext cx="2315328" cy="200025"/>
          </a:xfrm>
          <a:prstGeom prst="rect">
            <a:avLst/>
          </a:prstGeom>
          <a:noFill/>
        </p:spPr>
        <p:txBody>
          <a:bodyPr wrap="none" lIns="0" rIns="0" tIns="0" bIns="0" anchor="t">
            <a:spAutoFit/>
          </a:bodyPr>
          <a:lstStyle/>
          <a:p>
            <a:pPr algn="l"/>
            <a:r>
              <a:rPr b="1" sz="1200" i="0" u="none">
                <a:solidFill>
                  <a:srgbClr val="0F172A"/>
                </a:solidFill>
                <a:latin typeface="Plus Jakarta Sans"/>
              </a:rPr>
              <a:t>Lọc Ảo Giác</a:t>
            </a:r>
          </a:p>
        </p:txBody>
      </p:sp>
      <p:sp>
        <p:nvSpPr>
          <p:cNvPr id="19" name="TextBox 18"/>
          <p:cNvSpPr txBox="1"/>
          <p:nvPr/>
        </p:nvSpPr>
        <p:spPr>
          <a:xfrm>
            <a:off x="5214044" y="2540347"/>
            <a:ext cx="1859309" cy="514350"/>
          </a:xfrm>
          <a:prstGeom prst="rect">
            <a:avLst/>
          </a:prstGeom>
          <a:noFill/>
        </p:spPr>
        <p:txBody>
          <a:bodyPr wrap="square" lIns="0" rIns="0" tIns="0" bIns="0" anchor="t">
            <a:spAutoFit/>
          </a:bodyPr>
          <a:lstStyle/>
          <a:p>
            <a:pPr algn="l"/>
            <a:r>
              <a:rPr b="0" sz="1050" i="0" u="none">
                <a:solidFill>
                  <a:srgbClr val="64748B"/>
                </a:solidFill>
                <a:latin typeface="Plus Jakarta Sans"/>
              </a:rPr>
              <a:t>Zero-Trust: Backend đối soát mã lớp với CSDL, loại bỏ 100% mã lớp không tồn tại.</a:t>
            </a:r>
          </a:p>
        </p:txBody>
      </p:sp>
      <p:sp>
        <p:nvSpPr>
          <p:cNvPr id="20" name="TextBox 19"/>
          <p:cNvSpPr txBox="1"/>
          <p:nvPr/>
        </p:nvSpPr>
        <p:spPr>
          <a:xfrm>
            <a:off x="7435304" y="2006947"/>
            <a:ext cx="2205074" cy="238125"/>
          </a:xfrm>
          <a:prstGeom prst="rect">
            <a:avLst/>
          </a:prstGeom>
          <a:noFill/>
        </p:spPr>
        <p:txBody>
          <a:bodyPr wrap="none" lIns="0" rIns="0" tIns="0" bIns="0" anchor="t">
            <a:spAutoFit/>
          </a:bodyPr>
          <a:lstStyle/>
          <a:p>
            <a:pPr algn="l"/>
            <a:r>
              <a:rPr b="1" sz="1500" i="0" u="none">
                <a:solidFill>
                  <a:srgbClr val="0284C7"/>
                </a:solidFill>
                <a:latin typeface="Plus Jakarta Sans"/>
              </a:rPr>
              <a:t>BƯỚC 4</a:t>
            </a:r>
          </a:p>
        </p:txBody>
      </p:sp>
      <p:sp>
        <p:nvSpPr>
          <p:cNvPr id="21" name="TextBox 20"/>
          <p:cNvSpPr txBox="1"/>
          <p:nvPr/>
        </p:nvSpPr>
        <p:spPr>
          <a:xfrm>
            <a:off x="7435304" y="2302222"/>
            <a:ext cx="2315328" cy="200025"/>
          </a:xfrm>
          <a:prstGeom prst="rect">
            <a:avLst/>
          </a:prstGeom>
          <a:noFill/>
        </p:spPr>
        <p:txBody>
          <a:bodyPr wrap="none" lIns="0" rIns="0" tIns="0" bIns="0" anchor="t">
            <a:spAutoFit/>
          </a:bodyPr>
          <a:lstStyle/>
          <a:p>
            <a:pPr algn="l"/>
            <a:r>
              <a:rPr b="1" sz="1200" i="0" u="none">
                <a:solidFill>
                  <a:srgbClr val="0F172A"/>
                </a:solidFill>
                <a:latin typeface="Plus Jakarta Sans"/>
              </a:rPr>
              <a:t>Kích Hoạt Fallback</a:t>
            </a:r>
          </a:p>
        </p:txBody>
      </p:sp>
      <p:sp>
        <p:nvSpPr>
          <p:cNvPr id="22" name="TextBox 21"/>
          <p:cNvSpPr txBox="1"/>
          <p:nvPr/>
        </p:nvSpPr>
        <p:spPr>
          <a:xfrm>
            <a:off x="7435304" y="2540347"/>
            <a:ext cx="1859309" cy="685800"/>
          </a:xfrm>
          <a:prstGeom prst="rect">
            <a:avLst/>
          </a:prstGeom>
          <a:noFill/>
        </p:spPr>
        <p:txBody>
          <a:bodyPr wrap="square" lIns="0" rIns="0" tIns="0" bIns="0" anchor="t">
            <a:spAutoFit/>
          </a:bodyPr>
          <a:lstStyle/>
          <a:p>
            <a:pPr algn="l"/>
            <a:r>
              <a:rPr b="0" sz="1050" i="0" u="none">
                <a:solidFill>
                  <a:srgbClr val="64748B"/>
                </a:solidFill>
                <a:latin typeface="Plus Jakarta Sans"/>
              </a:rPr>
              <a:t>Nếu timeout &gt;10s hoặc lỗi mạng, tự động chuyển sang bộ lọc Rule-based truyền thống.</a:t>
            </a:r>
          </a:p>
        </p:txBody>
      </p:sp>
      <p:sp>
        <p:nvSpPr>
          <p:cNvPr id="23" name="TextBox 22"/>
          <p:cNvSpPr txBox="1"/>
          <p:nvPr/>
        </p:nvSpPr>
        <p:spPr>
          <a:xfrm>
            <a:off x="9656564" y="2006947"/>
            <a:ext cx="2205074" cy="238125"/>
          </a:xfrm>
          <a:prstGeom prst="rect">
            <a:avLst/>
          </a:prstGeom>
          <a:noFill/>
        </p:spPr>
        <p:txBody>
          <a:bodyPr wrap="none" lIns="0" rIns="0" tIns="0" bIns="0" anchor="t">
            <a:spAutoFit/>
          </a:bodyPr>
          <a:lstStyle/>
          <a:p>
            <a:pPr algn="l"/>
            <a:r>
              <a:rPr b="1" sz="1500" i="0" u="none">
                <a:solidFill>
                  <a:srgbClr val="0F172A"/>
                </a:solidFill>
                <a:latin typeface="Plus Jakarta Sans"/>
              </a:rPr>
              <a:t>BƯỚC 5</a:t>
            </a:r>
          </a:p>
        </p:txBody>
      </p:sp>
      <p:sp>
        <p:nvSpPr>
          <p:cNvPr id="24" name="TextBox 23"/>
          <p:cNvSpPr txBox="1"/>
          <p:nvPr/>
        </p:nvSpPr>
        <p:spPr>
          <a:xfrm>
            <a:off x="9656564" y="2302222"/>
            <a:ext cx="2315328" cy="200025"/>
          </a:xfrm>
          <a:prstGeom prst="rect">
            <a:avLst/>
          </a:prstGeom>
          <a:noFill/>
        </p:spPr>
        <p:txBody>
          <a:bodyPr wrap="none" lIns="0" rIns="0" tIns="0" bIns="0" anchor="t">
            <a:spAutoFit/>
          </a:bodyPr>
          <a:lstStyle/>
          <a:p>
            <a:pPr algn="l"/>
            <a:r>
              <a:rPr b="1" sz="1200" i="0" u="none">
                <a:solidFill>
                  <a:srgbClr val="0F172A"/>
                </a:solidFill>
                <a:latin typeface="Plus Jakarta Sans"/>
              </a:rPr>
              <a:t>Audit Log AI</a:t>
            </a:r>
          </a:p>
        </p:txBody>
      </p:sp>
      <p:sp>
        <p:nvSpPr>
          <p:cNvPr id="25" name="TextBox 24"/>
          <p:cNvSpPr txBox="1"/>
          <p:nvPr/>
        </p:nvSpPr>
        <p:spPr>
          <a:xfrm>
            <a:off x="9656564" y="2540347"/>
            <a:ext cx="1859309" cy="514350"/>
          </a:xfrm>
          <a:prstGeom prst="rect">
            <a:avLst/>
          </a:prstGeom>
          <a:noFill/>
        </p:spPr>
        <p:txBody>
          <a:bodyPr wrap="square" lIns="0" rIns="0" tIns="0" bIns="0" anchor="t">
            <a:spAutoFit/>
          </a:bodyPr>
          <a:lstStyle/>
          <a:p>
            <a:pPr algn="l"/>
            <a:r>
              <a:rPr b="0" sz="1050" i="0" u="none">
                <a:solidFill>
                  <a:srgbClr val="64748B"/>
                </a:solidFill>
                <a:latin typeface="Plus Jakarta Sans"/>
              </a:rPr>
              <a:t>Ghi 100% nhật ký (prompt, raw response, độ trễ ms, token) vào bảng YeuCauAI.</a:t>
            </a:r>
          </a:p>
        </p:txBody>
      </p:sp>
      <p:sp>
        <p:nvSpPr>
          <p:cNvPr id="26" name="TextBox 25"/>
          <p:cNvSpPr txBox="1"/>
          <p:nvPr/>
        </p:nvSpPr>
        <p:spPr>
          <a:xfrm>
            <a:off x="847725" y="5011191"/>
            <a:ext cx="6417468" cy="213270"/>
          </a:xfrm>
          <a:prstGeom prst="rect">
            <a:avLst/>
          </a:prstGeom>
          <a:noFill/>
        </p:spPr>
        <p:txBody>
          <a:bodyPr wrap="none" lIns="0" rIns="0" tIns="0" bIns="0" anchor="t">
            <a:spAutoFit/>
          </a:bodyPr>
          <a:lstStyle/>
          <a:p>
            <a:pPr algn="l">
              <a:lnSpc>
                <a:spcPts val="1679"/>
              </a:lnSpc>
            </a:pPr>
            <a:r>
              <a:rPr b="0" sz="1050" i="0" u="none">
                <a:solidFill>
                  <a:srgbClr val="334155"/>
                </a:solidFill>
                <a:latin typeface="Plus Jakarta Sans"/>
              </a:rPr>
              <a:t>• </a:t>
            </a:r>
            <a:r>
              <a:rPr b="1" sz="1050" i="0" u="none">
                <a:solidFill>
                  <a:srgbClr val="334155"/>
                </a:solidFill>
                <a:latin typeface="Plus Jakarta Sans"/>
              </a:rPr>
              <a:t>loai_chuc_nang:</a:t>
            </a:r>
            <a:r>
              <a:rPr b="0" sz="1050" i="0" u="none">
                <a:solidFill>
                  <a:srgbClr val="334155"/>
                </a:solidFill>
                <a:latin typeface="Plus Jakarta Sans"/>
              </a:rPr>
              <a:t> CHECK (TU_VAN_LOP, SINH_BAI_TAP, TOM_TAT_TIEN_DO)</a:t>
            </a:r>
          </a:p>
        </p:txBody>
      </p:sp>
      <p:sp>
        <p:nvSpPr>
          <p:cNvPr id="27" name="TextBox 26"/>
          <p:cNvSpPr txBox="1"/>
          <p:nvPr/>
        </p:nvSpPr>
        <p:spPr>
          <a:xfrm>
            <a:off x="847725" y="5224462"/>
            <a:ext cx="6417468" cy="213270"/>
          </a:xfrm>
          <a:prstGeom prst="rect">
            <a:avLst/>
          </a:prstGeom>
          <a:noFill/>
        </p:spPr>
        <p:txBody>
          <a:bodyPr wrap="none" lIns="0" rIns="0" tIns="0" bIns="0" anchor="t">
            <a:spAutoFit/>
          </a:bodyPr>
          <a:lstStyle/>
          <a:p>
            <a:pPr algn="l">
              <a:lnSpc>
                <a:spcPts val="1679"/>
              </a:lnSpc>
            </a:pPr>
            <a:r>
              <a:rPr b="0" sz="1050" i="0" u="none">
                <a:solidFill>
                  <a:srgbClr val="334155"/>
                </a:solidFill>
                <a:latin typeface="Plus Jakarta Sans"/>
              </a:rPr>
              <a:t>• </a:t>
            </a:r>
            <a:r>
              <a:rPr b="1" sz="1050" i="0" u="none">
                <a:solidFill>
                  <a:srgbClr val="334155"/>
                </a:solidFill>
                <a:latin typeface="Plus Jakarta Sans"/>
              </a:rPr>
              <a:t>prompt_input:</a:t>
            </a:r>
            <a:r>
              <a:rPr b="0" sz="1050" i="0" u="none">
                <a:solidFill>
                  <a:srgbClr val="334155"/>
                </a:solidFill>
                <a:latin typeface="Plus Jakarta Sans"/>
              </a:rPr>
              <a:t> Lưu nguyên văn prompt gửi tới Gemini API</a:t>
            </a:r>
          </a:p>
        </p:txBody>
      </p:sp>
      <p:sp>
        <p:nvSpPr>
          <p:cNvPr id="28" name="TextBox 27"/>
          <p:cNvSpPr txBox="1"/>
          <p:nvPr/>
        </p:nvSpPr>
        <p:spPr>
          <a:xfrm>
            <a:off x="847725" y="5437733"/>
            <a:ext cx="6417468" cy="213270"/>
          </a:xfrm>
          <a:prstGeom prst="rect">
            <a:avLst/>
          </a:prstGeom>
          <a:noFill/>
        </p:spPr>
        <p:txBody>
          <a:bodyPr wrap="none" lIns="0" rIns="0" tIns="0" bIns="0" anchor="t">
            <a:spAutoFit/>
          </a:bodyPr>
          <a:lstStyle/>
          <a:p>
            <a:pPr algn="l">
              <a:lnSpc>
                <a:spcPts val="1679"/>
              </a:lnSpc>
            </a:pPr>
            <a:r>
              <a:rPr b="0" sz="1050" i="0" u="none">
                <a:solidFill>
                  <a:srgbClr val="334155"/>
                </a:solidFill>
                <a:latin typeface="Plus Jakarta Sans"/>
              </a:rPr>
              <a:t>• </a:t>
            </a:r>
            <a:r>
              <a:rPr b="1" sz="1050" i="0" u="none">
                <a:solidFill>
                  <a:srgbClr val="334155"/>
                </a:solidFill>
                <a:latin typeface="Plus Jakarta Sans"/>
              </a:rPr>
              <a:t>raw_output &amp; validated_json:</a:t>
            </a:r>
            <a:r>
              <a:rPr b="0" sz="1050" i="0" u="none">
                <a:solidFill>
                  <a:srgbClr val="334155"/>
                </a:solidFill>
                <a:latin typeface="Plus Jakarta Sans"/>
              </a:rPr>
              <a:t> Lưu JSON thô và JSON đã qua kiểm định</a:t>
            </a:r>
          </a:p>
        </p:txBody>
      </p:sp>
      <p:sp>
        <p:nvSpPr>
          <p:cNvPr id="29" name="TextBox 28"/>
          <p:cNvSpPr txBox="1"/>
          <p:nvPr/>
        </p:nvSpPr>
        <p:spPr>
          <a:xfrm>
            <a:off x="6210300" y="5011191"/>
            <a:ext cx="5981700" cy="213270"/>
          </a:xfrm>
          <a:prstGeom prst="rect">
            <a:avLst/>
          </a:prstGeom>
          <a:noFill/>
        </p:spPr>
        <p:txBody>
          <a:bodyPr wrap="none" lIns="0" rIns="0" tIns="0" bIns="0" anchor="t">
            <a:spAutoFit/>
          </a:bodyPr>
          <a:lstStyle/>
          <a:p>
            <a:pPr algn="l">
              <a:lnSpc>
                <a:spcPts val="1679"/>
              </a:lnSpc>
            </a:pPr>
            <a:r>
              <a:rPr b="0" sz="1050" i="0" u="none">
                <a:solidFill>
                  <a:srgbClr val="334155"/>
                </a:solidFill>
                <a:latin typeface="Plus Jakarta Sans"/>
              </a:rPr>
              <a:t>• </a:t>
            </a:r>
            <a:r>
              <a:rPr b="1" sz="1050" i="0" u="none">
                <a:solidFill>
                  <a:srgbClr val="334155"/>
                </a:solidFill>
                <a:latin typeface="Plus Jakarta Sans"/>
              </a:rPr>
              <a:t>thoi_gian_xu_ly_ms:</a:t>
            </a:r>
            <a:r>
              <a:rPr b="0" sz="1050" i="0" u="none">
                <a:solidFill>
                  <a:srgbClr val="334155"/>
                </a:solidFill>
                <a:latin typeface="Plus Jakarta Sans"/>
              </a:rPr>
              <a:t> Đo lường chính xác độ trễ mạng và mô hình (ms)</a:t>
            </a:r>
          </a:p>
        </p:txBody>
      </p:sp>
      <p:sp>
        <p:nvSpPr>
          <p:cNvPr id="30" name="TextBox 29"/>
          <p:cNvSpPr txBox="1"/>
          <p:nvPr/>
        </p:nvSpPr>
        <p:spPr>
          <a:xfrm>
            <a:off x="6210300" y="5224462"/>
            <a:ext cx="5981700" cy="213270"/>
          </a:xfrm>
          <a:prstGeom prst="rect">
            <a:avLst/>
          </a:prstGeom>
          <a:noFill/>
        </p:spPr>
        <p:txBody>
          <a:bodyPr wrap="none" lIns="0" rIns="0" tIns="0" bIns="0" anchor="t">
            <a:spAutoFit/>
          </a:bodyPr>
          <a:lstStyle/>
          <a:p>
            <a:pPr algn="l">
              <a:lnSpc>
                <a:spcPts val="1679"/>
              </a:lnSpc>
            </a:pPr>
            <a:r>
              <a:rPr b="0" sz="1050" i="0" u="none">
                <a:solidFill>
                  <a:srgbClr val="334155"/>
                </a:solidFill>
                <a:latin typeface="Plus Jakarta Sans"/>
              </a:rPr>
              <a:t>• </a:t>
            </a:r>
            <a:r>
              <a:rPr b="1" sz="1050" i="0" u="none">
                <a:solidFill>
                  <a:srgbClr val="334155"/>
                </a:solidFill>
                <a:latin typeface="Plus Jakarta Sans"/>
              </a:rPr>
              <a:t>trang_thai:</a:t>
            </a:r>
            <a:r>
              <a:rPr b="0" sz="1050" i="0" u="none">
                <a:solidFill>
                  <a:srgbClr val="334155"/>
                </a:solidFill>
                <a:latin typeface="Plus Jakarta Sans"/>
              </a:rPr>
              <a:t> THANH_CONG, LOI_VALIDATION, FALLBACK_APPLIED, TIMEOUT</a:t>
            </a:r>
          </a:p>
        </p:txBody>
      </p:sp>
      <p:sp>
        <p:nvSpPr>
          <p:cNvPr id="31" name="TextBox 30"/>
          <p:cNvSpPr txBox="1"/>
          <p:nvPr/>
        </p:nvSpPr>
        <p:spPr>
          <a:xfrm>
            <a:off x="6210300" y="5437733"/>
            <a:ext cx="5981700" cy="213270"/>
          </a:xfrm>
          <a:prstGeom prst="rect">
            <a:avLst/>
          </a:prstGeom>
          <a:noFill/>
        </p:spPr>
        <p:txBody>
          <a:bodyPr wrap="none" lIns="0" rIns="0" tIns="0" bIns="0" anchor="t">
            <a:spAutoFit/>
          </a:bodyPr>
          <a:lstStyle/>
          <a:p>
            <a:pPr algn="l">
              <a:lnSpc>
                <a:spcPts val="1679"/>
              </a:lnSpc>
            </a:pPr>
            <a:r>
              <a:rPr b="0" sz="1050" i="0" u="none">
                <a:solidFill>
                  <a:srgbClr val="334155"/>
                </a:solidFill>
                <a:latin typeface="Plus Jakarta Sans"/>
              </a:rPr>
              <a:t>• </a:t>
            </a:r>
            <a:r>
              <a:rPr b="1" sz="1050" i="0" u="none">
                <a:solidFill>
                  <a:srgbClr val="334155"/>
                </a:solidFill>
                <a:latin typeface="Plus Jakarta Sans"/>
              </a:rPr>
              <a:t>Bảo mật:</a:t>
            </a:r>
            <a:r>
              <a:rPr b="0" sz="1050" i="0" u="none">
                <a:solidFill>
                  <a:srgbClr val="334155"/>
                </a:solidFill>
                <a:latin typeface="Plus Jakarta Sans"/>
              </a:rPr>
              <a:t> API Key lưu độc quyền tại Server `.env`, cách ly tuyệt đối với Client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4415581"/>
            <a:ext cx="10972800" cy="1510307"/>
          </a:xfrm>
          <a:prstGeom prst="roundRect">
            <a:avLst>
              <a:gd name="adj" fmla="val 7567"/>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1732210"/>
            <a:ext cx="2628900" cy="1733550"/>
          </a:xfrm>
          <a:prstGeom prst="roundRect">
            <a:avLst>
              <a:gd name="adj" fmla="val 549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390900" y="1732210"/>
            <a:ext cx="2628900" cy="1733550"/>
          </a:xfrm>
          <a:prstGeom prst="roundRect">
            <a:avLst>
              <a:gd name="adj" fmla="val 549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172200" y="1732210"/>
            <a:ext cx="2628900" cy="1733550"/>
          </a:xfrm>
          <a:prstGeom prst="roundRect">
            <a:avLst>
              <a:gd name="adj" fmla="val 549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953500" y="1732210"/>
            <a:ext cx="2628900" cy="1733550"/>
          </a:xfrm>
          <a:prstGeom prst="roundRect">
            <a:avLst>
              <a:gd name="adj" fmla="val 549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0284C7"/>
                </a:solidFill>
                <a:latin typeface="Plus Jakarta Sans"/>
              </a:rPr>
              <a:t>CHƯƠNG 5 &amp; 6: THIẾT KẾ DỮ LIỆU</a:t>
            </a:r>
          </a:p>
        </p:txBody>
      </p:sp>
      <p:sp>
        <p:nvSpPr>
          <p:cNvPr id="8" name="TextBox 7"/>
          <p:cNvSpPr txBox="1"/>
          <p:nvPr/>
        </p:nvSpPr>
        <p:spPr>
          <a:xfrm>
            <a:off x="609600" y="685800"/>
            <a:ext cx="11582400" cy="361950"/>
          </a:xfrm>
          <a:prstGeom prst="rect">
            <a:avLst/>
          </a:prstGeom>
          <a:noFill/>
        </p:spPr>
        <p:txBody>
          <a:bodyPr wrap="none" lIns="0" rIns="0" tIns="0" bIns="0" anchor="t">
            <a:spAutoFit/>
          </a:bodyPr>
          <a:lstStyle/>
          <a:p>
            <a:pPr algn="l"/>
            <a:r>
              <a:rPr b="1" sz="2250" i="0" u="none">
                <a:solidFill>
                  <a:srgbClr val="0F172A"/>
                </a:solidFill>
                <a:latin typeface="Plus Jakarta Sans"/>
              </a:rPr>
              <a:t>Cơ Sở Dữ Liệu Quan Hệ 14 Bảng Chuẩn 3NF (PostgreSQL)</a:t>
            </a:r>
          </a:p>
        </p:txBody>
      </p:sp>
      <p:sp>
        <p:nvSpPr>
          <p:cNvPr id="9" name="TextBox 8"/>
          <p:cNvSpPr txBox="1"/>
          <p:nvPr/>
        </p:nvSpPr>
        <p:spPr>
          <a:xfrm>
            <a:off x="762000" y="1884610"/>
            <a:ext cx="2419350" cy="1428750"/>
          </a:xfrm>
          <a:prstGeom prst="rect">
            <a:avLst/>
          </a:prstGeom>
          <a:noFill/>
        </p:spPr>
        <p:txBody>
          <a:bodyPr wrap="square" lIns="0" rIns="0" tIns="0" bIns="0" anchor="t">
            <a:spAutoFit/>
          </a:bodyPr>
          <a:lstStyle/>
          <a:p>
            <a:pPr algn="l"/>
            <a:r>
              <a:rPr b="1" sz="900" i="0" u="none">
                <a:solidFill>
                  <a:srgbClr val="0284C7"/>
                </a:solidFill>
                <a:latin typeface="Plus Jakarta Sans"/>
              </a:rPr>
              <a:t>1. Tài Khoản &amp; RBAC</a:t>
            </a:r>
          </a:p>
        </p:txBody>
      </p:sp>
      <p:sp>
        <p:nvSpPr>
          <p:cNvPr id="10" name="TextBox 9"/>
          <p:cNvSpPr txBox="1"/>
          <p:nvPr/>
        </p:nvSpPr>
        <p:spPr>
          <a:xfrm>
            <a:off x="3543300" y="1884610"/>
            <a:ext cx="2419350" cy="1428750"/>
          </a:xfrm>
          <a:prstGeom prst="rect">
            <a:avLst/>
          </a:prstGeom>
          <a:noFill/>
        </p:spPr>
        <p:txBody>
          <a:bodyPr wrap="square" lIns="0" rIns="0" tIns="0" bIns="0" anchor="t">
            <a:spAutoFit/>
          </a:bodyPr>
          <a:lstStyle/>
          <a:p>
            <a:pPr algn="l"/>
            <a:r>
              <a:rPr b="1" sz="900" i="0" u="none">
                <a:solidFill>
                  <a:srgbClr val="0F172A"/>
                </a:solidFill>
                <a:latin typeface="Plus Jakarta Sans"/>
              </a:rPr>
              <a:t>2. Đào Tạo &amp; Lịch</a:t>
            </a:r>
          </a:p>
        </p:txBody>
      </p:sp>
      <p:sp>
        <p:nvSpPr>
          <p:cNvPr id="11" name="TextBox 10"/>
          <p:cNvSpPr txBox="1"/>
          <p:nvPr/>
        </p:nvSpPr>
        <p:spPr>
          <a:xfrm>
            <a:off x="6324600" y="1884610"/>
            <a:ext cx="2419350" cy="1428750"/>
          </a:xfrm>
          <a:prstGeom prst="rect">
            <a:avLst/>
          </a:prstGeom>
          <a:noFill/>
        </p:spPr>
        <p:txBody>
          <a:bodyPr wrap="square" lIns="0" rIns="0" tIns="0" bIns="0" anchor="t">
            <a:spAutoFit/>
          </a:bodyPr>
          <a:lstStyle/>
          <a:p>
            <a:pPr algn="l"/>
            <a:r>
              <a:rPr b="1" sz="900" i="0" u="none">
                <a:solidFill>
                  <a:srgbClr val="D97706"/>
                </a:solidFill>
                <a:latin typeface="Plus Jakarta Sans"/>
              </a:rPr>
              <a:t>3. Ghi Danh &amp; Thu Phí</a:t>
            </a:r>
          </a:p>
        </p:txBody>
      </p:sp>
      <p:sp>
        <p:nvSpPr>
          <p:cNvPr id="12" name="TextBox 11"/>
          <p:cNvSpPr txBox="1"/>
          <p:nvPr/>
        </p:nvSpPr>
        <p:spPr>
          <a:xfrm>
            <a:off x="9105900" y="1884610"/>
            <a:ext cx="2419350" cy="1428750"/>
          </a:xfrm>
          <a:prstGeom prst="rect">
            <a:avLst/>
          </a:prstGeom>
          <a:noFill/>
        </p:spPr>
        <p:txBody>
          <a:bodyPr wrap="square" lIns="0" rIns="0" tIns="0" bIns="0" anchor="t">
            <a:spAutoFit/>
          </a:bodyPr>
          <a:lstStyle/>
          <a:p>
            <a:pPr algn="l"/>
            <a:r>
              <a:rPr b="1" sz="900" i="0" u="none">
                <a:solidFill>
                  <a:srgbClr val="7C3AED"/>
                </a:solidFill>
                <a:latin typeface="Plus Jakarta Sans"/>
              </a:rPr>
              <a:t>4. Lớp Học &amp; AI</a:t>
            </a:r>
          </a:p>
        </p:txBody>
      </p:sp>
      <p:sp>
        <p:nvSpPr>
          <p:cNvPr id="13" name="TextBox 12"/>
          <p:cNvSpPr txBox="1"/>
          <p:nvPr/>
        </p:nvSpPr>
        <p:spPr>
          <a:xfrm>
            <a:off x="847725" y="4596556"/>
            <a:ext cx="11344275" cy="200025"/>
          </a:xfrm>
          <a:prstGeom prst="rect">
            <a:avLst/>
          </a:prstGeom>
          <a:noFill/>
        </p:spPr>
        <p:txBody>
          <a:bodyPr wrap="none" lIns="0" rIns="0" tIns="0" bIns="0" anchor="t">
            <a:spAutoFit/>
          </a:bodyPr>
          <a:lstStyle/>
          <a:p>
            <a:pPr algn="l"/>
            <a:r>
              <a:rPr b="1" sz="1200" i="0" u="none">
                <a:solidFill>
                  <a:srgbClr val="0F172A"/>
                </a:solidFill>
                <a:latin typeface="Plus Jakarta Sans"/>
              </a:rPr>
              <a:t>Ràng Buộc Toàn Vẹn CSDL Đã Được Chuẩn Hóa:</a:t>
            </a:r>
          </a:p>
        </p:txBody>
      </p:sp>
      <p:sp>
        <p:nvSpPr>
          <p:cNvPr id="14" name="TextBox 13"/>
          <p:cNvSpPr txBox="1"/>
          <p:nvPr/>
        </p:nvSpPr>
        <p:spPr>
          <a:xfrm>
            <a:off x="771525" y="2151310"/>
            <a:ext cx="3025378" cy="200025"/>
          </a:xfrm>
          <a:prstGeom prst="rect">
            <a:avLst/>
          </a:prstGeom>
          <a:noFill/>
        </p:spPr>
        <p:txBody>
          <a:bodyPr wrap="none" lIns="0" rIns="0" tIns="0" bIns="0" anchor="t">
            <a:spAutoFit/>
          </a:bodyPr>
          <a:lstStyle/>
          <a:p>
            <a:pPr algn="l"/>
            <a:r>
              <a:rPr b="1" sz="1200" i="0" u="none">
                <a:solidFill>
                  <a:srgbClr val="0F172A"/>
                </a:solidFill>
                <a:latin typeface="Plus Jakarta Sans"/>
              </a:rPr>
              <a:t>3 Bảng Cốt Lõi</a:t>
            </a:r>
          </a:p>
        </p:txBody>
      </p:sp>
      <p:sp>
        <p:nvSpPr>
          <p:cNvPr id="15" name="TextBox 14"/>
          <p:cNvSpPr txBox="1"/>
          <p:nvPr/>
        </p:nvSpPr>
        <p:spPr>
          <a:xfrm>
            <a:off x="771525" y="2427535"/>
            <a:ext cx="2881312" cy="152400"/>
          </a:xfrm>
          <a:prstGeom prst="rect">
            <a:avLst/>
          </a:prstGeom>
          <a:noFill/>
        </p:spPr>
        <p:txBody>
          <a:bodyPr wrap="none" lIns="0" rIns="0" tIns="0" bIns="0" anchor="t">
            <a:spAutoFit/>
          </a:bodyPr>
          <a:lstStyle/>
          <a:p>
            <a:pPr algn="l"/>
            <a:r>
              <a:rPr b="0" sz="975" i="0" u="none">
                <a:solidFill>
                  <a:srgbClr val="64748B"/>
                </a:solidFill>
                <a:latin typeface="Plus Jakarta Sans"/>
              </a:rPr>
              <a:t>• </a:t>
            </a:r>
            <a:r>
              <a:rPr b="1" sz="975" i="0" u="none">
                <a:solidFill>
                  <a:srgbClr val="64748B"/>
                </a:solidFill>
                <a:latin typeface="Plus Jakarta Sans"/>
              </a:rPr>
              <a:t>NguoiDung:</a:t>
            </a:r>
            <a:r>
              <a:rPr b="0" sz="975" i="0" u="none">
                <a:solidFill>
                  <a:srgbClr val="64748B"/>
                </a:solidFill>
                <a:latin typeface="Plus Jakarta Sans"/>
              </a:rPr>
              <a:t> id, passHash, vaiTro</a:t>
            </a:r>
          </a:p>
        </p:txBody>
      </p:sp>
      <p:sp>
        <p:nvSpPr>
          <p:cNvPr id="16" name="TextBox 15"/>
          <p:cNvSpPr txBox="1"/>
          <p:nvPr/>
        </p:nvSpPr>
        <p:spPr>
          <a:xfrm>
            <a:off x="771525" y="2618035"/>
            <a:ext cx="2881312" cy="152400"/>
          </a:xfrm>
          <a:prstGeom prst="rect">
            <a:avLst/>
          </a:prstGeom>
          <a:noFill/>
        </p:spPr>
        <p:txBody>
          <a:bodyPr wrap="none" lIns="0" rIns="0" tIns="0" bIns="0" anchor="t">
            <a:spAutoFit/>
          </a:bodyPr>
          <a:lstStyle/>
          <a:p>
            <a:pPr algn="l"/>
            <a:r>
              <a:rPr b="0" sz="975" i="0" u="none">
                <a:solidFill>
                  <a:srgbClr val="64748B"/>
                </a:solidFill>
                <a:latin typeface="Plus Jakarta Sans"/>
              </a:rPr>
              <a:t>• </a:t>
            </a:r>
            <a:r>
              <a:rPr b="1" sz="975" i="0" u="none">
                <a:solidFill>
                  <a:srgbClr val="64748B"/>
                </a:solidFill>
                <a:latin typeface="Plus Jakarta Sans"/>
              </a:rPr>
              <a:t>HoSoHocVien:</a:t>
            </a:r>
            <a:r>
              <a:rPr b="0" sz="975" i="0" u="none">
                <a:solidFill>
                  <a:srgbClr val="64748B"/>
                </a:solidFill>
                <a:latin typeface="Plus Jakarta Sans"/>
              </a:rPr>
              <a:t> 1-1 NguoiDung, CEFR</a:t>
            </a:r>
          </a:p>
        </p:txBody>
      </p:sp>
      <p:sp>
        <p:nvSpPr>
          <p:cNvPr id="17" name="TextBox 16"/>
          <p:cNvSpPr txBox="1"/>
          <p:nvPr/>
        </p:nvSpPr>
        <p:spPr>
          <a:xfrm>
            <a:off x="771525" y="2808535"/>
            <a:ext cx="2400300" cy="304800"/>
          </a:xfrm>
          <a:prstGeom prst="rect">
            <a:avLst/>
          </a:prstGeom>
          <a:noFill/>
        </p:spPr>
        <p:txBody>
          <a:bodyPr wrap="square" lIns="0" rIns="0" tIns="0" bIns="0" anchor="t">
            <a:spAutoFit/>
          </a:bodyPr>
          <a:lstStyle/>
          <a:p>
            <a:pPr algn="l"/>
            <a:r>
              <a:rPr b="0" sz="975" i="0" u="none">
                <a:solidFill>
                  <a:srgbClr val="64748B"/>
                </a:solidFill>
                <a:latin typeface="Plus Jakarta Sans"/>
              </a:rPr>
              <a:t>• </a:t>
            </a:r>
            <a:r>
              <a:rPr b="1" sz="975" i="0" u="none">
                <a:solidFill>
                  <a:srgbClr val="64748B"/>
                </a:solidFill>
                <a:latin typeface="Plus Jakarta Sans"/>
              </a:rPr>
              <a:t>HoSoGiaoVien:</a:t>
            </a:r>
            <a:r>
              <a:rPr b="0" sz="975" i="0" u="none">
                <a:solidFill>
                  <a:srgbClr val="64748B"/>
                </a:solidFill>
                <a:latin typeface="Plus Jakarta Sans"/>
              </a:rPr>
              <a:t> 1-1 NguoiDung, bằng cấp</a:t>
            </a:r>
          </a:p>
        </p:txBody>
      </p:sp>
      <p:sp>
        <p:nvSpPr>
          <p:cNvPr id="18" name="TextBox 17"/>
          <p:cNvSpPr txBox="1"/>
          <p:nvPr/>
        </p:nvSpPr>
        <p:spPr>
          <a:xfrm>
            <a:off x="3552825" y="2151310"/>
            <a:ext cx="3025378" cy="200025"/>
          </a:xfrm>
          <a:prstGeom prst="rect">
            <a:avLst/>
          </a:prstGeom>
          <a:noFill/>
        </p:spPr>
        <p:txBody>
          <a:bodyPr wrap="none" lIns="0" rIns="0" tIns="0" bIns="0" anchor="t">
            <a:spAutoFit/>
          </a:bodyPr>
          <a:lstStyle/>
          <a:p>
            <a:pPr algn="l"/>
            <a:r>
              <a:rPr b="1" sz="1200" i="0" u="none">
                <a:solidFill>
                  <a:srgbClr val="0F172A"/>
                </a:solidFill>
                <a:latin typeface="Plus Jakarta Sans"/>
              </a:rPr>
              <a:t>4 Bảng Vận Hành</a:t>
            </a:r>
          </a:p>
        </p:txBody>
      </p:sp>
      <p:sp>
        <p:nvSpPr>
          <p:cNvPr id="19" name="TextBox 18"/>
          <p:cNvSpPr txBox="1"/>
          <p:nvPr/>
        </p:nvSpPr>
        <p:spPr>
          <a:xfrm>
            <a:off x="3552825" y="2427535"/>
            <a:ext cx="2881312" cy="152400"/>
          </a:xfrm>
          <a:prstGeom prst="rect">
            <a:avLst/>
          </a:prstGeom>
          <a:noFill/>
        </p:spPr>
        <p:txBody>
          <a:bodyPr wrap="none" lIns="0" rIns="0" tIns="0" bIns="0" anchor="t">
            <a:spAutoFit/>
          </a:bodyPr>
          <a:lstStyle/>
          <a:p>
            <a:pPr algn="l"/>
            <a:r>
              <a:rPr b="0" sz="975" i="0" u="none">
                <a:solidFill>
                  <a:srgbClr val="64748B"/>
                </a:solidFill>
                <a:latin typeface="Plus Jakarta Sans"/>
              </a:rPr>
              <a:t>• </a:t>
            </a:r>
            <a:r>
              <a:rPr b="1" sz="975" i="0" u="none">
                <a:solidFill>
                  <a:srgbClr val="64748B"/>
                </a:solidFill>
                <a:latin typeface="Plus Jakarta Sans"/>
              </a:rPr>
              <a:t>KhoaHoc:</a:t>
            </a:r>
            <a:r>
              <a:rPr b="0" sz="975" i="0" u="none">
                <a:solidFill>
                  <a:srgbClr val="64748B"/>
                </a:solidFill>
                <a:latin typeface="Plus Jakarta Sans"/>
              </a:rPr>
              <a:t> Chuẩn CEFR, học phí</a:t>
            </a:r>
          </a:p>
        </p:txBody>
      </p:sp>
      <p:sp>
        <p:nvSpPr>
          <p:cNvPr id="20" name="TextBox 19"/>
          <p:cNvSpPr txBox="1"/>
          <p:nvPr/>
        </p:nvSpPr>
        <p:spPr>
          <a:xfrm>
            <a:off x="3552825" y="2618035"/>
            <a:ext cx="2881312" cy="152400"/>
          </a:xfrm>
          <a:prstGeom prst="rect">
            <a:avLst/>
          </a:prstGeom>
          <a:noFill/>
        </p:spPr>
        <p:txBody>
          <a:bodyPr wrap="none" lIns="0" rIns="0" tIns="0" bIns="0" anchor="t">
            <a:spAutoFit/>
          </a:bodyPr>
          <a:lstStyle/>
          <a:p>
            <a:pPr algn="l"/>
            <a:r>
              <a:rPr b="0" sz="975" i="0" u="none">
                <a:solidFill>
                  <a:srgbClr val="64748B"/>
                </a:solidFill>
                <a:latin typeface="Plus Jakarta Sans"/>
              </a:rPr>
              <a:t>• </a:t>
            </a:r>
            <a:r>
              <a:rPr b="1" sz="975" i="0" u="none">
                <a:solidFill>
                  <a:srgbClr val="64748B"/>
                </a:solidFill>
                <a:latin typeface="Plus Jakarta Sans"/>
              </a:rPr>
              <a:t>LopHoc:</a:t>
            </a:r>
            <a:r>
              <a:rPr b="0" sz="975" i="0" u="none">
                <a:solidFill>
                  <a:srgbClr val="64748B"/>
                </a:solidFill>
                <a:latin typeface="Plus Jakarta Sans"/>
              </a:rPr>
              <a:t> Sĩ số tối đa 25, phòng</a:t>
            </a:r>
          </a:p>
        </p:txBody>
      </p:sp>
      <p:sp>
        <p:nvSpPr>
          <p:cNvPr id="21" name="TextBox 20"/>
          <p:cNvSpPr txBox="1"/>
          <p:nvPr/>
        </p:nvSpPr>
        <p:spPr>
          <a:xfrm>
            <a:off x="3552825" y="2808535"/>
            <a:ext cx="2881312" cy="152400"/>
          </a:xfrm>
          <a:prstGeom prst="rect">
            <a:avLst/>
          </a:prstGeom>
          <a:noFill/>
        </p:spPr>
        <p:txBody>
          <a:bodyPr wrap="none" lIns="0" rIns="0" tIns="0" bIns="0" anchor="t">
            <a:spAutoFit/>
          </a:bodyPr>
          <a:lstStyle/>
          <a:p>
            <a:pPr algn="l"/>
            <a:r>
              <a:rPr b="0" sz="975" i="0" u="none">
                <a:solidFill>
                  <a:srgbClr val="64748B"/>
                </a:solidFill>
                <a:latin typeface="Plus Jakarta Sans"/>
              </a:rPr>
              <a:t>• </a:t>
            </a:r>
            <a:r>
              <a:rPr b="1" sz="975" i="0" u="none">
                <a:solidFill>
                  <a:srgbClr val="64748B"/>
                </a:solidFill>
                <a:latin typeface="Plus Jakarta Sans"/>
              </a:rPr>
              <a:t>LichHoc:</a:t>
            </a:r>
            <a:r>
              <a:rPr b="0" sz="975" i="0" u="none">
                <a:solidFill>
                  <a:srgbClr val="64748B"/>
                </a:solidFill>
                <a:latin typeface="Plus Jakarta Sans"/>
              </a:rPr>
              <a:t> Thứ, giờ bắt đầu/kết thúc</a:t>
            </a:r>
          </a:p>
        </p:txBody>
      </p:sp>
      <p:sp>
        <p:nvSpPr>
          <p:cNvPr id="22" name="TextBox 21"/>
          <p:cNvSpPr txBox="1"/>
          <p:nvPr/>
        </p:nvSpPr>
        <p:spPr>
          <a:xfrm>
            <a:off x="3552825" y="2999035"/>
            <a:ext cx="2881312" cy="152400"/>
          </a:xfrm>
          <a:prstGeom prst="rect">
            <a:avLst/>
          </a:prstGeom>
          <a:noFill/>
        </p:spPr>
        <p:txBody>
          <a:bodyPr wrap="none" lIns="0" rIns="0" tIns="0" bIns="0" anchor="t">
            <a:spAutoFit/>
          </a:bodyPr>
          <a:lstStyle/>
          <a:p>
            <a:pPr algn="l"/>
            <a:r>
              <a:rPr b="0" sz="975" i="0" u="none">
                <a:solidFill>
                  <a:srgbClr val="64748B"/>
                </a:solidFill>
                <a:latin typeface="Plus Jakarta Sans"/>
              </a:rPr>
              <a:t>• </a:t>
            </a:r>
            <a:r>
              <a:rPr b="1" sz="975" i="0" u="none">
                <a:solidFill>
                  <a:srgbClr val="64748B"/>
                </a:solidFill>
                <a:latin typeface="Plus Jakarta Sans"/>
              </a:rPr>
              <a:t>PhanCongGiaoVien:</a:t>
            </a:r>
            <a:r>
              <a:rPr b="0" sz="975" i="0" u="none">
                <a:solidFill>
                  <a:srgbClr val="64748B"/>
                </a:solidFill>
                <a:latin typeface="Plus Jakarta Sans"/>
              </a:rPr>
              <a:t> Vai trò chính</a:t>
            </a:r>
          </a:p>
        </p:txBody>
      </p:sp>
      <p:sp>
        <p:nvSpPr>
          <p:cNvPr id="23" name="TextBox 22"/>
          <p:cNvSpPr txBox="1"/>
          <p:nvPr/>
        </p:nvSpPr>
        <p:spPr>
          <a:xfrm>
            <a:off x="6334125" y="2151310"/>
            <a:ext cx="3025378" cy="200025"/>
          </a:xfrm>
          <a:prstGeom prst="rect">
            <a:avLst/>
          </a:prstGeom>
          <a:noFill/>
        </p:spPr>
        <p:txBody>
          <a:bodyPr wrap="none" lIns="0" rIns="0" tIns="0" bIns="0" anchor="t">
            <a:spAutoFit/>
          </a:bodyPr>
          <a:lstStyle/>
          <a:p>
            <a:pPr algn="l"/>
            <a:r>
              <a:rPr b="1" sz="1200" i="0" u="none">
                <a:solidFill>
                  <a:srgbClr val="0F172A"/>
                </a:solidFill>
                <a:latin typeface="Plus Jakarta Sans"/>
              </a:rPr>
              <a:t>3 Bảng Tài Chính</a:t>
            </a:r>
          </a:p>
        </p:txBody>
      </p:sp>
      <p:sp>
        <p:nvSpPr>
          <p:cNvPr id="24" name="TextBox 23"/>
          <p:cNvSpPr txBox="1"/>
          <p:nvPr/>
        </p:nvSpPr>
        <p:spPr>
          <a:xfrm>
            <a:off x="6334125" y="2427535"/>
            <a:ext cx="2881312" cy="152400"/>
          </a:xfrm>
          <a:prstGeom prst="rect">
            <a:avLst/>
          </a:prstGeom>
          <a:noFill/>
        </p:spPr>
        <p:txBody>
          <a:bodyPr wrap="none" lIns="0" rIns="0" tIns="0" bIns="0" anchor="t">
            <a:spAutoFit/>
          </a:bodyPr>
          <a:lstStyle/>
          <a:p>
            <a:pPr algn="l"/>
            <a:r>
              <a:rPr b="0" sz="975" i="0" u="none">
                <a:solidFill>
                  <a:srgbClr val="64748B"/>
                </a:solidFill>
                <a:latin typeface="Plus Jakarta Sans"/>
              </a:rPr>
              <a:t>• </a:t>
            </a:r>
            <a:r>
              <a:rPr b="1" sz="975" i="0" u="none">
                <a:solidFill>
                  <a:srgbClr val="64748B"/>
                </a:solidFill>
                <a:latin typeface="Plus Jakarta Sans"/>
              </a:rPr>
              <a:t>DangKyHoc:</a:t>
            </a:r>
            <a:r>
              <a:rPr b="0" sz="975" i="0" u="none">
                <a:solidFill>
                  <a:srgbClr val="64748B"/>
                </a:solidFill>
                <a:latin typeface="Plus Jakarta Sans"/>
              </a:rPr>
              <a:t> Trạng thái ghi danh</a:t>
            </a:r>
          </a:p>
        </p:txBody>
      </p:sp>
      <p:sp>
        <p:nvSpPr>
          <p:cNvPr id="25" name="TextBox 24"/>
          <p:cNvSpPr txBox="1"/>
          <p:nvPr/>
        </p:nvSpPr>
        <p:spPr>
          <a:xfrm>
            <a:off x="6334125" y="2618035"/>
            <a:ext cx="2881312" cy="152400"/>
          </a:xfrm>
          <a:prstGeom prst="rect">
            <a:avLst/>
          </a:prstGeom>
          <a:noFill/>
        </p:spPr>
        <p:txBody>
          <a:bodyPr wrap="none" lIns="0" rIns="0" tIns="0" bIns="0" anchor="t">
            <a:spAutoFit/>
          </a:bodyPr>
          <a:lstStyle/>
          <a:p>
            <a:pPr algn="l"/>
            <a:r>
              <a:rPr b="0" sz="975" i="0" u="none">
                <a:solidFill>
                  <a:srgbClr val="64748B"/>
                </a:solidFill>
                <a:latin typeface="Plus Jakarta Sans"/>
              </a:rPr>
              <a:t>• </a:t>
            </a:r>
            <a:r>
              <a:rPr b="1" sz="975" i="0" u="none">
                <a:solidFill>
                  <a:srgbClr val="64748B"/>
                </a:solidFill>
                <a:latin typeface="Plus Jakarta Sans"/>
              </a:rPr>
              <a:t>HoaDon:</a:t>
            </a:r>
            <a:r>
              <a:rPr b="0" sz="975" i="0" u="none">
                <a:solidFill>
                  <a:srgbClr val="64748B"/>
                </a:solidFill>
                <a:latin typeface="Plus Jakarta Sans"/>
              </a:rPr>
              <a:t> Quan hệ 1-1 DangKyHoc</a:t>
            </a:r>
          </a:p>
        </p:txBody>
      </p:sp>
      <p:sp>
        <p:nvSpPr>
          <p:cNvPr id="26" name="TextBox 25"/>
          <p:cNvSpPr txBox="1"/>
          <p:nvPr/>
        </p:nvSpPr>
        <p:spPr>
          <a:xfrm>
            <a:off x="6334125" y="2808535"/>
            <a:ext cx="2881312" cy="152400"/>
          </a:xfrm>
          <a:prstGeom prst="rect">
            <a:avLst/>
          </a:prstGeom>
          <a:noFill/>
        </p:spPr>
        <p:txBody>
          <a:bodyPr wrap="none" lIns="0" rIns="0" tIns="0" bIns="0" anchor="t">
            <a:spAutoFit/>
          </a:bodyPr>
          <a:lstStyle/>
          <a:p>
            <a:pPr algn="l"/>
            <a:r>
              <a:rPr b="0" sz="975" i="0" u="none">
                <a:solidFill>
                  <a:srgbClr val="64748B"/>
                </a:solidFill>
                <a:latin typeface="Plus Jakarta Sans"/>
              </a:rPr>
              <a:t>• </a:t>
            </a:r>
            <a:r>
              <a:rPr b="1" sz="975" i="0" u="none">
                <a:solidFill>
                  <a:srgbClr val="64748B"/>
                </a:solidFill>
                <a:latin typeface="Plus Jakarta Sans"/>
              </a:rPr>
              <a:t>ThanhToan:</a:t>
            </a:r>
            <a:r>
              <a:rPr b="0" sz="975" i="0" u="none">
                <a:solidFill>
                  <a:srgbClr val="64748B"/>
                </a:solidFill>
                <a:latin typeface="Plus Jakarta Sans"/>
              </a:rPr>
              <a:t> N-1 HoaDon (nhiều đợt)</a:t>
            </a:r>
          </a:p>
        </p:txBody>
      </p:sp>
      <p:sp>
        <p:nvSpPr>
          <p:cNvPr id="27" name="TextBox 26"/>
          <p:cNvSpPr txBox="1"/>
          <p:nvPr/>
        </p:nvSpPr>
        <p:spPr>
          <a:xfrm>
            <a:off x="9115425" y="2151310"/>
            <a:ext cx="3025378" cy="200025"/>
          </a:xfrm>
          <a:prstGeom prst="rect">
            <a:avLst/>
          </a:prstGeom>
          <a:noFill/>
        </p:spPr>
        <p:txBody>
          <a:bodyPr wrap="none" lIns="0" rIns="0" tIns="0" bIns="0" anchor="t">
            <a:spAutoFit/>
          </a:bodyPr>
          <a:lstStyle/>
          <a:p>
            <a:pPr algn="l"/>
            <a:r>
              <a:rPr b="1" sz="1200" i="0" u="none">
                <a:solidFill>
                  <a:srgbClr val="0F172A"/>
                </a:solidFill>
                <a:latin typeface="Plus Jakarta Sans"/>
              </a:rPr>
              <a:t>4 Bảng Đánh Giá &amp; AI</a:t>
            </a:r>
          </a:p>
        </p:txBody>
      </p:sp>
      <p:sp>
        <p:nvSpPr>
          <p:cNvPr id="28" name="TextBox 27"/>
          <p:cNvSpPr txBox="1"/>
          <p:nvPr/>
        </p:nvSpPr>
        <p:spPr>
          <a:xfrm>
            <a:off x="9115425" y="2427535"/>
            <a:ext cx="2881312" cy="152400"/>
          </a:xfrm>
          <a:prstGeom prst="rect">
            <a:avLst/>
          </a:prstGeom>
          <a:noFill/>
        </p:spPr>
        <p:txBody>
          <a:bodyPr wrap="none" lIns="0" rIns="0" tIns="0" bIns="0" anchor="t">
            <a:spAutoFit/>
          </a:bodyPr>
          <a:lstStyle/>
          <a:p>
            <a:pPr algn="l"/>
            <a:r>
              <a:rPr b="0" sz="975" i="0" u="none">
                <a:solidFill>
                  <a:srgbClr val="64748B"/>
                </a:solidFill>
                <a:latin typeface="Plus Jakarta Sans"/>
              </a:rPr>
              <a:t>• </a:t>
            </a:r>
            <a:r>
              <a:rPr b="1" sz="975" i="0" u="none">
                <a:solidFill>
                  <a:srgbClr val="64748B"/>
                </a:solidFill>
                <a:latin typeface="Plus Jakarta Sans"/>
              </a:rPr>
              <a:t>BuoiHoc:</a:t>
            </a:r>
            <a:r>
              <a:rPr b="0" sz="975" i="0" u="none">
                <a:solidFill>
                  <a:srgbClr val="64748B"/>
                </a:solidFill>
                <a:latin typeface="Plus Jakarta Sans"/>
              </a:rPr>
              <a:t> Quản lý tiến độ buổi dạy</a:t>
            </a:r>
          </a:p>
        </p:txBody>
      </p:sp>
      <p:sp>
        <p:nvSpPr>
          <p:cNvPr id="29" name="TextBox 28"/>
          <p:cNvSpPr txBox="1"/>
          <p:nvPr/>
        </p:nvSpPr>
        <p:spPr>
          <a:xfrm>
            <a:off x="9115425" y="2618035"/>
            <a:ext cx="2881312" cy="152400"/>
          </a:xfrm>
          <a:prstGeom prst="rect">
            <a:avLst/>
          </a:prstGeom>
          <a:noFill/>
        </p:spPr>
        <p:txBody>
          <a:bodyPr wrap="none" lIns="0" rIns="0" tIns="0" bIns="0" anchor="t">
            <a:spAutoFit/>
          </a:bodyPr>
          <a:lstStyle/>
          <a:p>
            <a:pPr algn="l"/>
            <a:r>
              <a:rPr b="0" sz="975" i="0" u="none">
                <a:solidFill>
                  <a:srgbClr val="64748B"/>
                </a:solidFill>
                <a:latin typeface="Plus Jakarta Sans"/>
              </a:rPr>
              <a:t>• </a:t>
            </a:r>
            <a:r>
              <a:rPr b="1" sz="975" i="0" u="none">
                <a:solidFill>
                  <a:srgbClr val="64748B"/>
                </a:solidFill>
                <a:latin typeface="Plus Jakarta Sans"/>
              </a:rPr>
              <a:t>BanGhiDiemDanh:</a:t>
            </a:r>
            <a:r>
              <a:rPr b="0" sz="975" i="0" u="none">
                <a:solidFill>
                  <a:srgbClr val="64748B"/>
                </a:solidFill>
                <a:latin typeface="Plus Jakarta Sans"/>
              </a:rPr>
              <a:t> 4 trạng thái</a:t>
            </a:r>
          </a:p>
        </p:txBody>
      </p:sp>
      <p:sp>
        <p:nvSpPr>
          <p:cNvPr id="30" name="TextBox 29"/>
          <p:cNvSpPr txBox="1"/>
          <p:nvPr/>
        </p:nvSpPr>
        <p:spPr>
          <a:xfrm>
            <a:off x="9115425" y="2808535"/>
            <a:ext cx="2400300" cy="304800"/>
          </a:xfrm>
          <a:prstGeom prst="rect">
            <a:avLst/>
          </a:prstGeom>
          <a:noFill/>
        </p:spPr>
        <p:txBody>
          <a:bodyPr wrap="square" lIns="0" rIns="0" tIns="0" bIns="0" anchor="t">
            <a:spAutoFit/>
          </a:bodyPr>
          <a:lstStyle/>
          <a:p>
            <a:pPr algn="l"/>
            <a:r>
              <a:rPr b="0" sz="975" i="0" u="none">
                <a:solidFill>
                  <a:srgbClr val="64748B"/>
                </a:solidFill>
                <a:latin typeface="Plus Jakarta Sans"/>
              </a:rPr>
              <a:t>• </a:t>
            </a:r>
            <a:r>
              <a:rPr b="1" sz="975" i="0" u="none">
                <a:solidFill>
                  <a:srgbClr val="64748B"/>
                </a:solidFill>
                <a:latin typeface="Plus Jakarta Sans"/>
              </a:rPr>
              <a:t>KetQuaHocTap:</a:t>
            </a:r>
            <a:r>
              <a:rPr b="0" sz="975" i="0" u="none">
                <a:solidFill>
                  <a:srgbClr val="64748B"/>
                </a:solidFill>
                <a:latin typeface="Plus Jakarta Sans"/>
              </a:rPr>
              <a:t> CC, GK, CK, Tổng kết</a:t>
            </a:r>
          </a:p>
        </p:txBody>
      </p:sp>
      <p:sp>
        <p:nvSpPr>
          <p:cNvPr id="31" name="TextBox 30"/>
          <p:cNvSpPr txBox="1"/>
          <p:nvPr/>
        </p:nvSpPr>
        <p:spPr>
          <a:xfrm>
            <a:off x="9115425" y="3151435"/>
            <a:ext cx="2881312" cy="152400"/>
          </a:xfrm>
          <a:prstGeom prst="rect">
            <a:avLst/>
          </a:prstGeom>
          <a:noFill/>
        </p:spPr>
        <p:txBody>
          <a:bodyPr wrap="none" lIns="0" rIns="0" tIns="0" bIns="0" anchor="t">
            <a:spAutoFit/>
          </a:bodyPr>
          <a:lstStyle/>
          <a:p>
            <a:pPr algn="l"/>
            <a:r>
              <a:rPr b="0" sz="975" i="0" u="none">
                <a:solidFill>
                  <a:srgbClr val="64748B"/>
                </a:solidFill>
                <a:latin typeface="Plus Jakarta Sans"/>
              </a:rPr>
              <a:t>• </a:t>
            </a:r>
            <a:r>
              <a:rPr b="1" sz="975" i="0" u="none">
                <a:solidFill>
                  <a:srgbClr val="64748B"/>
                </a:solidFill>
                <a:latin typeface="Plus Jakarta Sans"/>
              </a:rPr>
              <a:t>YeuCauAI:</a:t>
            </a:r>
            <a:r>
              <a:rPr b="0" sz="975" i="0" u="none">
                <a:solidFill>
                  <a:srgbClr val="64748B"/>
                </a:solidFill>
                <a:latin typeface="Plus Jakarta Sans"/>
              </a:rPr>
              <a:t> Lưu vết 100% lệnh gọi AI</a:t>
            </a:r>
          </a:p>
        </p:txBody>
      </p:sp>
      <p:sp>
        <p:nvSpPr>
          <p:cNvPr id="32" name="TextBox 31"/>
          <p:cNvSpPr txBox="1"/>
          <p:nvPr/>
        </p:nvSpPr>
        <p:spPr>
          <a:xfrm>
            <a:off x="847725" y="4891831"/>
            <a:ext cx="5191125" cy="426541"/>
          </a:xfrm>
          <a:prstGeom prst="rect">
            <a:avLst/>
          </a:prstGeom>
          <a:noFill/>
        </p:spPr>
        <p:txBody>
          <a:bodyPr wrap="square" lIns="0" rIns="0" tIns="0" bIns="0" anchor="t">
            <a:spAutoFit/>
          </a:bodyPr>
          <a:lstStyle/>
          <a:p>
            <a:pPr algn="l">
              <a:lnSpc>
                <a:spcPts val="1679"/>
              </a:lnSpc>
            </a:pPr>
            <a:r>
              <a:rPr b="0" sz="1050" i="0" u="none">
                <a:solidFill>
                  <a:srgbClr val="334155"/>
                </a:solidFill>
                <a:latin typeface="Plus Jakarta Sans"/>
              </a:rPr>
              <a:t>• </a:t>
            </a:r>
            <a:r>
              <a:rPr b="1" sz="1050" i="0" u="none">
                <a:solidFill>
                  <a:srgbClr val="334155"/>
                </a:solidFill>
                <a:latin typeface="Plus Jakarta Sans"/>
              </a:rPr>
              <a:t>Ràng buộc Khóa ngoại:</a:t>
            </a:r>
            <a:r>
              <a:rPr b="0" sz="1050" i="0" u="none">
                <a:solidFill>
                  <a:srgbClr val="334155"/>
                </a:solidFill>
                <a:latin typeface="Plus Jakarta Sans"/>
              </a:rPr>
              <a:t> ON DELETE RESTRICT bảo vệ danh mục Khóa học &amp; Hóa đơn học phí.</a:t>
            </a:r>
          </a:p>
        </p:txBody>
      </p:sp>
      <p:sp>
        <p:nvSpPr>
          <p:cNvPr id="33" name="TextBox 32"/>
          <p:cNvSpPr txBox="1"/>
          <p:nvPr/>
        </p:nvSpPr>
        <p:spPr>
          <a:xfrm>
            <a:off x="847725" y="5318373"/>
            <a:ext cx="5191125" cy="426541"/>
          </a:xfrm>
          <a:prstGeom prst="rect">
            <a:avLst/>
          </a:prstGeom>
          <a:noFill/>
        </p:spPr>
        <p:txBody>
          <a:bodyPr wrap="square" lIns="0" rIns="0" tIns="0" bIns="0" anchor="t">
            <a:spAutoFit/>
          </a:bodyPr>
          <a:lstStyle/>
          <a:p>
            <a:pPr algn="l">
              <a:lnSpc>
                <a:spcPts val="1679"/>
              </a:lnSpc>
            </a:pPr>
            <a:r>
              <a:rPr b="0" sz="1050" i="0" u="none">
                <a:solidFill>
                  <a:srgbClr val="334155"/>
                </a:solidFill>
                <a:latin typeface="Plus Jakarta Sans"/>
              </a:rPr>
              <a:t>• </a:t>
            </a:r>
            <a:r>
              <a:rPr b="1" sz="1050" i="0" u="none">
                <a:solidFill>
                  <a:srgbClr val="334155"/>
                </a:solidFill>
                <a:latin typeface="Plus Jakarta Sans"/>
              </a:rPr>
              <a:t>Ràng buộc Duy nhất:</a:t>
            </a:r>
            <a:r>
              <a:rPr b="0" sz="1050" i="0" u="none">
                <a:solidFill>
                  <a:srgbClr val="334155"/>
                </a:solidFill>
                <a:latin typeface="Plus Jakarta Sans"/>
              </a:rPr>
              <a:t> UNIQUE(lop_hoc_id, hoc_vien_id) chặn ghi danh trùng lặp 1 lớp học.</a:t>
            </a:r>
          </a:p>
        </p:txBody>
      </p:sp>
      <p:sp>
        <p:nvSpPr>
          <p:cNvPr id="34" name="TextBox 33"/>
          <p:cNvSpPr txBox="1"/>
          <p:nvPr/>
        </p:nvSpPr>
        <p:spPr>
          <a:xfrm>
            <a:off x="6248400" y="4891831"/>
            <a:ext cx="5191125" cy="426541"/>
          </a:xfrm>
          <a:prstGeom prst="rect">
            <a:avLst/>
          </a:prstGeom>
          <a:noFill/>
        </p:spPr>
        <p:txBody>
          <a:bodyPr wrap="square" lIns="0" rIns="0" tIns="0" bIns="0" anchor="t">
            <a:spAutoFit/>
          </a:bodyPr>
          <a:lstStyle/>
          <a:p>
            <a:pPr algn="l">
              <a:lnSpc>
                <a:spcPts val="1679"/>
              </a:lnSpc>
            </a:pPr>
            <a:r>
              <a:rPr b="0" sz="1050" i="0" u="none">
                <a:solidFill>
                  <a:srgbClr val="334155"/>
                </a:solidFill>
                <a:latin typeface="Plus Jakarta Sans"/>
              </a:rPr>
              <a:t>• </a:t>
            </a:r>
            <a:r>
              <a:rPr b="1" sz="1050" i="0" u="none">
                <a:solidFill>
                  <a:srgbClr val="334155"/>
                </a:solidFill>
                <a:latin typeface="Plus Jakarta Sans"/>
              </a:rPr>
              <a:t>Ràng buộc Sĩ số:</a:t>
            </a:r>
            <a:r>
              <a:rPr b="0" sz="1050" i="0" u="none">
                <a:solidFill>
                  <a:srgbClr val="334155"/>
                </a:solidFill>
                <a:latin typeface="Plus Jakarta Sans"/>
              </a:rPr>
              <a:t> CHECK (si_so_toi_da BETWEEN 1 AND 25) khống chế quy mô lớp chất lượng cao.</a:t>
            </a:r>
          </a:p>
        </p:txBody>
      </p:sp>
      <p:sp>
        <p:nvSpPr>
          <p:cNvPr id="35" name="TextBox 34"/>
          <p:cNvSpPr txBox="1"/>
          <p:nvPr/>
        </p:nvSpPr>
        <p:spPr>
          <a:xfrm>
            <a:off x="6248400" y="5318373"/>
            <a:ext cx="5191125" cy="426541"/>
          </a:xfrm>
          <a:prstGeom prst="rect">
            <a:avLst/>
          </a:prstGeom>
          <a:noFill/>
        </p:spPr>
        <p:txBody>
          <a:bodyPr wrap="square" lIns="0" rIns="0" tIns="0" bIns="0" anchor="t">
            <a:spAutoFit/>
          </a:bodyPr>
          <a:lstStyle/>
          <a:p>
            <a:pPr algn="l">
              <a:lnSpc>
                <a:spcPts val="1679"/>
              </a:lnSpc>
            </a:pPr>
            <a:r>
              <a:rPr b="0" sz="1050" i="0" u="none">
                <a:solidFill>
                  <a:srgbClr val="334155"/>
                </a:solidFill>
                <a:latin typeface="Plus Jakarta Sans"/>
              </a:rPr>
              <a:t>• </a:t>
            </a:r>
            <a:r>
              <a:rPr b="1" sz="1050" i="0" u="none">
                <a:solidFill>
                  <a:srgbClr val="334155"/>
                </a:solidFill>
                <a:latin typeface="Plus Jakarta Sans"/>
              </a:rPr>
              <a:t>Chống trùng phòng:</a:t>
            </a:r>
            <a:r>
              <a:rPr b="0" sz="1050" i="0" u="none">
                <a:solidFill>
                  <a:srgbClr val="334155"/>
                </a:solidFill>
                <a:latin typeface="Plus Jakarta Sans"/>
              </a:rPr>
              <a:t> Khóa duy nhất tổ hợp (phong_hoc, thu_trong_tuan, gio_bat_dau).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609600" y="1928812"/>
            <a:ext cx="5341441" cy="3819525"/>
          </a:xfrm>
          <a:prstGeom prst="roundRect">
            <a:avLst>
              <a:gd name="adj" fmla="val 3491"/>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66775" y="4529137"/>
            <a:ext cx="4827091" cy="962025"/>
          </a:xfrm>
          <a:prstGeom prst="roundRect">
            <a:avLst>
              <a:gd name="adj" fmla="val 9900"/>
            </a:avLst>
          </a:prstGeom>
          <a:solidFill>
            <a:srgbClr val="F0FDF4"/>
          </a:solidFill>
          <a:ln w="9525">
            <a:solidFill>
              <a:srgbClr val="86EF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255841" y="2238375"/>
            <a:ext cx="5326558" cy="1476375"/>
          </a:xfrm>
          <a:prstGeom prst="roundRect">
            <a:avLst>
              <a:gd name="adj" fmla="val 9032"/>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255841" y="3886200"/>
            <a:ext cx="5326558" cy="1552575"/>
          </a:xfrm>
          <a:prstGeom prst="roundRect">
            <a:avLst>
              <a:gd name="adj" fmla="val 8588"/>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66775" y="3043237"/>
            <a:ext cx="4827091" cy="400050"/>
          </a:xfrm>
          <a:prstGeom prst="roundRect">
            <a:avLst>
              <a:gd name="adj" fmla="val 19047"/>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6775" y="3519487"/>
            <a:ext cx="4827091" cy="400050"/>
          </a:xfrm>
          <a:prstGeom prst="roundRect">
            <a:avLst>
              <a:gd name="adj" fmla="val 19047"/>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66775" y="3995737"/>
            <a:ext cx="4827091" cy="400050"/>
          </a:xfrm>
          <a:prstGeom prst="roundRect">
            <a:avLst>
              <a:gd name="adj" fmla="val 19047"/>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74916" y="2771775"/>
            <a:ext cx="695325" cy="285750"/>
          </a:xfrm>
          <a:prstGeom prst="roundRect">
            <a:avLst>
              <a:gd name="adj" fmla="val 20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265491" y="2771775"/>
            <a:ext cx="742950" cy="285750"/>
          </a:xfrm>
          <a:prstGeom prst="roundRect">
            <a:avLst>
              <a:gd name="adj" fmla="val 2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103691" y="2771775"/>
            <a:ext cx="771525" cy="285750"/>
          </a:xfrm>
          <a:prstGeom prst="roundRect">
            <a:avLst>
              <a:gd name="adj" fmla="val 2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970466" y="2771775"/>
            <a:ext cx="838200" cy="285750"/>
          </a:xfrm>
          <a:prstGeom prst="roundRect">
            <a:avLst>
              <a:gd name="adj" fmla="val 20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2"/>
          <a:stretch>
            <a:fillRect/>
          </a:stretch>
        </p:blipFill>
        <p:spPr>
          <a:xfrm>
            <a:off x="866775" y="2224087"/>
            <a:ext cx="133350" cy="180975"/>
          </a:xfrm>
          <a:prstGeom prst="rect">
            <a:avLst/>
          </a:prstGeom>
        </p:spPr>
      </p:pic>
      <p:pic>
        <p:nvPicPr>
          <p:cNvPr id="14" name="Picture 13" descr="image.png"/>
          <p:cNvPicPr>
            <a:picLocks noChangeAspect="1"/>
          </p:cNvPicPr>
          <p:nvPr/>
        </p:nvPicPr>
        <p:blipFill>
          <a:blip r:embed="rId3"/>
          <a:stretch>
            <a:fillRect/>
          </a:stretch>
        </p:blipFill>
        <p:spPr>
          <a:xfrm>
            <a:off x="6474916" y="2495550"/>
            <a:ext cx="133350" cy="171450"/>
          </a:xfrm>
          <a:prstGeom prst="rect">
            <a:avLst/>
          </a:prstGeom>
        </p:spPr>
      </p:pic>
      <p:pic>
        <p:nvPicPr>
          <p:cNvPr id="15" name="Picture 14" descr="image.png"/>
          <p:cNvPicPr>
            <a:picLocks noChangeAspect="1"/>
          </p:cNvPicPr>
          <p:nvPr/>
        </p:nvPicPr>
        <p:blipFill>
          <a:blip r:embed="rId4"/>
          <a:stretch>
            <a:fillRect/>
          </a:stretch>
        </p:blipFill>
        <p:spPr>
          <a:xfrm>
            <a:off x="6474916" y="4143375"/>
            <a:ext cx="190500" cy="171450"/>
          </a:xfrm>
          <a:prstGeom prst="rect">
            <a:avLst/>
          </a:prstGeom>
        </p:spPr>
      </p:pic>
      <p:sp>
        <p:nvSpPr>
          <p:cNvPr id="16" name="TextBox 15"/>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0284C7"/>
                </a:solidFill>
                <a:latin typeface="Plus Jakarta Sans"/>
              </a:rPr>
              <a:t>QUY CHUẨN VẬN HÀNH ĐÀO TẠO</a:t>
            </a:r>
          </a:p>
        </p:txBody>
      </p:sp>
      <p:sp>
        <p:nvSpPr>
          <p:cNvPr id="17" name="TextBox 16"/>
          <p:cNvSpPr txBox="1"/>
          <p:nvPr/>
        </p:nvSpPr>
        <p:spPr>
          <a:xfrm>
            <a:off x="609600" y="685800"/>
            <a:ext cx="11582400" cy="361950"/>
          </a:xfrm>
          <a:prstGeom prst="rect">
            <a:avLst/>
          </a:prstGeom>
          <a:noFill/>
        </p:spPr>
        <p:txBody>
          <a:bodyPr wrap="none" lIns="0" rIns="0" tIns="0" bIns="0" anchor="t">
            <a:spAutoFit/>
          </a:bodyPr>
          <a:lstStyle/>
          <a:p>
            <a:pPr algn="l"/>
            <a:r>
              <a:rPr b="1" sz="2250" i="0" u="none">
                <a:solidFill>
                  <a:srgbClr val="0F172A"/>
                </a:solidFill>
                <a:latin typeface="Plus Jakarta Sans"/>
              </a:rPr>
              <a:t>Nghiệp Vụ Tài Chính, Điểm Danh &amp; Đánh Giá ĐẠT</a:t>
            </a:r>
          </a:p>
        </p:txBody>
      </p:sp>
      <p:sp>
        <p:nvSpPr>
          <p:cNvPr id="18" name="TextBox 17"/>
          <p:cNvSpPr txBox="1"/>
          <p:nvPr/>
        </p:nvSpPr>
        <p:spPr>
          <a:xfrm>
            <a:off x="866775" y="2185987"/>
            <a:ext cx="6335557" cy="228600"/>
          </a:xfrm>
          <a:prstGeom prst="rect">
            <a:avLst/>
          </a:prstGeom>
          <a:noFill/>
        </p:spPr>
        <p:txBody>
          <a:bodyPr wrap="none" lIns="209550" rIns="0" tIns="0" bIns="0" anchor="t">
            <a:spAutoFit/>
          </a:bodyPr>
          <a:lstStyle/>
          <a:p>
            <a:pPr algn="l"/>
            <a:r>
              <a:rPr b="1" sz="1425" i="0" u="none">
                <a:solidFill>
                  <a:srgbClr val="0F172A"/>
                </a:solidFill>
                <a:latin typeface="Plus Jakarta Sans"/>
              </a:rPr>
              <a:t>Quy Chuẩn Tính Điểm Tổng Kết Khóa Học</a:t>
            </a:r>
          </a:p>
        </p:txBody>
      </p:sp>
      <p:sp>
        <p:nvSpPr>
          <p:cNvPr id="19" name="TextBox 18"/>
          <p:cNvSpPr txBox="1"/>
          <p:nvPr/>
        </p:nvSpPr>
        <p:spPr>
          <a:xfrm>
            <a:off x="866775" y="2547937"/>
            <a:ext cx="4922341" cy="361950"/>
          </a:xfrm>
          <a:prstGeom prst="rect">
            <a:avLst/>
          </a:prstGeom>
          <a:noFill/>
        </p:spPr>
        <p:txBody>
          <a:bodyPr wrap="square" lIns="0" rIns="0" tIns="0" bIns="0" anchor="t">
            <a:spAutoFit/>
          </a:bodyPr>
          <a:lstStyle/>
          <a:p>
            <a:pPr algn="l"/>
            <a:r>
              <a:rPr b="0" sz="1125" i="0" u="none">
                <a:solidFill>
                  <a:srgbClr val="64748B"/>
                </a:solidFill>
                <a:latin typeface="Plus Jakarta Sans"/>
              </a:rPr>
              <a:t>Điểm đánh giá theo thang điểm 100 với 3 đầu điểm thành phần có trọng số:</a:t>
            </a:r>
          </a:p>
        </p:txBody>
      </p:sp>
      <p:sp>
        <p:nvSpPr>
          <p:cNvPr id="20" name="TextBox 19"/>
          <p:cNvSpPr txBox="1"/>
          <p:nvPr/>
        </p:nvSpPr>
        <p:spPr>
          <a:xfrm>
            <a:off x="1028700" y="4672012"/>
            <a:ext cx="5910504" cy="200025"/>
          </a:xfrm>
          <a:prstGeom prst="rect">
            <a:avLst/>
          </a:prstGeom>
          <a:noFill/>
        </p:spPr>
        <p:txBody>
          <a:bodyPr wrap="none" lIns="0" rIns="0" tIns="0" bIns="0" anchor="t">
            <a:spAutoFit/>
          </a:bodyPr>
          <a:lstStyle/>
          <a:p>
            <a:pPr algn="l"/>
            <a:r>
              <a:rPr b="1" sz="1200" i="0" u="none">
                <a:solidFill>
                  <a:srgbClr val="15803D"/>
                </a:solidFill>
                <a:latin typeface="Plus Jakarta Sans"/>
              </a:rPr>
              <a:t>Tiêu Chuẩn Tự Động Xếp Loại ĐẠT:</a:t>
            </a:r>
          </a:p>
        </p:txBody>
      </p:sp>
      <p:sp>
        <p:nvSpPr>
          <p:cNvPr id="21" name="TextBox 20"/>
          <p:cNvSpPr txBox="1"/>
          <p:nvPr/>
        </p:nvSpPr>
        <p:spPr>
          <a:xfrm>
            <a:off x="1028700" y="4929187"/>
            <a:ext cx="5629051" cy="190500"/>
          </a:xfrm>
          <a:prstGeom prst="rect">
            <a:avLst/>
          </a:prstGeom>
          <a:noFill/>
        </p:spPr>
        <p:txBody>
          <a:bodyPr wrap="none" lIns="0" rIns="0" tIns="0" bIns="0" anchor="t">
            <a:spAutoFit/>
          </a:bodyPr>
          <a:lstStyle/>
          <a:p>
            <a:pPr algn="l"/>
            <a:r>
              <a:rPr b="0" sz="1125" i="0" u="none">
                <a:solidFill>
                  <a:srgbClr val="166534"/>
                </a:solidFill>
                <a:latin typeface="Plus Jakarta Sans"/>
              </a:rPr>
              <a:t>✔ </a:t>
            </a:r>
            <a:r>
              <a:rPr b="1" sz="1125" i="0" u="none">
                <a:solidFill>
                  <a:srgbClr val="166534"/>
                </a:solidFill>
                <a:latin typeface="Plus Jakarta Sans"/>
              </a:rPr>
              <a:t>Điểm tổng kết:</a:t>
            </a:r>
            <a:r>
              <a:rPr b="0" sz="1125" i="0" u="none">
                <a:solidFill>
                  <a:srgbClr val="166534"/>
                </a:solidFill>
                <a:latin typeface="Plus Jakarta Sans"/>
              </a:rPr>
              <a:t> diem_tong_ket &gt;= 50.00 / 100 điểm.</a:t>
            </a:r>
          </a:p>
        </p:txBody>
      </p:sp>
      <p:sp>
        <p:nvSpPr>
          <p:cNvPr id="22" name="TextBox 21"/>
          <p:cNvSpPr txBox="1"/>
          <p:nvPr/>
        </p:nvSpPr>
        <p:spPr>
          <a:xfrm>
            <a:off x="1028700" y="5157787"/>
            <a:ext cx="5629051" cy="190500"/>
          </a:xfrm>
          <a:prstGeom prst="rect">
            <a:avLst/>
          </a:prstGeom>
          <a:noFill/>
        </p:spPr>
        <p:txBody>
          <a:bodyPr wrap="none" lIns="0" rIns="0" tIns="0" bIns="0" anchor="t">
            <a:spAutoFit/>
          </a:bodyPr>
          <a:lstStyle/>
          <a:p>
            <a:pPr algn="l"/>
            <a:r>
              <a:rPr b="0" sz="1125" i="0" u="none">
                <a:solidFill>
                  <a:srgbClr val="166534"/>
                </a:solidFill>
                <a:latin typeface="Plus Jakarta Sans"/>
              </a:rPr>
              <a:t>✔ </a:t>
            </a:r>
            <a:r>
              <a:rPr b="1" sz="1125" i="0" u="none">
                <a:solidFill>
                  <a:srgbClr val="166534"/>
                </a:solidFill>
                <a:latin typeface="Plus Jakarta Sans"/>
              </a:rPr>
              <a:t>Chuyên cần tối thiểu:</a:t>
            </a:r>
            <a:r>
              <a:rPr b="0" sz="1125" i="0" u="none">
                <a:solidFill>
                  <a:srgbClr val="166534"/>
                </a:solidFill>
                <a:latin typeface="Plus Jakarta Sans"/>
              </a:rPr>
              <a:t> Tham gia &gt;= 80% tổng số buổi học.</a:t>
            </a:r>
          </a:p>
        </p:txBody>
      </p:sp>
      <p:sp>
        <p:nvSpPr>
          <p:cNvPr id="23" name="TextBox 22"/>
          <p:cNvSpPr txBox="1"/>
          <p:nvPr/>
        </p:nvSpPr>
        <p:spPr>
          <a:xfrm>
            <a:off x="6474916" y="2457450"/>
            <a:ext cx="5717083" cy="219075"/>
          </a:xfrm>
          <a:prstGeom prst="rect">
            <a:avLst/>
          </a:prstGeom>
          <a:noFill/>
        </p:spPr>
        <p:txBody>
          <a:bodyPr wrap="none" lIns="209550" rIns="0" tIns="0" bIns="0" anchor="t">
            <a:spAutoFit/>
          </a:bodyPr>
          <a:lstStyle/>
          <a:p>
            <a:pPr algn="l"/>
            <a:r>
              <a:rPr b="1" sz="1350" i="0" u="none">
                <a:solidFill>
                  <a:srgbClr val="0F172A"/>
                </a:solidFill>
                <a:latin typeface="Plus Jakarta Sans"/>
              </a:rPr>
              <a:t>Quy Chuẩn 4 Trạng Thái Điểm Danh Buổi Học</a:t>
            </a:r>
          </a:p>
        </p:txBody>
      </p:sp>
      <p:sp>
        <p:nvSpPr>
          <p:cNvPr id="24" name="TextBox 23"/>
          <p:cNvSpPr txBox="1"/>
          <p:nvPr/>
        </p:nvSpPr>
        <p:spPr>
          <a:xfrm>
            <a:off x="6474916" y="3152775"/>
            <a:ext cx="4983658" cy="342900"/>
          </a:xfrm>
          <a:prstGeom prst="rect">
            <a:avLst/>
          </a:prstGeom>
          <a:noFill/>
        </p:spPr>
        <p:txBody>
          <a:bodyPr wrap="square" lIns="0" rIns="0" tIns="0" bIns="0" anchor="t">
            <a:spAutoFit/>
          </a:bodyPr>
          <a:lstStyle/>
          <a:p>
            <a:pPr algn="l"/>
            <a:r>
              <a:rPr b="0" sz="1050" i="0" u="none">
                <a:solidFill>
                  <a:srgbClr val="64748B"/>
                </a:solidFill>
                <a:latin typeface="Plus Jakarta Sans"/>
              </a:rPr>
              <a:t>Giáo viên điểm danh trực tiếp từng buổi, lưu vết thời gian và ghi chú lý do xin phép.</a:t>
            </a:r>
          </a:p>
        </p:txBody>
      </p:sp>
      <p:sp>
        <p:nvSpPr>
          <p:cNvPr id="25" name="TextBox 24"/>
          <p:cNvSpPr txBox="1"/>
          <p:nvPr/>
        </p:nvSpPr>
        <p:spPr>
          <a:xfrm>
            <a:off x="6474916" y="4105275"/>
            <a:ext cx="5717083" cy="219075"/>
          </a:xfrm>
          <a:prstGeom prst="rect">
            <a:avLst/>
          </a:prstGeom>
          <a:noFill/>
        </p:spPr>
        <p:txBody>
          <a:bodyPr wrap="none" lIns="266700" rIns="0" tIns="0" bIns="0" anchor="t">
            <a:spAutoFit/>
          </a:bodyPr>
          <a:lstStyle/>
          <a:p>
            <a:pPr algn="l"/>
            <a:r>
              <a:rPr b="1" sz="1350" i="0" u="none">
                <a:solidFill>
                  <a:srgbClr val="0F172A"/>
                </a:solidFill>
                <a:latin typeface="Plus Jakarta Sans"/>
              </a:rPr>
              <a:t>Luồng Thu Học Phí &amp; Kiểm Soát Công Nợ</a:t>
            </a:r>
          </a:p>
        </p:txBody>
      </p:sp>
      <p:sp>
        <p:nvSpPr>
          <p:cNvPr id="26" name="TextBox 25"/>
          <p:cNvSpPr txBox="1"/>
          <p:nvPr/>
        </p:nvSpPr>
        <p:spPr>
          <a:xfrm>
            <a:off x="6474916" y="4419600"/>
            <a:ext cx="5717083" cy="171450"/>
          </a:xfrm>
          <a:prstGeom prst="rect">
            <a:avLst/>
          </a:prstGeom>
          <a:noFill/>
        </p:spPr>
        <p:txBody>
          <a:bodyPr wrap="none" lIns="0" rIns="0" tIns="0" bIns="0" anchor="t">
            <a:spAutoFit/>
          </a:bodyPr>
          <a:lstStyle/>
          <a:p>
            <a:pPr algn="l"/>
            <a:r>
              <a:rPr b="0" sz="1050" i="0" u="none">
                <a:solidFill>
                  <a:srgbClr val="475569"/>
                </a:solidFill>
                <a:latin typeface="Plus Jakarta Sans"/>
              </a:rPr>
              <a:t>• </a:t>
            </a:r>
            <a:r>
              <a:rPr b="1" sz="1050" i="0" u="none">
                <a:solidFill>
                  <a:srgbClr val="475569"/>
                </a:solidFill>
                <a:latin typeface="Plus Jakarta Sans"/>
              </a:rPr>
              <a:t>Hóa đơn tự động:</a:t>
            </a:r>
            <a:r>
              <a:rPr b="0" sz="1050" i="0" u="none">
                <a:solidFill>
                  <a:srgbClr val="475569"/>
                </a:solidFill>
                <a:latin typeface="Plus Jakarta Sans"/>
              </a:rPr>
              <a:t> Tạo ngay khi học viên ghi danh lớp (quan hệ 1-1).</a:t>
            </a:r>
          </a:p>
        </p:txBody>
      </p:sp>
      <p:sp>
        <p:nvSpPr>
          <p:cNvPr id="27" name="TextBox 26"/>
          <p:cNvSpPr txBox="1"/>
          <p:nvPr/>
        </p:nvSpPr>
        <p:spPr>
          <a:xfrm>
            <a:off x="6474916" y="4648200"/>
            <a:ext cx="5717083" cy="171450"/>
          </a:xfrm>
          <a:prstGeom prst="rect">
            <a:avLst/>
          </a:prstGeom>
          <a:noFill/>
        </p:spPr>
        <p:txBody>
          <a:bodyPr wrap="none" lIns="0" rIns="0" tIns="0" bIns="0" anchor="t">
            <a:spAutoFit/>
          </a:bodyPr>
          <a:lstStyle/>
          <a:p>
            <a:pPr algn="l"/>
            <a:r>
              <a:rPr b="0" sz="1050" i="0" u="none">
                <a:solidFill>
                  <a:srgbClr val="475569"/>
                </a:solidFill>
                <a:latin typeface="Plus Jakarta Sans"/>
              </a:rPr>
              <a:t>• </a:t>
            </a:r>
            <a:r>
              <a:rPr b="1" sz="1050" i="0" u="none">
                <a:solidFill>
                  <a:srgbClr val="475569"/>
                </a:solidFill>
                <a:latin typeface="Plus Jakarta Sans"/>
              </a:rPr>
              <a:t>Đóng phí nhiều đợt:</a:t>
            </a:r>
            <a:r>
              <a:rPr b="0" sz="1050" i="0" u="none">
                <a:solidFill>
                  <a:srgbClr val="475569"/>
                </a:solidFill>
                <a:latin typeface="Plus Jakarta Sans"/>
              </a:rPr>
              <a:t> Hỗ trợ nộp tiền mặt hoặc chuyển khoản nhiều lần.</a:t>
            </a:r>
          </a:p>
        </p:txBody>
      </p:sp>
      <p:sp>
        <p:nvSpPr>
          <p:cNvPr id="28" name="TextBox 27"/>
          <p:cNvSpPr txBox="1"/>
          <p:nvPr/>
        </p:nvSpPr>
        <p:spPr>
          <a:xfrm>
            <a:off x="6474916" y="4876800"/>
            <a:ext cx="4983658" cy="342900"/>
          </a:xfrm>
          <a:prstGeom prst="rect">
            <a:avLst/>
          </a:prstGeom>
          <a:noFill/>
        </p:spPr>
        <p:txBody>
          <a:bodyPr wrap="square" lIns="0" rIns="0" tIns="0" bIns="0" anchor="t">
            <a:spAutoFit/>
          </a:bodyPr>
          <a:lstStyle/>
          <a:p>
            <a:pPr algn="l"/>
            <a:r>
              <a:rPr b="0" sz="1050" i="0" u="none">
                <a:solidFill>
                  <a:srgbClr val="475569"/>
                </a:solidFill>
                <a:latin typeface="Plus Jakarta Sans"/>
              </a:rPr>
              <a:t>• </a:t>
            </a:r>
            <a:r>
              <a:rPr b="1" sz="1050" i="0" u="none">
                <a:solidFill>
                  <a:srgbClr val="475569"/>
                </a:solidFill>
                <a:latin typeface="Plus Jakarta Sans"/>
              </a:rPr>
              <a:t>Tất toán công nợ:</a:t>
            </a:r>
            <a:r>
              <a:rPr b="0" sz="1050" i="0" u="none">
                <a:solidFill>
                  <a:srgbClr val="475569"/>
                </a:solidFill>
                <a:latin typeface="Plus Jakarta Sans"/>
              </a:rPr>
              <a:t> Tự động chuyển `DA_HOAN_THANH` khi so_tien_da_tra &gt;= so_tien_phai_tra.</a:t>
            </a:r>
          </a:p>
        </p:txBody>
      </p:sp>
      <p:sp>
        <p:nvSpPr>
          <p:cNvPr id="29" name="TextBox 28"/>
          <p:cNvSpPr txBox="1"/>
          <p:nvPr/>
        </p:nvSpPr>
        <p:spPr>
          <a:xfrm>
            <a:off x="1000125" y="3152775"/>
            <a:ext cx="3607593" cy="180975"/>
          </a:xfrm>
          <a:prstGeom prst="rect">
            <a:avLst/>
          </a:prstGeom>
          <a:noFill/>
        </p:spPr>
        <p:txBody>
          <a:bodyPr wrap="none" lIns="0" rIns="0" tIns="0" bIns="0" anchor="t">
            <a:spAutoFit/>
          </a:bodyPr>
          <a:lstStyle/>
          <a:p>
            <a:pPr algn="l"/>
            <a:r>
              <a:rPr b="1" sz="1125" i="0" u="none">
                <a:solidFill>
                  <a:srgbClr val="334155"/>
                </a:solidFill>
                <a:latin typeface="Plus Jakarta Sans"/>
              </a:rPr>
              <a:t>1. Điểm Chuyên Cần (Điểm danh buổi học)</a:t>
            </a:r>
          </a:p>
        </p:txBody>
      </p:sp>
      <p:sp>
        <p:nvSpPr>
          <p:cNvPr id="30" name="TextBox 29"/>
          <p:cNvSpPr txBox="1"/>
          <p:nvPr/>
        </p:nvSpPr>
        <p:spPr>
          <a:xfrm>
            <a:off x="4484191" y="3138487"/>
            <a:ext cx="1362075" cy="209550"/>
          </a:xfrm>
          <a:prstGeom prst="rect">
            <a:avLst/>
          </a:prstGeom>
          <a:noFill/>
        </p:spPr>
        <p:txBody>
          <a:bodyPr wrap="none" lIns="0" rIns="0" tIns="0" bIns="0" anchor="t">
            <a:spAutoFit/>
          </a:bodyPr>
          <a:lstStyle/>
          <a:p>
            <a:pPr algn="l"/>
            <a:r>
              <a:rPr b="1" sz="1275" i="0" u="none">
                <a:solidFill>
                  <a:srgbClr val="0284C7"/>
                </a:solidFill>
                <a:latin typeface="Plus Jakarta Sans"/>
              </a:rPr>
              <a:t>Trọng số 20%</a:t>
            </a:r>
          </a:p>
        </p:txBody>
      </p:sp>
      <p:sp>
        <p:nvSpPr>
          <p:cNvPr id="31" name="TextBox 30"/>
          <p:cNvSpPr txBox="1"/>
          <p:nvPr/>
        </p:nvSpPr>
        <p:spPr>
          <a:xfrm>
            <a:off x="1000125" y="3629025"/>
            <a:ext cx="2952750" cy="180975"/>
          </a:xfrm>
          <a:prstGeom prst="rect">
            <a:avLst/>
          </a:prstGeom>
          <a:noFill/>
        </p:spPr>
        <p:txBody>
          <a:bodyPr wrap="none" lIns="0" rIns="0" tIns="0" bIns="0" anchor="t">
            <a:spAutoFit/>
          </a:bodyPr>
          <a:lstStyle/>
          <a:p>
            <a:pPr algn="l"/>
            <a:r>
              <a:rPr b="1" sz="1125" i="0" u="none">
                <a:solidFill>
                  <a:srgbClr val="334155"/>
                </a:solidFill>
                <a:latin typeface="Plus Jakarta Sans"/>
              </a:rPr>
              <a:t>2. Điểm Kiểm Tra Đánh Giá Giữa Kỳ</a:t>
            </a:r>
          </a:p>
        </p:txBody>
      </p:sp>
      <p:sp>
        <p:nvSpPr>
          <p:cNvPr id="32" name="TextBox 31"/>
          <p:cNvSpPr txBox="1"/>
          <p:nvPr/>
        </p:nvSpPr>
        <p:spPr>
          <a:xfrm>
            <a:off x="4484191" y="3614737"/>
            <a:ext cx="1362075" cy="209550"/>
          </a:xfrm>
          <a:prstGeom prst="rect">
            <a:avLst/>
          </a:prstGeom>
          <a:noFill/>
        </p:spPr>
        <p:txBody>
          <a:bodyPr wrap="none" lIns="0" rIns="0" tIns="0" bIns="0" anchor="t">
            <a:spAutoFit/>
          </a:bodyPr>
          <a:lstStyle/>
          <a:p>
            <a:pPr algn="l"/>
            <a:r>
              <a:rPr b="1" sz="1275" i="0" u="none">
                <a:solidFill>
                  <a:srgbClr val="0F172A"/>
                </a:solidFill>
                <a:latin typeface="Plus Jakarta Sans"/>
              </a:rPr>
              <a:t>Trọng số 30%</a:t>
            </a:r>
          </a:p>
        </p:txBody>
      </p:sp>
      <p:sp>
        <p:nvSpPr>
          <p:cNvPr id="33" name="TextBox 32"/>
          <p:cNvSpPr txBox="1"/>
          <p:nvPr/>
        </p:nvSpPr>
        <p:spPr>
          <a:xfrm>
            <a:off x="1000125" y="4105275"/>
            <a:ext cx="2738437" cy="180975"/>
          </a:xfrm>
          <a:prstGeom prst="rect">
            <a:avLst/>
          </a:prstGeom>
          <a:noFill/>
        </p:spPr>
        <p:txBody>
          <a:bodyPr wrap="none" lIns="0" rIns="0" tIns="0" bIns="0" anchor="t">
            <a:spAutoFit/>
          </a:bodyPr>
          <a:lstStyle/>
          <a:p>
            <a:pPr algn="l"/>
            <a:r>
              <a:rPr b="1" sz="1125" i="0" u="none">
                <a:solidFill>
                  <a:srgbClr val="334155"/>
                </a:solidFill>
                <a:latin typeface="Plus Jakarta Sans"/>
              </a:rPr>
              <a:t>3. Điểm Thi Năng Lực Cuối Khóa</a:t>
            </a:r>
          </a:p>
        </p:txBody>
      </p:sp>
      <p:sp>
        <p:nvSpPr>
          <p:cNvPr id="34" name="TextBox 33"/>
          <p:cNvSpPr txBox="1"/>
          <p:nvPr/>
        </p:nvSpPr>
        <p:spPr>
          <a:xfrm>
            <a:off x="4484191" y="4090987"/>
            <a:ext cx="1362075" cy="209550"/>
          </a:xfrm>
          <a:prstGeom prst="rect">
            <a:avLst/>
          </a:prstGeom>
          <a:noFill/>
        </p:spPr>
        <p:txBody>
          <a:bodyPr wrap="none" lIns="0" rIns="0" tIns="0" bIns="0" anchor="t">
            <a:spAutoFit/>
          </a:bodyPr>
          <a:lstStyle/>
          <a:p>
            <a:pPr algn="l"/>
            <a:r>
              <a:rPr b="1" sz="1275" i="0" u="none">
                <a:solidFill>
                  <a:srgbClr val="0F172A"/>
                </a:solidFill>
                <a:latin typeface="Plus Jakarta Sans"/>
              </a:rPr>
              <a:t>Trọng số 50%</a:t>
            </a:r>
          </a:p>
        </p:txBody>
      </p:sp>
      <p:sp>
        <p:nvSpPr>
          <p:cNvPr id="35" name="TextBox 34"/>
          <p:cNvSpPr txBox="1"/>
          <p:nvPr/>
        </p:nvSpPr>
        <p:spPr>
          <a:xfrm>
            <a:off x="6589216" y="2828925"/>
            <a:ext cx="561975" cy="171450"/>
          </a:xfrm>
          <a:prstGeom prst="rect">
            <a:avLst/>
          </a:prstGeom>
          <a:noFill/>
        </p:spPr>
        <p:txBody>
          <a:bodyPr wrap="square" lIns="0" rIns="0" tIns="0" bIns="0" anchor="t">
            <a:spAutoFit/>
          </a:bodyPr>
          <a:lstStyle/>
          <a:p>
            <a:pPr algn="l"/>
            <a:r>
              <a:rPr b="1" sz="1050" i="0" u="none">
                <a:solidFill>
                  <a:srgbClr val="15803D"/>
                </a:solidFill>
                <a:latin typeface="Plus Jakarta Sans"/>
              </a:rPr>
              <a:t>Có mặt</a:t>
            </a:r>
          </a:p>
        </p:txBody>
      </p:sp>
      <p:sp>
        <p:nvSpPr>
          <p:cNvPr id="36" name="TextBox 35"/>
          <p:cNvSpPr txBox="1"/>
          <p:nvPr/>
        </p:nvSpPr>
        <p:spPr>
          <a:xfrm>
            <a:off x="7379791" y="2828925"/>
            <a:ext cx="609600" cy="171450"/>
          </a:xfrm>
          <a:prstGeom prst="rect">
            <a:avLst/>
          </a:prstGeom>
          <a:noFill/>
        </p:spPr>
        <p:txBody>
          <a:bodyPr wrap="square" lIns="0" rIns="0" tIns="0" bIns="0" anchor="t">
            <a:spAutoFit/>
          </a:bodyPr>
          <a:lstStyle/>
          <a:p>
            <a:pPr algn="l"/>
            <a:r>
              <a:rPr b="1" sz="1050" i="0" u="none">
                <a:solidFill>
                  <a:srgbClr val="B45309"/>
                </a:solidFill>
                <a:latin typeface="Plus Jakarta Sans"/>
              </a:rPr>
              <a:t>Đi muộn</a:t>
            </a:r>
          </a:p>
        </p:txBody>
      </p:sp>
      <p:sp>
        <p:nvSpPr>
          <p:cNvPr id="37" name="TextBox 36"/>
          <p:cNvSpPr txBox="1"/>
          <p:nvPr/>
        </p:nvSpPr>
        <p:spPr>
          <a:xfrm>
            <a:off x="8217991" y="2828925"/>
            <a:ext cx="638175" cy="171450"/>
          </a:xfrm>
          <a:prstGeom prst="rect">
            <a:avLst/>
          </a:prstGeom>
          <a:noFill/>
        </p:spPr>
        <p:txBody>
          <a:bodyPr wrap="square" lIns="0" rIns="0" tIns="0" bIns="0" anchor="t">
            <a:spAutoFit/>
          </a:bodyPr>
          <a:lstStyle/>
          <a:p>
            <a:pPr algn="l"/>
            <a:r>
              <a:rPr b="1" sz="1050" i="0" u="none">
                <a:solidFill>
                  <a:srgbClr val="0284C7"/>
                </a:solidFill>
                <a:latin typeface="Plus Jakarta Sans"/>
              </a:rPr>
              <a:t>Có phép</a:t>
            </a:r>
          </a:p>
        </p:txBody>
      </p:sp>
      <p:sp>
        <p:nvSpPr>
          <p:cNvPr id="38" name="TextBox 37"/>
          <p:cNvSpPr txBox="1"/>
          <p:nvPr/>
        </p:nvSpPr>
        <p:spPr>
          <a:xfrm>
            <a:off x="9084766" y="2828925"/>
            <a:ext cx="704850" cy="171450"/>
          </a:xfrm>
          <a:prstGeom prst="rect">
            <a:avLst/>
          </a:prstGeom>
          <a:noFill/>
        </p:spPr>
        <p:txBody>
          <a:bodyPr wrap="square" lIns="0" rIns="0" tIns="0" bIns="0" anchor="t">
            <a:spAutoFit/>
          </a:bodyPr>
          <a:lstStyle/>
          <a:p>
            <a:pPr algn="l"/>
            <a:r>
              <a:rPr b="1" sz="1050" i="0" u="none">
                <a:solidFill>
                  <a:srgbClr val="B91C1C"/>
                </a:solidFill>
                <a:latin typeface="Plus Jakarta Sans"/>
              </a:rPr>
              <a:t>Vắng mặt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4093368"/>
            <a:ext cx="10972800" cy="1676400"/>
          </a:xfrm>
          <a:prstGeom prst="roundRect">
            <a:avLst>
              <a:gd name="adj" fmla="val 681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1888331"/>
            <a:ext cx="2628900" cy="942975"/>
          </a:xfrm>
          <a:prstGeom prst="roundRect">
            <a:avLst>
              <a:gd name="adj" fmla="val 12121"/>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390900" y="1888331"/>
            <a:ext cx="2628900" cy="942975"/>
          </a:xfrm>
          <a:prstGeom prst="roundRect">
            <a:avLst>
              <a:gd name="adj" fmla="val 12121"/>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172200" y="1888331"/>
            <a:ext cx="2628900" cy="942975"/>
          </a:xfrm>
          <a:prstGeom prst="roundRect">
            <a:avLst>
              <a:gd name="adj" fmla="val 12121"/>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953500" y="1888331"/>
            <a:ext cx="2628900" cy="942975"/>
          </a:xfrm>
          <a:prstGeom prst="roundRect">
            <a:avLst>
              <a:gd name="adj" fmla="val 12121"/>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47725" y="4655343"/>
            <a:ext cx="1946969" cy="895350"/>
          </a:xfrm>
          <a:prstGeom prst="roundRect">
            <a:avLst>
              <a:gd name="adj" fmla="val 851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985194" y="4655343"/>
            <a:ext cx="1946969" cy="895350"/>
          </a:xfrm>
          <a:prstGeom prst="roundRect">
            <a:avLst>
              <a:gd name="adj" fmla="val 851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122664" y="4655343"/>
            <a:ext cx="1946969" cy="895350"/>
          </a:xfrm>
          <a:prstGeom prst="roundRect">
            <a:avLst>
              <a:gd name="adj" fmla="val 851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260133" y="4655343"/>
            <a:ext cx="1946969" cy="895350"/>
          </a:xfrm>
          <a:prstGeom prst="roundRect">
            <a:avLst>
              <a:gd name="adj" fmla="val 851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397603" y="4655343"/>
            <a:ext cx="1946969" cy="895350"/>
          </a:xfrm>
          <a:prstGeom prst="roundRect">
            <a:avLst>
              <a:gd name="adj" fmla="val 851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2"/>
          <a:stretch>
            <a:fillRect/>
          </a:stretch>
        </p:blipFill>
        <p:spPr>
          <a:xfrm>
            <a:off x="1697384" y="4779168"/>
            <a:ext cx="247650" cy="247650"/>
          </a:xfrm>
          <a:prstGeom prst="rect">
            <a:avLst/>
          </a:prstGeom>
        </p:spPr>
      </p:pic>
      <p:pic>
        <p:nvPicPr>
          <p:cNvPr id="13" name="Picture 12" descr="image.png"/>
          <p:cNvPicPr>
            <a:picLocks noChangeAspect="1"/>
          </p:cNvPicPr>
          <p:nvPr/>
        </p:nvPicPr>
        <p:blipFill>
          <a:blip r:embed="rId3"/>
          <a:stretch>
            <a:fillRect/>
          </a:stretch>
        </p:blipFill>
        <p:spPr>
          <a:xfrm>
            <a:off x="3849141" y="4779168"/>
            <a:ext cx="219075" cy="247650"/>
          </a:xfrm>
          <a:prstGeom prst="rect">
            <a:avLst/>
          </a:prstGeom>
        </p:spPr>
      </p:pic>
      <p:pic>
        <p:nvPicPr>
          <p:cNvPr id="14" name="Picture 13" descr="image.png"/>
          <p:cNvPicPr>
            <a:picLocks noChangeAspect="1"/>
          </p:cNvPicPr>
          <p:nvPr/>
        </p:nvPicPr>
        <p:blipFill>
          <a:blip r:embed="rId4"/>
          <a:stretch>
            <a:fillRect/>
          </a:stretch>
        </p:blipFill>
        <p:spPr>
          <a:xfrm>
            <a:off x="5986611" y="4779168"/>
            <a:ext cx="219075" cy="247650"/>
          </a:xfrm>
          <a:prstGeom prst="rect">
            <a:avLst/>
          </a:prstGeom>
        </p:spPr>
      </p:pic>
      <p:pic>
        <p:nvPicPr>
          <p:cNvPr id="15" name="Picture 14" descr="image.png"/>
          <p:cNvPicPr>
            <a:picLocks noChangeAspect="1"/>
          </p:cNvPicPr>
          <p:nvPr/>
        </p:nvPicPr>
        <p:blipFill>
          <a:blip r:embed="rId5"/>
          <a:stretch>
            <a:fillRect/>
          </a:stretch>
        </p:blipFill>
        <p:spPr>
          <a:xfrm>
            <a:off x="8109793" y="4779168"/>
            <a:ext cx="247650" cy="247650"/>
          </a:xfrm>
          <a:prstGeom prst="rect">
            <a:avLst/>
          </a:prstGeom>
        </p:spPr>
      </p:pic>
      <p:pic>
        <p:nvPicPr>
          <p:cNvPr id="16" name="Picture 15" descr="image.png"/>
          <p:cNvPicPr>
            <a:picLocks noChangeAspect="1"/>
          </p:cNvPicPr>
          <p:nvPr/>
        </p:nvPicPr>
        <p:blipFill>
          <a:blip r:embed="rId6"/>
          <a:stretch>
            <a:fillRect/>
          </a:stretch>
        </p:blipFill>
        <p:spPr>
          <a:xfrm>
            <a:off x="10213925" y="4779168"/>
            <a:ext cx="314325" cy="247650"/>
          </a:xfrm>
          <a:prstGeom prst="rect">
            <a:avLst/>
          </a:prstGeom>
        </p:spPr>
      </p:pic>
      <p:sp>
        <p:nvSpPr>
          <p:cNvPr id="17" name="TextBox 16"/>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0284C7"/>
                </a:solidFill>
                <a:latin typeface="Plus Jakarta Sans"/>
              </a:rPr>
              <a:t>CHƯƠNG 7: TRIỂN KHAI KỸ THUẬT</a:t>
            </a:r>
          </a:p>
        </p:txBody>
      </p:sp>
      <p:sp>
        <p:nvSpPr>
          <p:cNvPr id="18" name="TextBox 17"/>
          <p:cNvSpPr txBox="1"/>
          <p:nvPr/>
        </p:nvSpPr>
        <p:spPr>
          <a:xfrm>
            <a:off x="609600" y="685800"/>
            <a:ext cx="11582400" cy="361950"/>
          </a:xfrm>
          <a:prstGeom prst="rect">
            <a:avLst/>
          </a:prstGeom>
          <a:noFill/>
        </p:spPr>
        <p:txBody>
          <a:bodyPr wrap="none" lIns="0" rIns="0" tIns="0" bIns="0" anchor="t">
            <a:spAutoFit/>
          </a:bodyPr>
          <a:lstStyle/>
          <a:p>
            <a:pPr algn="l"/>
            <a:r>
              <a:rPr b="1" sz="2250" i="0" u="none">
                <a:solidFill>
                  <a:srgbClr val="0F172A"/>
                </a:solidFill>
                <a:latin typeface="Plus Jakarta Sans"/>
              </a:rPr>
              <a:t>Danh Mục 32 RESTful APIs &amp; Technology Stack</a:t>
            </a:r>
          </a:p>
        </p:txBody>
      </p:sp>
      <p:sp>
        <p:nvSpPr>
          <p:cNvPr id="19" name="TextBox 18"/>
          <p:cNvSpPr txBox="1"/>
          <p:nvPr/>
        </p:nvSpPr>
        <p:spPr>
          <a:xfrm>
            <a:off x="847725" y="4312443"/>
            <a:ext cx="11344275" cy="209550"/>
          </a:xfrm>
          <a:prstGeom prst="rect">
            <a:avLst/>
          </a:prstGeom>
          <a:noFill/>
        </p:spPr>
        <p:txBody>
          <a:bodyPr wrap="none" lIns="0" rIns="0" tIns="0" bIns="0" anchor="t">
            <a:spAutoFit/>
          </a:bodyPr>
          <a:lstStyle/>
          <a:p>
            <a:pPr algn="l"/>
            <a:r>
              <a:rPr b="1" sz="1275" i="0" u="none">
                <a:solidFill>
                  <a:srgbClr val="0F172A"/>
                </a:solidFill>
                <a:latin typeface="Plus Jakarta Sans"/>
              </a:rPr>
              <a:t>Ma Trận Công Nghệ Triển Khai Tiên Tiến:</a:t>
            </a:r>
          </a:p>
        </p:txBody>
      </p:sp>
      <p:sp>
        <p:nvSpPr>
          <p:cNvPr id="20" name="TextBox 19"/>
          <p:cNvSpPr txBox="1"/>
          <p:nvPr/>
        </p:nvSpPr>
        <p:spPr>
          <a:xfrm>
            <a:off x="790575" y="2345531"/>
            <a:ext cx="2362200" cy="304800"/>
          </a:xfrm>
          <a:prstGeom prst="rect">
            <a:avLst/>
          </a:prstGeom>
          <a:noFill/>
        </p:spPr>
        <p:txBody>
          <a:bodyPr wrap="square" lIns="0" rIns="0" tIns="0" bIns="0" anchor="t">
            <a:spAutoFit/>
          </a:bodyPr>
          <a:lstStyle/>
          <a:p>
            <a:pPr algn="l"/>
            <a:r>
              <a:rPr b="0" sz="975" i="0" u="none">
                <a:solidFill>
                  <a:srgbClr val="64748B"/>
                </a:solidFill>
                <a:latin typeface="Plus Jakarta Sans"/>
              </a:rPr>
              <a:t>/auth/login, /auth/me, /auth/change-pwd, /auth/logout (JWT HS256)</a:t>
            </a:r>
          </a:p>
        </p:txBody>
      </p:sp>
      <p:sp>
        <p:nvSpPr>
          <p:cNvPr id="21" name="TextBox 20"/>
          <p:cNvSpPr txBox="1"/>
          <p:nvPr/>
        </p:nvSpPr>
        <p:spPr>
          <a:xfrm>
            <a:off x="3571875" y="2345531"/>
            <a:ext cx="2362200" cy="304800"/>
          </a:xfrm>
          <a:prstGeom prst="rect">
            <a:avLst/>
          </a:prstGeom>
          <a:noFill/>
        </p:spPr>
        <p:txBody>
          <a:bodyPr wrap="square" lIns="0" rIns="0" tIns="0" bIns="0" anchor="t">
            <a:spAutoFit/>
          </a:bodyPr>
          <a:lstStyle/>
          <a:p>
            <a:pPr algn="l"/>
            <a:r>
              <a:rPr b="0" sz="975" i="0" u="none">
                <a:solidFill>
                  <a:srgbClr val="64748B"/>
                </a:solidFill>
                <a:latin typeface="Plus Jakarta Sans"/>
              </a:rPr>
              <a:t>CRUD Khóa học, Mở lớp, Xếp lịch, Phân công GV, Lọc danh sách</a:t>
            </a:r>
          </a:p>
        </p:txBody>
      </p:sp>
      <p:sp>
        <p:nvSpPr>
          <p:cNvPr id="22" name="TextBox 21"/>
          <p:cNvSpPr txBox="1"/>
          <p:nvPr/>
        </p:nvSpPr>
        <p:spPr>
          <a:xfrm>
            <a:off x="6353175" y="2345531"/>
            <a:ext cx="2362200" cy="304800"/>
          </a:xfrm>
          <a:prstGeom prst="rect">
            <a:avLst/>
          </a:prstGeom>
          <a:noFill/>
        </p:spPr>
        <p:txBody>
          <a:bodyPr wrap="square" lIns="0" rIns="0" tIns="0" bIns="0" anchor="t">
            <a:spAutoFit/>
          </a:bodyPr>
          <a:lstStyle/>
          <a:p>
            <a:pPr algn="l"/>
            <a:r>
              <a:rPr b="0" sz="975" i="0" u="none">
                <a:solidFill>
                  <a:srgbClr val="64748B"/>
                </a:solidFill>
                <a:latin typeface="Plus Jakarta Sans"/>
              </a:rPr>
              <a:t>/enrollments, /invoices, /payments (Hỗ trợ tiền mặt &amp; CK nhiều đợt)</a:t>
            </a:r>
          </a:p>
        </p:txBody>
      </p:sp>
      <p:sp>
        <p:nvSpPr>
          <p:cNvPr id="23" name="TextBox 22"/>
          <p:cNvSpPr txBox="1"/>
          <p:nvPr/>
        </p:nvSpPr>
        <p:spPr>
          <a:xfrm>
            <a:off x="9134475" y="2345531"/>
            <a:ext cx="2362200" cy="304800"/>
          </a:xfrm>
          <a:prstGeom prst="rect">
            <a:avLst/>
          </a:prstGeom>
          <a:noFill/>
        </p:spPr>
        <p:txBody>
          <a:bodyPr wrap="square" lIns="0" rIns="0" tIns="0" bIns="0" anchor="t">
            <a:spAutoFit/>
          </a:bodyPr>
          <a:lstStyle/>
          <a:p>
            <a:pPr algn="l"/>
            <a:r>
              <a:rPr b="0" sz="975" i="0" u="none">
                <a:solidFill>
                  <a:srgbClr val="64748B"/>
                </a:solidFill>
                <a:latin typeface="Plus Jakarta Sans"/>
              </a:rPr>
              <a:t>Điểm danh, Nhập điểm, Báo cáo, /ai/consult, /ai/generate, /ai/summary</a:t>
            </a:r>
          </a:p>
        </p:txBody>
      </p:sp>
      <p:sp>
        <p:nvSpPr>
          <p:cNvPr id="24" name="TextBox 23"/>
          <p:cNvSpPr txBox="1"/>
          <p:nvPr/>
        </p:nvSpPr>
        <p:spPr>
          <a:xfrm>
            <a:off x="790575" y="2069306"/>
            <a:ext cx="2262782" cy="200025"/>
          </a:xfrm>
          <a:prstGeom prst="rect">
            <a:avLst/>
          </a:prstGeom>
          <a:noFill/>
        </p:spPr>
        <p:txBody>
          <a:bodyPr wrap="none" lIns="0" rIns="0" tIns="0" bIns="0" anchor="t">
            <a:spAutoFit/>
          </a:bodyPr>
          <a:lstStyle/>
          <a:p>
            <a:pPr algn="l"/>
            <a:r>
              <a:rPr b="1" sz="1200" i="0" u="none">
                <a:solidFill>
                  <a:srgbClr val="0F172A"/>
                </a:solidFill>
                <a:latin typeface="Plus Jakarta Sans"/>
              </a:rPr>
              <a:t>Xác Thực &amp; Người Dùng</a:t>
            </a:r>
          </a:p>
        </p:txBody>
      </p:sp>
      <p:sp>
        <p:nvSpPr>
          <p:cNvPr id="25" name="TextBox 24"/>
          <p:cNvSpPr txBox="1"/>
          <p:nvPr/>
        </p:nvSpPr>
        <p:spPr>
          <a:xfrm>
            <a:off x="2676525" y="2093118"/>
            <a:ext cx="666750" cy="152400"/>
          </a:xfrm>
          <a:prstGeom prst="rect">
            <a:avLst/>
          </a:prstGeom>
          <a:noFill/>
        </p:spPr>
        <p:txBody>
          <a:bodyPr wrap="none" lIns="0" rIns="0" tIns="0" bIns="0" anchor="t">
            <a:spAutoFit/>
          </a:bodyPr>
          <a:lstStyle/>
          <a:p>
            <a:pPr algn="l"/>
            <a:r>
              <a:rPr b="1" sz="975" i="0" u="none">
                <a:solidFill>
                  <a:srgbClr val="0284C7"/>
                </a:solidFill>
                <a:latin typeface="Plus Jakarta Sans"/>
              </a:rPr>
              <a:t>4 APIs</a:t>
            </a:r>
          </a:p>
        </p:txBody>
      </p:sp>
      <p:sp>
        <p:nvSpPr>
          <p:cNvPr id="26" name="TextBox 25"/>
          <p:cNvSpPr txBox="1"/>
          <p:nvPr/>
        </p:nvSpPr>
        <p:spPr>
          <a:xfrm>
            <a:off x="3571875" y="2069306"/>
            <a:ext cx="1825228" cy="200025"/>
          </a:xfrm>
          <a:prstGeom prst="rect">
            <a:avLst/>
          </a:prstGeom>
          <a:noFill/>
        </p:spPr>
        <p:txBody>
          <a:bodyPr wrap="none" lIns="0" rIns="0" tIns="0" bIns="0" anchor="t">
            <a:spAutoFit/>
          </a:bodyPr>
          <a:lstStyle/>
          <a:p>
            <a:pPr algn="l"/>
            <a:r>
              <a:rPr b="1" sz="1200" i="0" u="none">
                <a:solidFill>
                  <a:srgbClr val="0F172A"/>
                </a:solidFill>
                <a:latin typeface="Plus Jakarta Sans"/>
              </a:rPr>
              <a:t>Đào Tạo &amp; Lớp Học</a:t>
            </a:r>
          </a:p>
        </p:txBody>
      </p:sp>
      <p:sp>
        <p:nvSpPr>
          <p:cNvPr id="27" name="TextBox 26"/>
          <p:cNvSpPr txBox="1"/>
          <p:nvPr/>
        </p:nvSpPr>
        <p:spPr>
          <a:xfrm>
            <a:off x="5410200" y="2093118"/>
            <a:ext cx="714375" cy="152400"/>
          </a:xfrm>
          <a:prstGeom prst="rect">
            <a:avLst/>
          </a:prstGeom>
          <a:noFill/>
        </p:spPr>
        <p:txBody>
          <a:bodyPr wrap="none" lIns="0" rIns="0" tIns="0" bIns="0" anchor="t">
            <a:spAutoFit/>
          </a:bodyPr>
          <a:lstStyle/>
          <a:p>
            <a:pPr algn="l"/>
            <a:r>
              <a:rPr b="1" sz="975" i="0" u="none">
                <a:solidFill>
                  <a:srgbClr val="0F172A"/>
                </a:solidFill>
                <a:latin typeface="Plus Jakarta Sans"/>
              </a:rPr>
              <a:t>10 APIs</a:t>
            </a:r>
          </a:p>
        </p:txBody>
      </p:sp>
      <p:sp>
        <p:nvSpPr>
          <p:cNvPr id="28" name="TextBox 27"/>
          <p:cNvSpPr txBox="1"/>
          <p:nvPr/>
        </p:nvSpPr>
        <p:spPr>
          <a:xfrm>
            <a:off x="6353175" y="2069306"/>
            <a:ext cx="1925240" cy="200025"/>
          </a:xfrm>
          <a:prstGeom prst="rect">
            <a:avLst/>
          </a:prstGeom>
          <a:noFill/>
        </p:spPr>
        <p:txBody>
          <a:bodyPr wrap="none" lIns="0" rIns="0" tIns="0" bIns="0" anchor="t">
            <a:spAutoFit/>
          </a:bodyPr>
          <a:lstStyle/>
          <a:p>
            <a:pPr algn="l"/>
            <a:r>
              <a:rPr b="1" sz="1200" i="0" u="none">
                <a:solidFill>
                  <a:srgbClr val="0F172A"/>
                </a:solidFill>
                <a:latin typeface="Plus Jakarta Sans"/>
              </a:rPr>
              <a:t>Ghi Danh &amp; Tài Chính</a:t>
            </a:r>
          </a:p>
        </p:txBody>
      </p:sp>
      <p:sp>
        <p:nvSpPr>
          <p:cNvPr id="29" name="TextBox 28"/>
          <p:cNvSpPr txBox="1"/>
          <p:nvPr/>
        </p:nvSpPr>
        <p:spPr>
          <a:xfrm>
            <a:off x="8248650" y="2093118"/>
            <a:ext cx="657225" cy="152400"/>
          </a:xfrm>
          <a:prstGeom prst="rect">
            <a:avLst/>
          </a:prstGeom>
          <a:noFill/>
        </p:spPr>
        <p:txBody>
          <a:bodyPr wrap="none" lIns="0" rIns="0" tIns="0" bIns="0" anchor="t">
            <a:spAutoFit/>
          </a:bodyPr>
          <a:lstStyle/>
          <a:p>
            <a:pPr algn="l"/>
            <a:r>
              <a:rPr b="1" sz="975" i="0" u="none">
                <a:solidFill>
                  <a:srgbClr val="D97706"/>
                </a:solidFill>
                <a:latin typeface="Plus Jakarta Sans"/>
              </a:rPr>
              <a:t>6 APIs</a:t>
            </a:r>
          </a:p>
        </p:txBody>
      </p:sp>
      <p:sp>
        <p:nvSpPr>
          <p:cNvPr id="30" name="TextBox 29"/>
          <p:cNvSpPr txBox="1"/>
          <p:nvPr/>
        </p:nvSpPr>
        <p:spPr>
          <a:xfrm>
            <a:off x="9134475" y="2069306"/>
            <a:ext cx="1625203" cy="200025"/>
          </a:xfrm>
          <a:prstGeom prst="rect">
            <a:avLst/>
          </a:prstGeom>
          <a:noFill/>
        </p:spPr>
        <p:txBody>
          <a:bodyPr wrap="none" lIns="0" rIns="0" tIns="0" bIns="0" anchor="t">
            <a:spAutoFit/>
          </a:bodyPr>
          <a:lstStyle/>
          <a:p>
            <a:pPr algn="l"/>
            <a:r>
              <a:rPr b="1" sz="1200" i="0" u="none">
                <a:solidFill>
                  <a:srgbClr val="0F172A"/>
                </a:solidFill>
                <a:latin typeface="Plus Jakarta Sans"/>
              </a:rPr>
              <a:t>Học Tập &amp; GenAI</a:t>
            </a:r>
          </a:p>
        </p:txBody>
      </p:sp>
      <p:sp>
        <p:nvSpPr>
          <p:cNvPr id="31" name="TextBox 30"/>
          <p:cNvSpPr txBox="1"/>
          <p:nvPr/>
        </p:nvSpPr>
        <p:spPr>
          <a:xfrm>
            <a:off x="10982325" y="2093118"/>
            <a:ext cx="704850" cy="152400"/>
          </a:xfrm>
          <a:prstGeom prst="rect">
            <a:avLst/>
          </a:prstGeom>
          <a:noFill/>
        </p:spPr>
        <p:txBody>
          <a:bodyPr wrap="none" lIns="0" rIns="0" tIns="0" bIns="0" anchor="t">
            <a:spAutoFit/>
          </a:bodyPr>
          <a:lstStyle/>
          <a:p>
            <a:pPr algn="l"/>
            <a:r>
              <a:rPr b="1" sz="975" i="0" u="none">
                <a:solidFill>
                  <a:srgbClr val="7C3AED"/>
                </a:solidFill>
                <a:latin typeface="Plus Jakarta Sans"/>
              </a:rPr>
              <a:t>12 APIs</a:t>
            </a:r>
          </a:p>
        </p:txBody>
      </p:sp>
      <p:sp>
        <p:nvSpPr>
          <p:cNvPr id="32" name="TextBox 31"/>
          <p:cNvSpPr txBox="1"/>
          <p:nvPr/>
        </p:nvSpPr>
        <p:spPr>
          <a:xfrm>
            <a:off x="759135" y="5083968"/>
            <a:ext cx="2124149" cy="180975"/>
          </a:xfrm>
          <a:prstGeom prst="rect">
            <a:avLst/>
          </a:prstGeom>
          <a:noFill/>
        </p:spPr>
        <p:txBody>
          <a:bodyPr wrap="none" lIns="0" rIns="0" tIns="0" bIns="0" anchor="t">
            <a:spAutoFit/>
          </a:bodyPr>
          <a:lstStyle/>
          <a:p>
            <a:pPr algn="ctr"/>
            <a:r>
              <a:rPr b="1" sz="1125" i="0" u="none">
                <a:solidFill>
                  <a:srgbClr val="0F172A"/>
                </a:solidFill>
                <a:latin typeface="Plus Jakarta Sans"/>
              </a:rPr>
              <a:t>Next.js 16 (React 19)</a:t>
            </a:r>
          </a:p>
        </p:txBody>
      </p:sp>
      <p:sp>
        <p:nvSpPr>
          <p:cNvPr id="33" name="TextBox 32"/>
          <p:cNvSpPr txBox="1"/>
          <p:nvPr/>
        </p:nvSpPr>
        <p:spPr>
          <a:xfrm>
            <a:off x="759135" y="5283993"/>
            <a:ext cx="2124149" cy="142875"/>
          </a:xfrm>
          <a:prstGeom prst="rect">
            <a:avLst/>
          </a:prstGeom>
          <a:noFill/>
        </p:spPr>
        <p:txBody>
          <a:bodyPr wrap="none" lIns="0" rIns="0" tIns="0" bIns="0" anchor="t">
            <a:spAutoFit/>
          </a:bodyPr>
          <a:lstStyle/>
          <a:p>
            <a:pPr algn="ctr"/>
            <a:r>
              <a:rPr b="0" sz="900" i="0" u="none">
                <a:solidFill>
                  <a:srgbClr val="64748B"/>
                </a:solidFill>
                <a:latin typeface="Plus Jakarta Sans"/>
              </a:rPr>
              <a:t>SPA &amp; TailwindCSS</a:t>
            </a:r>
          </a:p>
        </p:txBody>
      </p:sp>
      <p:sp>
        <p:nvSpPr>
          <p:cNvPr id="34" name="TextBox 33"/>
          <p:cNvSpPr txBox="1"/>
          <p:nvPr/>
        </p:nvSpPr>
        <p:spPr>
          <a:xfrm>
            <a:off x="2896604" y="5083968"/>
            <a:ext cx="2124149" cy="180975"/>
          </a:xfrm>
          <a:prstGeom prst="rect">
            <a:avLst/>
          </a:prstGeom>
          <a:noFill/>
        </p:spPr>
        <p:txBody>
          <a:bodyPr wrap="none" lIns="0" rIns="0" tIns="0" bIns="0" anchor="t">
            <a:spAutoFit/>
          </a:bodyPr>
          <a:lstStyle/>
          <a:p>
            <a:pPr algn="ctr"/>
            <a:r>
              <a:rPr b="1" sz="1125" i="0" u="none">
                <a:solidFill>
                  <a:srgbClr val="0F172A"/>
                </a:solidFill>
                <a:latin typeface="Plus Jakarta Sans"/>
              </a:rPr>
              <a:t>NestJS 11 Framework</a:t>
            </a:r>
          </a:p>
        </p:txBody>
      </p:sp>
      <p:sp>
        <p:nvSpPr>
          <p:cNvPr id="35" name="TextBox 34"/>
          <p:cNvSpPr txBox="1"/>
          <p:nvPr/>
        </p:nvSpPr>
        <p:spPr>
          <a:xfrm>
            <a:off x="2896604" y="5283993"/>
            <a:ext cx="2124149" cy="142875"/>
          </a:xfrm>
          <a:prstGeom prst="rect">
            <a:avLst/>
          </a:prstGeom>
          <a:noFill/>
        </p:spPr>
        <p:txBody>
          <a:bodyPr wrap="none" lIns="0" rIns="0" tIns="0" bIns="0" anchor="t">
            <a:spAutoFit/>
          </a:bodyPr>
          <a:lstStyle/>
          <a:p>
            <a:pPr algn="ctr"/>
            <a:r>
              <a:rPr b="0" sz="900" i="0" u="none">
                <a:solidFill>
                  <a:srgbClr val="64748B"/>
                </a:solidFill>
                <a:latin typeface="Plus Jakarta Sans"/>
              </a:rPr>
              <a:t>TypeScript &amp; DI Modular</a:t>
            </a:r>
          </a:p>
        </p:txBody>
      </p:sp>
      <p:sp>
        <p:nvSpPr>
          <p:cNvPr id="36" name="TextBox 35"/>
          <p:cNvSpPr txBox="1"/>
          <p:nvPr/>
        </p:nvSpPr>
        <p:spPr>
          <a:xfrm>
            <a:off x="5034074" y="5083968"/>
            <a:ext cx="2124149" cy="180975"/>
          </a:xfrm>
          <a:prstGeom prst="rect">
            <a:avLst/>
          </a:prstGeom>
          <a:noFill/>
        </p:spPr>
        <p:txBody>
          <a:bodyPr wrap="none" lIns="0" rIns="0" tIns="0" bIns="0" anchor="t">
            <a:spAutoFit/>
          </a:bodyPr>
          <a:lstStyle/>
          <a:p>
            <a:pPr algn="ctr"/>
            <a:r>
              <a:rPr b="1" sz="1125" i="0" u="none">
                <a:solidFill>
                  <a:srgbClr val="0F172A"/>
                </a:solidFill>
                <a:latin typeface="Plus Jakarta Sans"/>
              </a:rPr>
              <a:t>PostgreSQL &amp; Prisma</a:t>
            </a:r>
          </a:p>
        </p:txBody>
      </p:sp>
      <p:sp>
        <p:nvSpPr>
          <p:cNvPr id="37" name="TextBox 36"/>
          <p:cNvSpPr txBox="1"/>
          <p:nvPr/>
        </p:nvSpPr>
        <p:spPr>
          <a:xfrm>
            <a:off x="5034074" y="5283993"/>
            <a:ext cx="2124149" cy="142875"/>
          </a:xfrm>
          <a:prstGeom prst="rect">
            <a:avLst/>
          </a:prstGeom>
          <a:noFill/>
        </p:spPr>
        <p:txBody>
          <a:bodyPr wrap="none" lIns="0" rIns="0" tIns="0" bIns="0" anchor="t">
            <a:spAutoFit/>
          </a:bodyPr>
          <a:lstStyle/>
          <a:p>
            <a:pPr algn="ctr"/>
            <a:r>
              <a:rPr b="0" sz="900" i="0" u="none">
                <a:solidFill>
                  <a:srgbClr val="64748B"/>
                </a:solidFill>
                <a:latin typeface="Plus Jakarta Sans"/>
              </a:rPr>
              <a:t>Neon Cloud Serverless</a:t>
            </a:r>
          </a:p>
        </p:txBody>
      </p:sp>
      <p:sp>
        <p:nvSpPr>
          <p:cNvPr id="38" name="TextBox 37"/>
          <p:cNvSpPr txBox="1"/>
          <p:nvPr/>
        </p:nvSpPr>
        <p:spPr>
          <a:xfrm>
            <a:off x="7171543" y="5083968"/>
            <a:ext cx="2124149" cy="180975"/>
          </a:xfrm>
          <a:prstGeom prst="rect">
            <a:avLst/>
          </a:prstGeom>
          <a:noFill/>
        </p:spPr>
        <p:txBody>
          <a:bodyPr wrap="none" lIns="0" rIns="0" tIns="0" bIns="0" anchor="t">
            <a:spAutoFit/>
          </a:bodyPr>
          <a:lstStyle/>
          <a:p>
            <a:pPr algn="ctr"/>
            <a:r>
              <a:rPr b="1" sz="1125" i="0" u="none">
                <a:solidFill>
                  <a:srgbClr val="0F172A"/>
                </a:solidFill>
                <a:latin typeface="Plus Jakarta Sans"/>
              </a:rPr>
              <a:t>Google Gemini API</a:t>
            </a:r>
          </a:p>
        </p:txBody>
      </p:sp>
      <p:sp>
        <p:nvSpPr>
          <p:cNvPr id="39" name="TextBox 38"/>
          <p:cNvSpPr txBox="1"/>
          <p:nvPr/>
        </p:nvSpPr>
        <p:spPr>
          <a:xfrm>
            <a:off x="7171543" y="5283993"/>
            <a:ext cx="2124149" cy="142875"/>
          </a:xfrm>
          <a:prstGeom prst="rect">
            <a:avLst/>
          </a:prstGeom>
          <a:noFill/>
        </p:spPr>
        <p:txBody>
          <a:bodyPr wrap="none" lIns="0" rIns="0" tIns="0" bIns="0" anchor="t">
            <a:spAutoFit/>
          </a:bodyPr>
          <a:lstStyle/>
          <a:p>
            <a:pPr algn="ctr"/>
            <a:r>
              <a:rPr b="0" sz="900" i="0" u="none">
                <a:solidFill>
                  <a:srgbClr val="64748B"/>
                </a:solidFill>
                <a:latin typeface="Plus Jakarta Sans"/>
              </a:rPr>
              <a:t>Flash-Lite &amp; Pro</a:t>
            </a:r>
          </a:p>
        </p:txBody>
      </p:sp>
      <p:sp>
        <p:nvSpPr>
          <p:cNvPr id="40" name="TextBox 39"/>
          <p:cNvSpPr txBox="1"/>
          <p:nvPr/>
        </p:nvSpPr>
        <p:spPr>
          <a:xfrm>
            <a:off x="9309013" y="5083968"/>
            <a:ext cx="2124149" cy="180975"/>
          </a:xfrm>
          <a:prstGeom prst="rect">
            <a:avLst/>
          </a:prstGeom>
          <a:noFill/>
        </p:spPr>
        <p:txBody>
          <a:bodyPr wrap="none" lIns="0" rIns="0" tIns="0" bIns="0" anchor="t">
            <a:spAutoFit/>
          </a:bodyPr>
          <a:lstStyle/>
          <a:p>
            <a:pPr algn="ctr"/>
            <a:r>
              <a:rPr b="1" sz="1125" i="0" u="none">
                <a:solidFill>
                  <a:srgbClr val="0F172A"/>
                </a:solidFill>
                <a:latin typeface="Plus Jakarta Sans"/>
              </a:rPr>
              <a:t>Swagger OpenAPI</a:t>
            </a:r>
          </a:p>
        </p:txBody>
      </p:sp>
      <p:sp>
        <p:nvSpPr>
          <p:cNvPr id="41" name="TextBox 40"/>
          <p:cNvSpPr txBox="1"/>
          <p:nvPr/>
        </p:nvSpPr>
        <p:spPr>
          <a:xfrm>
            <a:off x="9309013" y="5283993"/>
            <a:ext cx="2124149" cy="142875"/>
          </a:xfrm>
          <a:prstGeom prst="rect">
            <a:avLst/>
          </a:prstGeom>
          <a:noFill/>
        </p:spPr>
        <p:txBody>
          <a:bodyPr wrap="none" lIns="0" rIns="0" tIns="0" bIns="0" anchor="t">
            <a:spAutoFit/>
          </a:bodyPr>
          <a:lstStyle/>
          <a:p>
            <a:pPr algn="ctr"/>
            <a:r>
              <a:rPr b="0" sz="900" i="0" u="none">
                <a:solidFill>
                  <a:srgbClr val="64748B"/>
                </a:solidFill>
                <a:latin typeface="Plus Jakarta Sans"/>
              </a:rPr>
              <a:t>Tự động hóa /api/docs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609600" y="2619375"/>
            <a:ext cx="3747343" cy="2419350"/>
          </a:xfrm>
          <a:prstGeom prst="roundRect">
            <a:avLst>
              <a:gd name="adj" fmla="val 629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62025" y="4381500"/>
            <a:ext cx="3042493" cy="342900"/>
          </a:xfrm>
          <a:prstGeom prst="roundRect">
            <a:avLst>
              <a:gd name="adj" fmla="val 22222"/>
            </a:avLst>
          </a:prstGeom>
          <a:solidFill>
            <a:srgbClr val="ECFDF5"/>
          </a:solidFill>
          <a:ln w="9525">
            <a:solidFill>
              <a:srgbClr val="86EF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661743" y="2305050"/>
            <a:ext cx="6920656" cy="676275"/>
          </a:xfrm>
          <a:prstGeom prst="roundRect">
            <a:avLst>
              <a:gd name="adj" fmla="val 14084"/>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661743" y="3095625"/>
            <a:ext cx="6920656" cy="676275"/>
          </a:xfrm>
          <a:prstGeom prst="roundRect">
            <a:avLst>
              <a:gd name="adj" fmla="val 14084"/>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661743" y="3886200"/>
            <a:ext cx="6920656" cy="676275"/>
          </a:xfrm>
          <a:prstGeom prst="roundRect">
            <a:avLst>
              <a:gd name="adj" fmla="val 14084"/>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661743" y="4676775"/>
            <a:ext cx="6920656" cy="676275"/>
          </a:xfrm>
          <a:prstGeom prst="roundRect">
            <a:avLst>
              <a:gd name="adj" fmla="val 14084"/>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620375" y="2519362"/>
            <a:ext cx="781050" cy="247650"/>
          </a:xfrm>
          <a:prstGeom prst="roundRect">
            <a:avLst>
              <a:gd name="adj" fmla="val 23076"/>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487025" y="3309937"/>
            <a:ext cx="914400" cy="247650"/>
          </a:xfrm>
          <a:prstGeom prst="roundRect">
            <a:avLst>
              <a:gd name="adj" fmla="val 23076"/>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0506075" y="4100512"/>
            <a:ext cx="895350" cy="247650"/>
          </a:xfrm>
          <a:prstGeom prst="roundRect">
            <a:avLst>
              <a:gd name="adj" fmla="val 23076"/>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620375" y="4891087"/>
            <a:ext cx="781050" cy="247650"/>
          </a:xfrm>
          <a:prstGeom prst="roundRect">
            <a:avLst>
              <a:gd name="adj" fmla="val 23076"/>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0284C7"/>
                </a:solidFill>
                <a:latin typeface="Plus Jakarta Sans"/>
              </a:rPr>
              <a:t>CHƯƠNG 8: KIỂM THỬ CHỨC NĂNG &amp; NGHIỆM THU</a:t>
            </a:r>
          </a:p>
        </p:txBody>
      </p:sp>
      <p:sp>
        <p:nvSpPr>
          <p:cNvPr id="13" name="TextBox 12"/>
          <p:cNvSpPr txBox="1"/>
          <p:nvPr/>
        </p:nvSpPr>
        <p:spPr>
          <a:xfrm>
            <a:off x="609600" y="685800"/>
            <a:ext cx="11582400" cy="361950"/>
          </a:xfrm>
          <a:prstGeom prst="rect">
            <a:avLst/>
          </a:prstGeom>
          <a:noFill/>
        </p:spPr>
        <p:txBody>
          <a:bodyPr wrap="none" lIns="0" rIns="0" tIns="0" bIns="0" anchor="t">
            <a:spAutoFit/>
          </a:bodyPr>
          <a:lstStyle/>
          <a:p>
            <a:pPr algn="l"/>
            <a:r>
              <a:rPr b="1" sz="2250" i="0" u="none">
                <a:solidFill>
                  <a:srgbClr val="0F172A"/>
                </a:solidFill>
                <a:latin typeface="Plus Jakarta Sans"/>
              </a:rPr>
              <a:t>Báo Cáo Kiểm Thử Toàn Diện (45/45 Ca Đạt Chuẩn 100%)</a:t>
            </a:r>
          </a:p>
        </p:txBody>
      </p:sp>
      <p:sp>
        <p:nvSpPr>
          <p:cNvPr id="14" name="TextBox 13"/>
          <p:cNvSpPr txBox="1"/>
          <p:nvPr/>
        </p:nvSpPr>
        <p:spPr>
          <a:xfrm>
            <a:off x="581713" y="2933700"/>
            <a:ext cx="3803116" cy="762000"/>
          </a:xfrm>
          <a:prstGeom prst="rect">
            <a:avLst/>
          </a:prstGeom>
          <a:noFill/>
        </p:spPr>
        <p:txBody>
          <a:bodyPr wrap="none" lIns="0" rIns="0" tIns="0" bIns="0" anchor="t">
            <a:spAutoFit/>
          </a:bodyPr>
          <a:lstStyle/>
          <a:p>
            <a:pPr algn="ctr">
              <a:lnSpc>
                <a:spcPts val="6000"/>
              </a:lnSpc>
            </a:pPr>
            <a:r>
              <a:rPr b="1" sz="6000" i="0" u="none">
                <a:solidFill>
                  <a:srgbClr val="0F172A"/>
                </a:solidFill>
                <a:latin typeface="Plus Jakarta Sans"/>
              </a:rPr>
              <a:t>100%</a:t>
            </a:r>
          </a:p>
        </p:txBody>
      </p:sp>
      <p:sp>
        <p:nvSpPr>
          <p:cNvPr id="15" name="TextBox 14"/>
          <p:cNvSpPr txBox="1"/>
          <p:nvPr/>
        </p:nvSpPr>
        <p:spPr>
          <a:xfrm>
            <a:off x="581713" y="3771900"/>
            <a:ext cx="3803116" cy="238125"/>
          </a:xfrm>
          <a:prstGeom prst="rect">
            <a:avLst/>
          </a:prstGeom>
          <a:noFill/>
        </p:spPr>
        <p:txBody>
          <a:bodyPr wrap="none" lIns="0" rIns="0" tIns="0" bIns="0" anchor="t">
            <a:spAutoFit/>
          </a:bodyPr>
          <a:lstStyle/>
          <a:p>
            <a:pPr algn="ctr"/>
            <a:r>
              <a:rPr b="1" sz="1500" i="0" u="none">
                <a:solidFill>
                  <a:srgbClr val="0F172A"/>
                </a:solidFill>
                <a:latin typeface="Plus Jakarta Sans"/>
              </a:rPr>
              <a:t>45 / 45 Test Cases PASS</a:t>
            </a:r>
          </a:p>
        </p:txBody>
      </p:sp>
      <p:sp>
        <p:nvSpPr>
          <p:cNvPr id="16" name="TextBox 15"/>
          <p:cNvSpPr txBox="1"/>
          <p:nvPr/>
        </p:nvSpPr>
        <p:spPr>
          <a:xfrm>
            <a:off x="581713" y="4048125"/>
            <a:ext cx="3803116" cy="180975"/>
          </a:xfrm>
          <a:prstGeom prst="rect">
            <a:avLst/>
          </a:prstGeom>
          <a:noFill/>
        </p:spPr>
        <p:txBody>
          <a:bodyPr wrap="none" lIns="0" rIns="0" tIns="0" bIns="0" anchor="t">
            <a:spAutoFit/>
          </a:bodyPr>
          <a:lstStyle/>
          <a:p>
            <a:pPr algn="ctr"/>
            <a:r>
              <a:rPr b="0" sz="1125" i="0" u="none">
                <a:solidFill>
                  <a:srgbClr val="64748B"/>
                </a:solidFill>
                <a:latin typeface="Plus Jakarta Sans"/>
              </a:rPr>
              <a:t>Nghiệm thu thành công tất cả kịch bản</a:t>
            </a:r>
          </a:p>
        </p:txBody>
      </p:sp>
      <p:sp>
        <p:nvSpPr>
          <p:cNvPr id="17" name="TextBox 16"/>
          <p:cNvSpPr txBox="1"/>
          <p:nvPr/>
        </p:nvSpPr>
        <p:spPr>
          <a:xfrm>
            <a:off x="696013" y="4457700"/>
            <a:ext cx="3574516" cy="190500"/>
          </a:xfrm>
          <a:prstGeom prst="rect">
            <a:avLst/>
          </a:prstGeom>
          <a:noFill/>
        </p:spPr>
        <p:txBody>
          <a:bodyPr wrap="square" lIns="0" rIns="0" tIns="0" bIns="0" anchor="t">
            <a:spAutoFit/>
          </a:bodyPr>
          <a:lstStyle/>
          <a:p>
            <a:pPr algn="ctr"/>
            <a:r>
              <a:rPr b="1" sz="1050" i="0" u="none">
                <a:solidFill>
                  <a:srgbClr val="15803D"/>
                </a:solidFill>
                <a:latin typeface="Plus Jakarta Sans"/>
              </a:rPr>
              <a:t>Hệ thống sẵn sàng bàn giao &amp; vận hành</a:t>
            </a:r>
          </a:p>
        </p:txBody>
      </p:sp>
      <p:sp>
        <p:nvSpPr>
          <p:cNvPr id="18" name="TextBox 17"/>
          <p:cNvSpPr txBox="1"/>
          <p:nvPr/>
        </p:nvSpPr>
        <p:spPr>
          <a:xfrm>
            <a:off x="10715625" y="2557462"/>
            <a:ext cx="685800" cy="171450"/>
          </a:xfrm>
          <a:prstGeom prst="rect">
            <a:avLst/>
          </a:prstGeom>
          <a:noFill/>
        </p:spPr>
        <p:txBody>
          <a:bodyPr wrap="square" lIns="0" rIns="0" tIns="0" bIns="0" anchor="t">
            <a:spAutoFit/>
          </a:bodyPr>
          <a:lstStyle/>
          <a:p>
            <a:pPr algn="l"/>
            <a:r>
              <a:rPr b="1" sz="1050" i="0" u="none">
                <a:solidFill>
                  <a:srgbClr val="0F172A"/>
                </a:solidFill>
                <a:latin typeface="Plus Jakarta Sans"/>
              </a:rPr>
              <a:t>9/9 PASS</a:t>
            </a:r>
          </a:p>
        </p:txBody>
      </p:sp>
      <p:sp>
        <p:nvSpPr>
          <p:cNvPr id="19" name="TextBox 18"/>
          <p:cNvSpPr txBox="1"/>
          <p:nvPr/>
        </p:nvSpPr>
        <p:spPr>
          <a:xfrm>
            <a:off x="10582275" y="3348037"/>
            <a:ext cx="819150" cy="171450"/>
          </a:xfrm>
          <a:prstGeom prst="rect">
            <a:avLst/>
          </a:prstGeom>
          <a:noFill/>
        </p:spPr>
        <p:txBody>
          <a:bodyPr wrap="square" lIns="0" rIns="0" tIns="0" bIns="0" anchor="t">
            <a:spAutoFit/>
          </a:bodyPr>
          <a:lstStyle/>
          <a:p>
            <a:pPr algn="l"/>
            <a:r>
              <a:rPr b="1" sz="1050" i="0" u="none">
                <a:solidFill>
                  <a:srgbClr val="0F172A"/>
                </a:solidFill>
                <a:latin typeface="Plus Jakarta Sans"/>
              </a:rPr>
              <a:t>14/14 PASS</a:t>
            </a:r>
          </a:p>
        </p:txBody>
      </p:sp>
      <p:sp>
        <p:nvSpPr>
          <p:cNvPr id="20" name="TextBox 19"/>
          <p:cNvSpPr txBox="1"/>
          <p:nvPr/>
        </p:nvSpPr>
        <p:spPr>
          <a:xfrm>
            <a:off x="10601325" y="4138612"/>
            <a:ext cx="800100" cy="171450"/>
          </a:xfrm>
          <a:prstGeom prst="rect">
            <a:avLst/>
          </a:prstGeom>
          <a:noFill/>
        </p:spPr>
        <p:txBody>
          <a:bodyPr wrap="square" lIns="0" rIns="0" tIns="0" bIns="0" anchor="t">
            <a:spAutoFit/>
          </a:bodyPr>
          <a:lstStyle/>
          <a:p>
            <a:pPr algn="l"/>
            <a:r>
              <a:rPr b="1" sz="1050" i="0" u="none">
                <a:solidFill>
                  <a:srgbClr val="0F172A"/>
                </a:solidFill>
                <a:latin typeface="Plus Jakarta Sans"/>
              </a:rPr>
              <a:t>16/16 PASS</a:t>
            </a:r>
          </a:p>
        </p:txBody>
      </p:sp>
      <p:sp>
        <p:nvSpPr>
          <p:cNvPr id="21" name="TextBox 20"/>
          <p:cNvSpPr txBox="1"/>
          <p:nvPr/>
        </p:nvSpPr>
        <p:spPr>
          <a:xfrm>
            <a:off x="10715625" y="4929187"/>
            <a:ext cx="685800" cy="171450"/>
          </a:xfrm>
          <a:prstGeom prst="rect">
            <a:avLst/>
          </a:prstGeom>
          <a:noFill/>
        </p:spPr>
        <p:txBody>
          <a:bodyPr wrap="square" lIns="0" rIns="0" tIns="0" bIns="0" anchor="t">
            <a:spAutoFit/>
          </a:bodyPr>
          <a:lstStyle/>
          <a:p>
            <a:pPr algn="l"/>
            <a:r>
              <a:rPr b="1" sz="1050" i="0" u="none">
                <a:solidFill>
                  <a:srgbClr val="0F172A"/>
                </a:solidFill>
                <a:latin typeface="Plus Jakarta Sans"/>
              </a:rPr>
              <a:t>6/6 PASS</a:t>
            </a:r>
          </a:p>
        </p:txBody>
      </p:sp>
      <p:sp>
        <p:nvSpPr>
          <p:cNvPr id="22" name="TextBox 21"/>
          <p:cNvSpPr txBox="1"/>
          <p:nvPr/>
        </p:nvSpPr>
        <p:spPr>
          <a:xfrm>
            <a:off x="4842718" y="2447925"/>
            <a:ext cx="5214937" cy="200025"/>
          </a:xfrm>
          <a:prstGeom prst="rect">
            <a:avLst/>
          </a:prstGeom>
          <a:noFill/>
        </p:spPr>
        <p:txBody>
          <a:bodyPr wrap="none" lIns="0" rIns="0" tIns="0" bIns="0" anchor="t">
            <a:spAutoFit/>
          </a:bodyPr>
          <a:lstStyle/>
          <a:p>
            <a:pPr algn="l"/>
            <a:r>
              <a:rPr b="1" sz="1200" i="0" u="none">
                <a:solidFill>
                  <a:srgbClr val="0F172A"/>
                </a:solidFill>
                <a:latin typeface="Plus Jakarta Sans"/>
              </a:rPr>
              <a:t>Xác Thực &amp; Phân Quyền RBAC (TC001 - TC009)</a:t>
            </a:r>
          </a:p>
        </p:txBody>
      </p:sp>
      <p:sp>
        <p:nvSpPr>
          <p:cNvPr id="23" name="TextBox 22"/>
          <p:cNvSpPr txBox="1"/>
          <p:nvPr/>
        </p:nvSpPr>
        <p:spPr>
          <a:xfrm>
            <a:off x="4842718" y="2667000"/>
            <a:ext cx="5214937" cy="171450"/>
          </a:xfrm>
          <a:prstGeom prst="rect">
            <a:avLst/>
          </a:prstGeom>
          <a:noFill/>
        </p:spPr>
        <p:txBody>
          <a:bodyPr wrap="none" lIns="0" rIns="0" tIns="0" bIns="0" anchor="t">
            <a:spAutoFit/>
          </a:bodyPr>
          <a:lstStyle/>
          <a:p>
            <a:pPr algn="l"/>
            <a:r>
              <a:rPr b="0" sz="1050" i="0" u="none">
                <a:solidFill>
                  <a:srgbClr val="64748B"/>
                </a:solidFill>
                <a:latin typeface="Plus Jakarta Sans"/>
              </a:rPr>
              <a:t>Kiểm tra 4 vai trò, băm mật khẩu Argon2, chặn sai pass, đổi mật khẩu.</a:t>
            </a:r>
          </a:p>
        </p:txBody>
      </p:sp>
      <p:sp>
        <p:nvSpPr>
          <p:cNvPr id="24" name="TextBox 23"/>
          <p:cNvSpPr txBox="1"/>
          <p:nvPr/>
        </p:nvSpPr>
        <p:spPr>
          <a:xfrm>
            <a:off x="4842718" y="3238500"/>
            <a:ext cx="5381625" cy="200025"/>
          </a:xfrm>
          <a:prstGeom prst="rect">
            <a:avLst/>
          </a:prstGeom>
          <a:noFill/>
        </p:spPr>
        <p:txBody>
          <a:bodyPr wrap="none" lIns="0" rIns="0" tIns="0" bIns="0" anchor="t">
            <a:spAutoFit/>
          </a:bodyPr>
          <a:lstStyle/>
          <a:p>
            <a:pPr algn="l"/>
            <a:r>
              <a:rPr b="1" sz="1200" i="0" u="none">
                <a:solidFill>
                  <a:srgbClr val="0F172A"/>
                </a:solidFill>
                <a:latin typeface="Plus Jakarta Sans"/>
              </a:rPr>
              <a:t>Nghiệp Vụ Đào Tạo &amp; Chống Trùng Lịch (TC010 - TC023)</a:t>
            </a:r>
          </a:p>
        </p:txBody>
      </p:sp>
      <p:sp>
        <p:nvSpPr>
          <p:cNvPr id="25" name="TextBox 24"/>
          <p:cNvSpPr txBox="1"/>
          <p:nvPr/>
        </p:nvSpPr>
        <p:spPr>
          <a:xfrm>
            <a:off x="4842718" y="3457575"/>
            <a:ext cx="5381625" cy="171450"/>
          </a:xfrm>
          <a:prstGeom prst="rect">
            <a:avLst/>
          </a:prstGeom>
          <a:noFill/>
        </p:spPr>
        <p:txBody>
          <a:bodyPr wrap="none" lIns="0" rIns="0" tIns="0" bIns="0" anchor="t">
            <a:spAutoFit/>
          </a:bodyPr>
          <a:lstStyle/>
          <a:p>
            <a:pPr algn="l"/>
            <a:r>
              <a:rPr b="0" sz="1050" i="0" u="none">
                <a:solidFill>
                  <a:srgbClr val="64748B"/>
                </a:solidFill>
                <a:latin typeface="Plus Jakarta Sans"/>
              </a:rPr>
              <a:t>Chặn trùng phòng học, trùng giờ dạy của GV, khống chế sĩ số lớp &lt;= 25.</a:t>
            </a:r>
          </a:p>
        </p:txBody>
      </p:sp>
      <p:sp>
        <p:nvSpPr>
          <p:cNvPr id="26" name="TextBox 25"/>
          <p:cNvSpPr txBox="1"/>
          <p:nvPr/>
        </p:nvSpPr>
        <p:spPr>
          <a:xfrm>
            <a:off x="4842718" y="4029075"/>
            <a:ext cx="5893593" cy="200025"/>
          </a:xfrm>
          <a:prstGeom prst="rect">
            <a:avLst/>
          </a:prstGeom>
          <a:noFill/>
        </p:spPr>
        <p:txBody>
          <a:bodyPr wrap="none" lIns="0" rIns="0" tIns="0" bIns="0" anchor="t">
            <a:spAutoFit/>
          </a:bodyPr>
          <a:lstStyle/>
          <a:p>
            <a:pPr algn="l"/>
            <a:r>
              <a:rPr b="1" sz="1200" i="0" u="none">
                <a:solidFill>
                  <a:srgbClr val="0F172A"/>
                </a:solidFill>
                <a:latin typeface="Plus Jakarta Sans"/>
              </a:rPr>
              <a:t>Đăng Ký, Học Phí &amp; Đánh Giá Đào Tạo (TC024 - TC039)</a:t>
            </a:r>
          </a:p>
        </p:txBody>
      </p:sp>
      <p:sp>
        <p:nvSpPr>
          <p:cNvPr id="27" name="TextBox 26"/>
          <p:cNvSpPr txBox="1"/>
          <p:nvPr/>
        </p:nvSpPr>
        <p:spPr>
          <a:xfrm>
            <a:off x="4842718" y="4248150"/>
            <a:ext cx="5893593" cy="171450"/>
          </a:xfrm>
          <a:prstGeom prst="rect">
            <a:avLst/>
          </a:prstGeom>
          <a:noFill/>
        </p:spPr>
        <p:txBody>
          <a:bodyPr wrap="none" lIns="0" rIns="0" tIns="0" bIns="0" anchor="t">
            <a:spAutoFit/>
          </a:bodyPr>
          <a:lstStyle/>
          <a:p>
            <a:pPr algn="l"/>
            <a:r>
              <a:rPr b="0" sz="1050" i="0" u="none">
                <a:solidFill>
                  <a:srgbClr val="64748B"/>
                </a:solidFill>
                <a:latin typeface="Plus Jakarta Sans"/>
              </a:rPr>
              <a:t>Tự tạo hóa đơn, thu phí nhiều đợt, điểm danh 4 trạng thái, tính điểm 20/30/50.</a:t>
            </a:r>
          </a:p>
        </p:txBody>
      </p:sp>
      <p:sp>
        <p:nvSpPr>
          <p:cNvPr id="28" name="TextBox 27"/>
          <p:cNvSpPr txBox="1"/>
          <p:nvPr/>
        </p:nvSpPr>
        <p:spPr>
          <a:xfrm>
            <a:off x="4842718" y="4819650"/>
            <a:ext cx="6262687" cy="200025"/>
          </a:xfrm>
          <a:prstGeom prst="rect">
            <a:avLst/>
          </a:prstGeom>
          <a:noFill/>
        </p:spPr>
        <p:txBody>
          <a:bodyPr wrap="none" lIns="0" rIns="0" tIns="0" bIns="0" anchor="t">
            <a:spAutoFit/>
          </a:bodyPr>
          <a:lstStyle/>
          <a:p>
            <a:pPr algn="l"/>
            <a:r>
              <a:rPr b="1" sz="1200" i="0" u="none">
                <a:solidFill>
                  <a:srgbClr val="0F172A"/>
                </a:solidFill>
                <a:latin typeface="Plus Jakarta Sans"/>
              </a:rPr>
              <a:t>Trí Tuệ Nhân Tạo &amp; Kiểm Soát Ảo Giác (TC040 - TC045)</a:t>
            </a:r>
          </a:p>
        </p:txBody>
      </p:sp>
      <p:sp>
        <p:nvSpPr>
          <p:cNvPr id="29" name="TextBox 28"/>
          <p:cNvSpPr txBox="1"/>
          <p:nvPr/>
        </p:nvSpPr>
        <p:spPr>
          <a:xfrm>
            <a:off x="4842718" y="5038725"/>
            <a:ext cx="6262687" cy="171450"/>
          </a:xfrm>
          <a:prstGeom prst="rect">
            <a:avLst/>
          </a:prstGeom>
          <a:noFill/>
        </p:spPr>
        <p:txBody>
          <a:bodyPr wrap="none" lIns="0" rIns="0" tIns="0" bIns="0" anchor="t">
            <a:spAutoFit/>
          </a:bodyPr>
          <a:lstStyle/>
          <a:p>
            <a:pPr algn="l"/>
            <a:r>
              <a:rPr b="0" sz="1050" i="0" u="none">
                <a:solidFill>
                  <a:srgbClr val="64748B"/>
                </a:solidFill>
                <a:latin typeface="Plus Jakarta Sans"/>
              </a:rPr>
              <a:t>Lọc ảo giác mã lớp, kích hoạt Fallback khi timeout 10s, lưu 100% nhật ký YeuCauAI.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41B29"/>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1690687" y="4514850"/>
            <a:ext cx="8810625"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90687" y="4514850"/>
            <a:ext cx="8810625"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119687" y="4791075"/>
            <a:ext cx="9525" cy="40957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986712" y="4791075"/>
            <a:ext cx="9525" cy="40957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3"/>
          <a:stretch>
            <a:fillRect/>
          </a:stretch>
        </p:blipFill>
        <p:spPr>
          <a:xfrm>
            <a:off x="5753100" y="1657350"/>
            <a:ext cx="685800" cy="685800"/>
          </a:xfrm>
          <a:prstGeom prst="rect">
            <a:avLst/>
          </a:prstGeom>
        </p:spPr>
      </p:pic>
      <p:pic>
        <p:nvPicPr>
          <p:cNvPr id="8" name="Picture 7" descr="image.png"/>
          <p:cNvPicPr>
            <a:picLocks noChangeAspect="1"/>
          </p:cNvPicPr>
          <p:nvPr/>
        </p:nvPicPr>
        <p:blipFill>
          <a:blip r:embed="rId4"/>
          <a:stretch>
            <a:fillRect/>
          </a:stretch>
        </p:blipFill>
        <p:spPr>
          <a:xfrm>
            <a:off x="5924550" y="1828800"/>
            <a:ext cx="342900" cy="342900"/>
          </a:xfrm>
          <a:prstGeom prst="rect">
            <a:avLst/>
          </a:prstGeom>
        </p:spPr>
      </p:pic>
      <p:sp>
        <p:nvSpPr>
          <p:cNvPr id="9" name="TextBox 8"/>
          <p:cNvSpPr txBox="1"/>
          <p:nvPr/>
        </p:nvSpPr>
        <p:spPr>
          <a:xfrm>
            <a:off x="901600" y="2571750"/>
            <a:ext cx="10388798" cy="552450"/>
          </a:xfrm>
          <a:prstGeom prst="rect">
            <a:avLst/>
          </a:prstGeom>
          <a:noFill/>
        </p:spPr>
        <p:txBody>
          <a:bodyPr wrap="none" lIns="0" rIns="0" tIns="0" bIns="0" anchor="t">
            <a:spAutoFit/>
          </a:bodyPr>
          <a:lstStyle/>
          <a:p>
            <a:pPr algn="ctr"/>
            <a:r>
              <a:rPr b="1" sz="3450" i="0" u="none">
                <a:solidFill>
                  <a:srgbClr val="FFFFFF"/>
                </a:solidFill>
                <a:latin typeface="Plus Jakarta Sans"/>
              </a:rPr>
              <a:t>Hệ Thống Sẵn Sàng Triển Khai Thực Tế</a:t>
            </a:r>
          </a:p>
        </p:txBody>
      </p:sp>
      <p:sp>
        <p:nvSpPr>
          <p:cNvPr id="10" name="TextBox 9"/>
          <p:cNvSpPr txBox="1"/>
          <p:nvPr/>
        </p:nvSpPr>
        <p:spPr>
          <a:xfrm>
            <a:off x="1571625" y="3276600"/>
            <a:ext cx="9048750" cy="857250"/>
          </a:xfrm>
          <a:prstGeom prst="rect">
            <a:avLst/>
          </a:prstGeom>
          <a:noFill/>
        </p:spPr>
        <p:txBody>
          <a:bodyPr wrap="square" lIns="0" rIns="0" tIns="0" bIns="0" anchor="t">
            <a:spAutoFit/>
          </a:bodyPr>
          <a:lstStyle/>
          <a:p>
            <a:pPr algn="ctr">
              <a:lnSpc>
                <a:spcPts val="2250"/>
              </a:lnSpc>
            </a:pPr>
            <a:r>
              <a:rPr b="0" sz="1500" i="0" u="none">
                <a:solidFill>
                  <a:srgbClr val="94A3B8"/>
                </a:solidFill>
                <a:latin typeface="Plus Jakarta Sans"/>
              </a:rPr>
              <a:t>Đề tài hoàn thành xuất sắc các mục tiêu: Chuẩn hóa toàn diện quy trình nghiệp vụ trung tâm ngoại ngữ, tích hợp AI thực tiễn, kiểm soát ảo giác tin cậy và đạt 100% kết quả nghiệm thu.</a:t>
            </a:r>
          </a:p>
        </p:txBody>
      </p:sp>
      <p:sp>
        <p:nvSpPr>
          <p:cNvPr id="11" name="TextBox 10"/>
          <p:cNvSpPr txBox="1"/>
          <p:nvPr/>
        </p:nvSpPr>
        <p:spPr>
          <a:xfrm>
            <a:off x="1690687" y="4791075"/>
            <a:ext cx="3714750" cy="152400"/>
          </a:xfrm>
          <a:prstGeom prst="rect">
            <a:avLst/>
          </a:prstGeom>
          <a:noFill/>
        </p:spPr>
        <p:txBody>
          <a:bodyPr wrap="none" lIns="0" rIns="0" tIns="0" bIns="0" anchor="t">
            <a:spAutoFit/>
          </a:bodyPr>
          <a:lstStyle/>
          <a:p>
            <a:pPr algn="l"/>
            <a:r>
              <a:rPr b="1" sz="975" i="0" u="none">
                <a:solidFill>
                  <a:srgbClr val="64748B"/>
                </a:solidFill>
                <a:latin typeface="Plus Jakarta Sans"/>
              </a:rPr>
              <a:t>SINH VIÊN BÁO CÁO (NHÓM 42)</a:t>
            </a:r>
          </a:p>
        </p:txBody>
      </p:sp>
      <p:sp>
        <p:nvSpPr>
          <p:cNvPr id="12" name="TextBox 11"/>
          <p:cNvSpPr txBox="1"/>
          <p:nvPr/>
        </p:nvSpPr>
        <p:spPr>
          <a:xfrm>
            <a:off x="1690687" y="4981575"/>
            <a:ext cx="3714750" cy="219075"/>
          </a:xfrm>
          <a:prstGeom prst="rect">
            <a:avLst/>
          </a:prstGeom>
          <a:noFill/>
        </p:spPr>
        <p:txBody>
          <a:bodyPr wrap="none" lIns="0" rIns="0" tIns="0" bIns="0" anchor="t">
            <a:spAutoFit/>
          </a:bodyPr>
          <a:lstStyle/>
          <a:p>
            <a:pPr algn="l"/>
            <a:r>
              <a:rPr b="1" sz="1350" i="0" u="none">
                <a:solidFill>
                  <a:srgbClr val="F1F5F9"/>
                </a:solidFill>
                <a:latin typeface="Plus Jakarta Sans"/>
              </a:rPr>
              <a:t>Lê Hồng Phong • Lưu Thanh Nguyên</a:t>
            </a:r>
          </a:p>
        </p:txBody>
      </p:sp>
      <p:sp>
        <p:nvSpPr>
          <p:cNvPr id="13" name="TextBox 12"/>
          <p:cNvSpPr txBox="1"/>
          <p:nvPr/>
        </p:nvSpPr>
        <p:spPr>
          <a:xfrm>
            <a:off x="5586412" y="4791075"/>
            <a:ext cx="2428875" cy="152400"/>
          </a:xfrm>
          <a:prstGeom prst="rect">
            <a:avLst/>
          </a:prstGeom>
          <a:noFill/>
        </p:spPr>
        <p:txBody>
          <a:bodyPr wrap="none" lIns="0" rIns="0" tIns="0" bIns="0" anchor="t">
            <a:spAutoFit/>
          </a:bodyPr>
          <a:lstStyle/>
          <a:p>
            <a:pPr algn="l"/>
            <a:r>
              <a:rPr b="1" sz="975" i="0" u="none">
                <a:solidFill>
                  <a:srgbClr val="64748B"/>
                </a:solidFill>
                <a:latin typeface="Plus Jakarta Sans"/>
              </a:rPr>
              <a:t>GIẢNG VIÊN HƯỚNG DẪN</a:t>
            </a:r>
          </a:p>
        </p:txBody>
      </p:sp>
      <p:sp>
        <p:nvSpPr>
          <p:cNvPr id="14" name="TextBox 13"/>
          <p:cNvSpPr txBox="1"/>
          <p:nvPr/>
        </p:nvSpPr>
        <p:spPr>
          <a:xfrm>
            <a:off x="5586412" y="4981575"/>
            <a:ext cx="2428875" cy="219075"/>
          </a:xfrm>
          <a:prstGeom prst="rect">
            <a:avLst/>
          </a:prstGeom>
          <a:noFill/>
        </p:spPr>
        <p:txBody>
          <a:bodyPr wrap="none" lIns="0" rIns="0" tIns="0" bIns="0" anchor="t">
            <a:spAutoFit/>
          </a:bodyPr>
          <a:lstStyle/>
          <a:p>
            <a:pPr algn="l"/>
            <a:r>
              <a:rPr b="1" sz="1350" i="0" u="none">
                <a:solidFill>
                  <a:srgbClr val="38BDF8"/>
                </a:solidFill>
                <a:latin typeface="Plus Jakarta Sans"/>
              </a:rPr>
              <a:t>ThS. Nguyễn Đình Dũng</a:t>
            </a:r>
          </a:p>
        </p:txBody>
      </p:sp>
      <p:sp>
        <p:nvSpPr>
          <p:cNvPr id="15" name="TextBox 14"/>
          <p:cNvSpPr txBox="1"/>
          <p:nvPr/>
        </p:nvSpPr>
        <p:spPr>
          <a:xfrm>
            <a:off x="8453437" y="4791075"/>
            <a:ext cx="2559843" cy="152400"/>
          </a:xfrm>
          <a:prstGeom prst="rect">
            <a:avLst/>
          </a:prstGeom>
          <a:noFill/>
        </p:spPr>
        <p:txBody>
          <a:bodyPr wrap="none" lIns="0" rIns="0" tIns="0" bIns="0" anchor="t">
            <a:spAutoFit/>
          </a:bodyPr>
          <a:lstStyle/>
          <a:p>
            <a:pPr algn="l"/>
            <a:r>
              <a:rPr b="1" sz="975" i="0" u="none">
                <a:solidFill>
                  <a:srgbClr val="64748B"/>
                </a:solidFill>
                <a:latin typeface="Plus Jakarta Sans"/>
              </a:rPr>
              <a:t>PHIÊN HỎI ĐÁP</a:t>
            </a:r>
          </a:p>
        </p:txBody>
      </p:sp>
      <p:sp>
        <p:nvSpPr>
          <p:cNvPr id="16" name="TextBox 15"/>
          <p:cNvSpPr txBox="1"/>
          <p:nvPr/>
        </p:nvSpPr>
        <p:spPr>
          <a:xfrm>
            <a:off x="8453437" y="4981575"/>
            <a:ext cx="2559843" cy="219075"/>
          </a:xfrm>
          <a:prstGeom prst="rect">
            <a:avLst/>
          </a:prstGeom>
          <a:noFill/>
        </p:spPr>
        <p:txBody>
          <a:bodyPr wrap="none" lIns="0" rIns="0" tIns="0" bIns="0" anchor="t">
            <a:spAutoFit/>
          </a:bodyPr>
          <a:lstStyle/>
          <a:p>
            <a:pPr algn="l"/>
            <a:r>
              <a:rPr b="1" sz="1350" i="0" u="none">
                <a:solidFill>
                  <a:srgbClr val="F1F5F9"/>
                </a:solidFill>
                <a:latin typeface="Plus Jakarta Sans"/>
              </a:rPr>
              <a:t>Hội đồng Phản biện Q&amp;A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